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B_C16087B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257" r:id="rId6"/>
    <p:sldId id="266" r:id="rId7"/>
    <p:sldId id="265" r:id="rId8"/>
    <p:sldId id="258" r:id="rId9"/>
    <p:sldId id="260" r:id="rId10"/>
    <p:sldId id="262" r:id="rId11"/>
    <p:sldId id="263" r:id="rId12"/>
    <p:sldId id="271" r:id="rId13"/>
    <p:sldId id="272" r:id="rId14"/>
    <p:sldId id="268" r:id="rId15"/>
    <p:sldId id="269" r:id="rId16"/>
    <p:sldId id="275" r:id="rId17"/>
    <p:sldId id="277" r:id="rId18"/>
    <p:sldId id="278" r:id="rId19"/>
    <p:sldId id="279" r:id="rId20"/>
    <p:sldId id="280" r:id="rId21"/>
    <p:sldId id="267" r:id="rId22"/>
    <p:sldId id="264" r:id="rId23"/>
    <p:sldId id="259" r:id="rId24"/>
    <p:sldId id="261" r:id="rId25"/>
    <p:sldId id="270"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1647A2-435E-BBB7-63F1-4495389651EE}" name="JORDI GONZALEZ DE REGAS" initials="JG" userId="S::jordi.gonzalez@alumnos.upm.es::d53b43ae-c4c8-42fd-9a1e-927c40ad05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25984"/>
    <a:srgbClr val="EB9435"/>
    <a:srgbClr val="E97132"/>
    <a:srgbClr val="F3AD4F"/>
    <a:srgbClr val="1B4781"/>
    <a:srgbClr val="0070C0"/>
    <a:srgbClr val="1F5A97"/>
    <a:srgbClr val="20AEE2"/>
    <a:srgbClr val="E58746"/>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85A0B7-5D17-67FB-77A8-EB9E4C7EACDA}" v="3" dt="2025-12-10T18:04:26.498"/>
    <p1510:client id="{2F2DB33B-12EA-0CF2-2026-7AB02E41EBDB}" v="1993" dt="2025-12-10T19:58:21.903"/>
    <p1510:client id="{2F6F2D3E-ED5D-4C96-A9E6-26C9E7B819BB}" v="54" dt="2025-12-10T19:56:53.880"/>
    <p1510:client id="{4B3ED660-50A6-BE1C-991F-219547DEA34B}" v="92" dt="2025-12-10T16:21:38.020"/>
    <p1510:client id="{8A45A2E2-9FE4-32AA-9DA2-1B0809F17A7E}" v="35" dt="2025-12-09T22:56:51.793"/>
    <p1510:client id="{AC18C650-81FE-9D5E-2DC2-21DE3331C60F}" v="7" dt="2025-12-09T23:13:19.171"/>
    <p1510:client id="{EEC1089D-7B5A-42F5-9A8E-F072D5B1B93E}" v="566" dt="2025-12-10T19:06:08.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omments/modernComment_10B_C16087BA.xml><?xml version="1.0" encoding="utf-8"?>
<p188:cmLst xmlns:a="http://schemas.openxmlformats.org/drawingml/2006/main" xmlns:r="http://schemas.openxmlformats.org/officeDocument/2006/relationships" xmlns:p188="http://schemas.microsoft.com/office/powerpoint/2018/8/main">
  <p188:cm id="{B570705B-5DA3-4304-B0EF-E5B172B6365A}" authorId="{5A1647A2-435E-BBB7-63F1-4495389651EE}" created="2025-12-09T10:17:14.164">
    <pc:sldMkLst xmlns:pc="http://schemas.microsoft.com/office/powerpoint/2013/main/command">
      <pc:docMk/>
      <pc:sldMk cId="3244328890" sldId="267"/>
    </pc:sldMkLst>
    <p188:txBody>
      <a:bodyPr/>
      <a:lstStyle/>
      <a:p>
        <a:r>
          <a:rPr lang="es-ES"/>
          <a:t>Juan Antonio no quiere texto en las slides. Sustituida por algo más gráfico</a:t>
        </a:r>
      </a:p>
    </p188:txBody>
  </p188:cm>
</p188:cmLst>
</file>

<file path=ppt/diagrams/_rels/data2.xml.rels><?xml version="1.0" encoding="UTF-8" standalone="yes"?>
<Relationships xmlns="http://schemas.openxmlformats.org/package/2006/relationships"><Relationship Id="rId1"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25684E-4E4E-4150-A357-229B9694801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B80D7BD8-8D5F-4F63-8ADD-6250B2E7560F}">
      <dgm:prSet phldrT="[Texto]"/>
      <dgm:spPr>
        <a:solidFill>
          <a:srgbClr val="1DAADE"/>
        </a:solidFill>
      </dgm:spPr>
      <dgm:t>
        <a:bodyPr/>
        <a:lstStyle/>
        <a:p>
          <a:r>
            <a:rPr lang="es-ES"/>
            <a:t>Explorador de órbitas de </a:t>
          </a:r>
          <a:r>
            <a:rPr lang="es-ES" err="1"/>
            <a:t>Lyapunov</a:t>
          </a:r>
          <a:r>
            <a:rPr lang="es-ES"/>
            <a:t> alrededor de puntos colineales.</a:t>
          </a:r>
        </a:p>
      </dgm:t>
    </dgm:pt>
    <dgm:pt modelId="{FCF978FF-EC2A-4E9B-9737-86FF7E922154}" type="parTrans" cxnId="{98DCBAAD-2642-42CB-A69F-874AD5DC1702}">
      <dgm:prSet/>
      <dgm:spPr/>
      <dgm:t>
        <a:bodyPr/>
        <a:lstStyle/>
        <a:p>
          <a:endParaRPr lang="es-ES"/>
        </a:p>
      </dgm:t>
    </dgm:pt>
    <dgm:pt modelId="{EE402E7D-7A0F-415F-B072-74349D08D698}" type="sibTrans" cxnId="{98DCBAAD-2642-42CB-A69F-874AD5DC1702}">
      <dgm:prSet/>
      <dgm:spPr/>
      <dgm:t>
        <a:bodyPr/>
        <a:lstStyle/>
        <a:p>
          <a:endParaRPr lang="es-ES"/>
        </a:p>
      </dgm:t>
    </dgm:pt>
    <dgm:pt modelId="{AE738890-1801-4768-A1A1-445A2080CFA0}">
      <dgm:prSet/>
      <dgm:spPr>
        <a:solidFill>
          <a:srgbClr val="1C86C1"/>
        </a:solidFill>
      </dgm:spPr>
      <dgm:t>
        <a:bodyPr/>
        <a:lstStyle/>
        <a:p>
          <a:r>
            <a:rPr lang="es-ES"/>
            <a:t>Capacidad de generar condiciones iniciales de órbitas periódicas.</a:t>
          </a:r>
        </a:p>
      </dgm:t>
    </dgm:pt>
    <dgm:pt modelId="{6738E11A-AE28-4FF5-B59C-952D2AA6CBD7}" type="parTrans" cxnId="{2A27F297-7EF4-4D5C-AE1A-61F475E95270}">
      <dgm:prSet/>
      <dgm:spPr/>
      <dgm:t>
        <a:bodyPr/>
        <a:lstStyle/>
        <a:p>
          <a:endParaRPr lang="es-ES"/>
        </a:p>
      </dgm:t>
    </dgm:pt>
    <dgm:pt modelId="{F988B251-5CCB-4537-AA8A-BC21B6ACA20D}" type="sibTrans" cxnId="{2A27F297-7EF4-4D5C-AE1A-61F475E95270}">
      <dgm:prSet/>
      <dgm:spPr/>
      <dgm:t>
        <a:bodyPr/>
        <a:lstStyle/>
        <a:p>
          <a:endParaRPr lang="es-ES"/>
        </a:p>
      </dgm:t>
    </dgm:pt>
    <mc:AlternateContent xmlns:mc="http://schemas.openxmlformats.org/markup-compatibility/2006" xmlns:a14="http://schemas.microsoft.com/office/drawing/2010/main">
      <mc:Choice Requires="a14">
        <dgm:pt modelId="{DC725C0C-75D9-481D-9F42-821851C7D6D3}">
          <dgm:prSet custT="1"/>
          <dgm:spPr>
            <a:solidFill>
              <a:srgbClr val="1B4781"/>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Posibilidad de cambiar el valor de </a:t>
              </a:r>
              <a14:m>
                <m:oMath xmlns:m="http://schemas.openxmlformats.org/officeDocument/2006/math">
                  <m:r>
                    <a:rPr lang="es-ES" sz="2100" kern="1200" smtClean="0">
                      <a:solidFill>
                        <a:prstClr val="white"/>
                      </a:solidFill>
                      <a:latin typeface="Cambria Math" panose="02040503050406030204" pitchFamily="18" charset="0"/>
                      <a:ea typeface="+mn-ea"/>
                      <a:cs typeface="+mn-cs"/>
                    </a:rPr>
                    <m:t>𝜇</m:t>
                  </m:r>
                </m:oMath>
              </a14:m>
              <a:r>
                <a:rPr lang="es-ES" sz="2100" kern="1200">
                  <a:solidFill>
                    <a:prstClr val="white"/>
                  </a:solidFill>
                  <a:latin typeface="Aptos" panose="02110004020202020204"/>
                  <a:ea typeface="+mn-ea"/>
                  <a:cs typeface="+mn-cs"/>
                </a:rPr>
                <a:t>.</a:t>
              </a:r>
            </a:p>
          </dgm:t>
        </dgm:pt>
      </mc:Choice>
      <mc:Fallback xmlns="">
        <dgm:pt modelId="{DC725C0C-75D9-481D-9F42-821851C7D6D3}">
          <dgm:prSet custT="1"/>
          <dgm:spPr>
            <a:solidFill>
              <a:srgbClr val="1B4781"/>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Posibilidad de cambiar el valor de </a:t>
              </a:r>
              <a:r>
                <a:rPr lang="es-ES" sz="2100" i="0" kern="1200">
                  <a:solidFill>
                    <a:prstClr val="white"/>
                  </a:solidFill>
                  <a:latin typeface="Cambria Math" panose="02040503050406030204" pitchFamily="18" charset="0"/>
                  <a:ea typeface="+mn-ea"/>
                  <a:cs typeface="+mn-cs"/>
                </a:rPr>
                <a:t>𝜇</a:t>
              </a:r>
              <a:r>
                <a:rPr lang="es-ES" sz="2100" kern="1200">
                  <a:solidFill>
                    <a:prstClr val="white"/>
                  </a:solidFill>
                  <a:latin typeface="Aptos" panose="02110004020202020204"/>
                  <a:ea typeface="+mn-ea"/>
                  <a:cs typeface="+mn-cs"/>
                </a:rPr>
                <a:t>.</a:t>
              </a:r>
            </a:p>
          </dgm:t>
        </dgm:pt>
      </mc:Fallback>
    </mc:AlternateContent>
    <dgm:pt modelId="{7C8A2652-1FB8-421A-B1A1-AB138B3D718B}" type="parTrans" cxnId="{10C88D12-4287-450C-A88F-698292625F10}">
      <dgm:prSet/>
      <dgm:spPr/>
      <dgm:t>
        <a:bodyPr/>
        <a:lstStyle/>
        <a:p>
          <a:endParaRPr lang="es-ES"/>
        </a:p>
      </dgm:t>
    </dgm:pt>
    <dgm:pt modelId="{2751D001-212F-4748-9140-7F0051A3D415}" type="sibTrans" cxnId="{10C88D12-4287-450C-A88F-698292625F10}">
      <dgm:prSet/>
      <dgm:spPr/>
      <dgm:t>
        <a:bodyPr/>
        <a:lstStyle/>
        <a:p>
          <a:endParaRPr lang="es-ES"/>
        </a:p>
      </dgm:t>
    </dgm:pt>
    <dgm:pt modelId="{A36F49A7-4D71-44A1-B3F2-B5769CF5C97F}">
      <dgm:prSet/>
      <dgm:spPr>
        <a:solidFill>
          <a:srgbClr val="534552"/>
        </a:solidFill>
      </dgm:spPr>
      <dgm:t>
        <a:bodyPr/>
        <a:lstStyle/>
        <a:p>
          <a:r>
            <a:rPr lang="es-ES"/>
            <a:t>Posibilidad de seleccionar el punto de Lagrange.</a:t>
          </a:r>
        </a:p>
      </dgm:t>
    </dgm:pt>
    <dgm:pt modelId="{9B001535-00E4-4DBB-9A07-68441C2F4F04}" type="parTrans" cxnId="{E148D0C4-1F99-41AA-A09E-B7E84ECA962F}">
      <dgm:prSet/>
      <dgm:spPr/>
      <dgm:t>
        <a:bodyPr/>
        <a:lstStyle/>
        <a:p>
          <a:endParaRPr lang="es-ES"/>
        </a:p>
      </dgm:t>
    </dgm:pt>
    <dgm:pt modelId="{4DF214AD-F60B-4AAE-AB19-6BF5B7627D8E}" type="sibTrans" cxnId="{E148D0C4-1F99-41AA-A09E-B7E84ECA962F}">
      <dgm:prSet/>
      <dgm:spPr/>
      <dgm:t>
        <a:bodyPr/>
        <a:lstStyle/>
        <a:p>
          <a:endParaRPr lang="es-ES"/>
        </a:p>
      </dgm:t>
    </dgm:pt>
    <dgm:pt modelId="{F102DD81-2432-4014-B3E5-EAF3531E12B6}">
      <dgm:prSet custT="1"/>
      <dgm:spPr>
        <a:solidFill>
          <a:srgbClr val="E58746"/>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Posibilidad de utilizar diferentes esquemas numéricos.</a:t>
          </a:r>
        </a:p>
      </dgm:t>
    </dgm:pt>
    <dgm:pt modelId="{C4B3AFA9-7B67-40A3-875E-8095BC4C7059}" type="parTrans" cxnId="{1E1BDFC2-D30D-46F8-94C3-C031F7F6067F}">
      <dgm:prSet/>
      <dgm:spPr/>
      <dgm:t>
        <a:bodyPr/>
        <a:lstStyle/>
        <a:p>
          <a:endParaRPr lang="es-ES"/>
        </a:p>
      </dgm:t>
    </dgm:pt>
    <dgm:pt modelId="{A1E463F4-4345-4423-A3FF-11D7B7A240C0}" type="sibTrans" cxnId="{1E1BDFC2-D30D-46F8-94C3-C031F7F6067F}">
      <dgm:prSet/>
      <dgm:spPr/>
      <dgm:t>
        <a:bodyPr/>
        <a:lstStyle/>
        <a:p>
          <a:endParaRPr lang="es-ES"/>
        </a:p>
      </dgm:t>
    </dgm:pt>
    <dgm:pt modelId="{1BC77F08-6956-4999-91CC-DED542560431}">
      <dgm:prSet custT="1"/>
      <dgm:spPr>
        <a:solidFill>
          <a:srgbClr val="F0A14A"/>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Guardar y recuperar condiciones iniciales guardadas en archivos.</a:t>
          </a:r>
        </a:p>
      </dgm:t>
    </dgm:pt>
    <dgm:pt modelId="{74089052-192E-4F25-8460-6F5B976FFAEF}" type="parTrans" cxnId="{54747CBE-27E9-4CF8-B72A-F0EFB42733CE}">
      <dgm:prSet/>
      <dgm:spPr/>
      <dgm:t>
        <a:bodyPr/>
        <a:lstStyle/>
        <a:p>
          <a:endParaRPr lang="es-ES"/>
        </a:p>
      </dgm:t>
    </dgm:pt>
    <dgm:pt modelId="{3DD914D9-7FCF-4D7A-A0DF-6B5EE62B0DC6}" type="sibTrans" cxnId="{54747CBE-27E9-4CF8-B72A-F0EFB42733CE}">
      <dgm:prSet/>
      <dgm:spPr/>
      <dgm:t>
        <a:bodyPr/>
        <a:lstStyle/>
        <a:p>
          <a:endParaRPr lang="es-ES"/>
        </a:p>
      </dgm:t>
    </dgm:pt>
    <dgm:pt modelId="{AD28491A-80D0-4918-97D8-1BEC75BEC028}">
      <dgm:prSet custT="1"/>
      <dgm:spPr>
        <a:solidFill>
          <a:srgbClr val="F3AD4F"/>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Analizar la estabilidad de las órbitas.</a:t>
          </a:r>
        </a:p>
      </dgm:t>
    </dgm:pt>
    <dgm:pt modelId="{6512115E-687E-44BB-B574-87C6F4A138EA}" type="parTrans" cxnId="{D3DFE01A-79C8-450A-BDD1-0E44AB9209C9}">
      <dgm:prSet/>
      <dgm:spPr/>
      <dgm:t>
        <a:bodyPr/>
        <a:lstStyle/>
        <a:p>
          <a:endParaRPr lang="es-ES"/>
        </a:p>
      </dgm:t>
    </dgm:pt>
    <dgm:pt modelId="{6416D7E0-74CE-493B-92AF-622F406AED78}" type="sibTrans" cxnId="{D3DFE01A-79C8-450A-BDD1-0E44AB9209C9}">
      <dgm:prSet/>
      <dgm:spPr/>
      <dgm:t>
        <a:bodyPr/>
        <a:lstStyle/>
        <a:p>
          <a:endParaRPr lang="es-ES"/>
        </a:p>
      </dgm:t>
    </dgm:pt>
    <dgm:pt modelId="{D5446688-9621-4647-9EAF-DC9E4CDAA598}" type="pres">
      <dgm:prSet presAssocID="{4825684E-4E4E-4150-A357-229B96948010}" presName="linear" presStyleCnt="0">
        <dgm:presLayoutVars>
          <dgm:animLvl val="lvl"/>
          <dgm:resizeHandles val="exact"/>
        </dgm:presLayoutVars>
      </dgm:prSet>
      <dgm:spPr/>
    </dgm:pt>
    <dgm:pt modelId="{5176F132-4074-4C82-A651-9C8766DD1A32}" type="pres">
      <dgm:prSet presAssocID="{B80D7BD8-8D5F-4F63-8ADD-6250B2E7560F}" presName="parentText" presStyleLbl="node1" presStyleIdx="0" presStyleCnt="7">
        <dgm:presLayoutVars>
          <dgm:chMax val="0"/>
          <dgm:bulletEnabled val="1"/>
        </dgm:presLayoutVars>
      </dgm:prSet>
      <dgm:spPr/>
    </dgm:pt>
    <dgm:pt modelId="{2E08E3B8-4761-4697-8667-2324C26F7663}" type="pres">
      <dgm:prSet presAssocID="{EE402E7D-7A0F-415F-B072-74349D08D698}" presName="spacer" presStyleCnt="0"/>
      <dgm:spPr/>
    </dgm:pt>
    <dgm:pt modelId="{C050E2BA-C47A-4565-BEC7-995B9361F632}" type="pres">
      <dgm:prSet presAssocID="{AE738890-1801-4768-A1A1-445A2080CFA0}" presName="parentText" presStyleLbl="node1" presStyleIdx="1" presStyleCnt="7">
        <dgm:presLayoutVars>
          <dgm:chMax val="0"/>
          <dgm:bulletEnabled val="1"/>
        </dgm:presLayoutVars>
      </dgm:prSet>
      <dgm:spPr/>
    </dgm:pt>
    <dgm:pt modelId="{F978B5E5-71A5-4168-8D9A-F3AF93356870}" type="pres">
      <dgm:prSet presAssocID="{F988B251-5CCB-4537-AA8A-BC21B6ACA20D}" presName="spacer" presStyleCnt="0"/>
      <dgm:spPr/>
    </dgm:pt>
    <dgm:pt modelId="{823236C8-2308-4861-8435-611615EA7C21}" type="pres">
      <dgm:prSet presAssocID="{DC725C0C-75D9-481D-9F42-821851C7D6D3}" presName="parentText" presStyleLbl="node1" presStyleIdx="2" presStyleCnt="7">
        <dgm:presLayoutVars>
          <dgm:chMax val="0"/>
          <dgm:bulletEnabled val="1"/>
        </dgm:presLayoutVars>
      </dgm:prSet>
      <dgm:spPr>
        <a:xfrm>
          <a:off x="0" y="1874898"/>
          <a:ext cx="8128000" cy="515970"/>
        </a:xfrm>
        <a:prstGeom prst="roundRect">
          <a:avLst/>
        </a:prstGeom>
      </dgm:spPr>
    </dgm:pt>
    <dgm:pt modelId="{9132FCC4-C776-45F5-AE25-3CDC8DCC4470}" type="pres">
      <dgm:prSet presAssocID="{2751D001-212F-4748-9140-7F0051A3D415}" presName="spacer" presStyleCnt="0"/>
      <dgm:spPr/>
    </dgm:pt>
    <dgm:pt modelId="{B769FCD7-5B9D-42B5-9BE0-178AEFF6A4D4}" type="pres">
      <dgm:prSet presAssocID="{A36F49A7-4D71-44A1-B3F2-B5769CF5C97F}" presName="parentText" presStyleLbl="node1" presStyleIdx="3" presStyleCnt="7">
        <dgm:presLayoutVars>
          <dgm:chMax val="0"/>
          <dgm:bulletEnabled val="1"/>
        </dgm:presLayoutVars>
      </dgm:prSet>
      <dgm:spPr/>
    </dgm:pt>
    <dgm:pt modelId="{337046B8-48C8-4668-B2EF-9D232C5A15B5}" type="pres">
      <dgm:prSet presAssocID="{4DF214AD-F60B-4AAE-AB19-6BF5B7627D8E}" presName="spacer" presStyleCnt="0"/>
      <dgm:spPr/>
    </dgm:pt>
    <dgm:pt modelId="{31F074D0-3208-4819-B85D-87BE7F82FBF2}" type="pres">
      <dgm:prSet presAssocID="{F102DD81-2432-4014-B3E5-EAF3531E12B6}" presName="parentText" presStyleLbl="node1" presStyleIdx="4" presStyleCnt="7">
        <dgm:presLayoutVars>
          <dgm:chMax val="0"/>
          <dgm:bulletEnabled val="1"/>
        </dgm:presLayoutVars>
      </dgm:prSet>
      <dgm:spPr>
        <a:xfrm>
          <a:off x="0" y="3027798"/>
          <a:ext cx="8128000" cy="515970"/>
        </a:xfrm>
        <a:prstGeom prst="roundRect">
          <a:avLst/>
        </a:prstGeom>
      </dgm:spPr>
    </dgm:pt>
    <dgm:pt modelId="{3D10D785-9E17-4C9D-81B2-4EA402849489}" type="pres">
      <dgm:prSet presAssocID="{A1E463F4-4345-4423-A3FF-11D7B7A240C0}" presName="spacer" presStyleCnt="0"/>
      <dgm:spPr/>
    </dgm:pt>
    <dgm:pt modelId="{7019C2B4-039D-4817-BDB5-A8304C5DD772}" type="pres">
      <dgm:prSet presAssocID="{1BC77F08-6956-4999-91CC-DED542560431}" presName="parentText" presStyleLbl="node1" presStyleIdx="5" presStyleCnt="7">
        <dgm:presLayoutVars>
          <dgm:chMax val="0"/>
          <dgm:bulletEnabled val="1"/>
        </dgm:presLayoutVars>
      </dgm:prSet>
      <dgm:spPr>
        <a:xfrm>
          <a:off x="0" y="3604248"/>
          <a:ext cx="8128000" cy="515970"/>
        </a:xfrm>
        <a:prstGeom prst="roundRect">
          <a:avLst/>
        </a:prstGeom>
      </dgm:spPr>
    </dgm:pt>
    <dgm:pt modelId="{5183BC9C-96B3-479A-BCB9-2707C558ED40}" type="pres">
      <dgm:prSet presAssocID="{3DD914D9-7FCF-4D7A-A0DF-6B5EE62B0DC6}" presName="spacer" presStyleCnt="0"/>
      <dgm:spPr/>
    </dgm:pt>
    <dgm:pt modelId="{90AE4D87-02C8-4148-A7B0-9117B88164A9}" type="pres">
      <dgm:prSet presAssocID="{AD28491A-80D0-4918-97D8-1BEC75BEC028}" presName="parentText" presStyleLbl="node1" presStyleIdx="6" presStyleCnt="7">
        <dgm:presLayoutVars>
          <dgm:chMax val="0"/>
          <dgm:bulletEnabled val="1"/>
        </dgm:presLayoutVars>
      </dgm:prSet>
      <dgm:spPr>
        <a:xfrm>
          <a:off x="0" y="4180698"/>
          <a:ext cx="8128000" cy="515970"/>
        </a:xfrm>
        <a:prstGeom prst="roundRect">
          <a:avLst/>
        </a:prstGeom>
      </dgm:spPr>
    </dgm:pt>
  </dgm:ptLst>
  <dgm:cxnLst>
    <dgm:cxn modelId="{10C88D12-4287-450C-A88F-698292625F10}" srcId="{4825684E-4E4E-4150-A357-229B96948010}" destId="{DC725C0C-75D9-481D-9F42-821851C7D6D3}" srcOrd="2" destOrd="0" parTransId="{7C8A2652-1FB8-421A-B1A1-AB138B3D718B}" sibTransId="{2751D001-212F-4748-9140-7F0051A3D415}"/>
    <dgm:cxn modelId="{2C24B118-891C-452A-B5C1-54C9D076D05F}" type="presOf" srcId="{1BC77F08-6956-4999-91CC-DED542560431}" destId="{7019C2B4-039D-4817-BDB5-A8304C5DD772}" srcOrd="0" destOrd="0" presId="urn:microsoft.com/office/officeart/2005/8/layout/vList2"/>
    <dgm:cxn modelId="{D3DFE01A-79C8-450A-BDD1-0E44AB9209C9}" srcId="{4825684E-4E4E-4150-A357-229B96948010}" destId="{AD28491A-80D0-4918-97D8-1BEC75BEC028}" srcOrd="6" destOrd="0" parTransId="{6512115E-687E-44BB-B574-87C6F4A138EA}" sibTransId="{6416D7E0-74CE-493B-92AF-622F406AED78}"/>
    <dgm:cxn modelId="{5F2A3426-9A38-4F65-A4E4-69D4F8564087}" type="presOf" srcId="{B80D7BD8-8D5F-4F63-8ADD-6250B2E7560F}" destId="{5176F132-4074-4C82-A651-9C8766DD1A32}" srcOrd="0" destOrd="0" presId="urn:microsoft.com/office/officeart/2005/8/layout/vList2"/>
    <dgm:cxn modelId="{821B7C73-DB0B-4125-9C47-5764DF69542B}" type="presOf" srcId="{DC725C0C-75D9-481D-9F42-821851C7D6D3}" destId="{823236C8-2308-4861-8435-611615EA7C21}" srcOrd="0" destOrd="0" presId="urn:microsoft.com/office/officeart/2005/8/layout/vList2"/>
    <dgm:cxn modelId="{58DD2C83-6F50-479B-87BF-579FA3116331}" type="presOf" srcId="{AD28491A-80D0-4918-97D8-1BEC75BEC028}" destId="{90AE4D87-02C8-4148-A7B0-9117B88164A9}" srcOrd="0" destOrd="0" presId="urn:microsoft.com/office/officeart/2005/8/layout/vList2"/>
    <dgm:cxn modelId="{DFEC2184-156D-4985-84E1-AD4978E42BFF}" type="presOf" srcId="{A36F49A7-4D71-44A1-B3F2-B5769CF5C97F}" destId="{B769FCD7-5B9D-42B5-9BE0-178AEFF6A4D4}" srcOrd="0" destOrd="0" presId="urn:microsoft.com/office/officeart/2005/8/layout/vList2"/>
    <dgm:cxn modelId="{2A27F297-7EF4-4D5C-AE1A-61F475E95270}" srcId="{4825684E-4E4E-4150-A357-229B96948010}" destId="{AE738890-1801-4768-A1A1-445A2080CFA0}" srcOrd="1" destOrd="0" parTransId="{6738E11A-AE28-4FF5-B59C-952D2AA6CBD7}" sibTransId="{F988B251-5CCB-4537-AA8A-BC21B6ACA20D}"/>
    <dgm:cxn modelId="{98DCBAAD-2642-42CB-A69F-874AD5DC1702}" srcId="{4825684E-4E4E-4150-A357-229B96948010}" destId="{B80D7BD8-8D5F-4F63-8ADD-6250B2E7560F}" srcOrd="0" destOrd="0" parTransId="{FCF978FF-EC2A-4E9B-9737-86FF7E922154}" sibTransId="{EE402E7D-7A0F-415F-B072-74349D08D698}"/>
    <dgm:cxn modelId="{54747CBE-27E9-4CF8-B72A-F0EFB42733CE}" srcId="{4825684E-4E4E-4150-A357-229B96948010}" destId="{1BC77F08-6956-4999-91CC-DED542560431}" srcOrd="5" destOrd="0" parTransId="{74089052-192E-4F25-8460-6F5B976FFAEF}" sibTransId="{3DD914D9-7FCF-4D7A-A0DF-6B5EE62B0DC6}"/>
    <dgm:cxn modelId="{1E1BDFC2-D30D-46F8-94C3-C031F7F6067F}" srcId="{4825684E-4E4E-4150-A357-229B96948010}" destId="{F102DD81-2432-4014-B3E5-EAF3531E12B6}" srcOrd="4" destOrd="0" parTransId="{C4B3AFA9-7B67-40A3-875E-8095BC4C7059}" sibTransId="{A1E463F4-4345-4423-A3FF-11D7B7A240C0}"/>
    <dgm:cxn modelId="{E148D0C4-1F99-41AA-A09E-B7E84ECA962F}" srcId="{4825684E-4E4E-4150-A357-229B96948010}" destId="{A36F49A7-4D71-44A1-B3F2-B5769CF5C97F}" srcOrd="3" destOrd="0" parTransId="{9B001535-00E4-4DBB-9A07-68441C2F4F04}" sibTransId="{4DF214AD-F60B-4AAE-AB19-6BF5B7627D8E}"/>
    <dgm:cxn modelId="{2C56D9E7-49C8-457D-8B2F-4C162C9DC4A2}" type="presOf" srcId="{AE738890-1801-4768-A1A1-445A2080CFA0}" destId="{C050E2BA-C47A-4565-BEC7-995B9361F632}" srcOrd="0" destOrd="0" presId="urn:microsoft.com/office/officeart/2005/8/layout/vList2"/>
    <dgm:cxn modelId="{D14BAFF7-0A1A-42BC-ACBA-F05ED8217A39}" type="presOf" srcId="{4825684E-4E4E-4150-A357-229B96948010}" destId="{D5446688-9621-4647-9EAF-DC9E4CDAA598}" srcOrd="0" destOrd="0" presId="urn:microsoft.com/office/officeart/2005/8/layout/vList2"/>
    <dgm:cxn modelId="{DC82F1FE-AA45-4B6F-B073-4A5FEAC9E3DF}" type="presOf" srcId="{F102DD81-2432-4014-B3E5-EAF3531E12B6}" destId="{31F074D0-3208-4819-B85D-87BE7F82FBF2}" srcOrd="0" destOrd="0" presId="urn:microsoft.com/office/officeart/2005/8/layout/vList2"/>
    <dgm:cxn modelId="{F122A876-2D07-42BC-8C10-3F4A6A2902D8}" type="presParOf" srcId="{D5446688-9621-4647-9EAF-DC9E4CDAA598}" destId="{5176F132-4074-4C82-A651-9C8766DD1A32}" srcOrd="0" destOrd="0" presId="urn:microsoft.com/office/officeart/2005/8/layout/vList2"/>
    <dgm:cxn modelId="{2351D267-A394-4975-86AF-59FC5850CC40}" type="presParOf" srcId="{D5446688-9621-4647-9EAF-DC9E4CDAA598}" destId="{2E08E3B8-4761-4697-8667-2324C26F7663}" srcOrd="1" destOrd="0" presId="urn:microsoft.com/office/officeart/2005/8/layout/vList2"/>
    <dgm:cxn modelId="{7131F385-5AD3-4041-B2C7-252AD1FF5B7A}" type="presParOf" srcId="{D5446688-9621-4647-9EAF-DC9E4CDAA598}" destId="{C050E2BA-C47A-4565-BEC7-995B9361F632}" srcOrd="2" destOrd="0" presId="urn:microsoft.com/office/officeart/2005/8/layout/vList2"/>
    <dgm:cxn modelId="{0F414DD1-D54C-4424-B422-E94DED50C56B}" type="presParOf" srcId="{D5446688-9621-4647-9EAF-DC9E4CDAA598}" destId="{F978B5E5-71A5-4168-8D9A-F3AF93356870}" srcOrd="3" destOrd="0" presId="urn:microsoft.com/office/officeart/2005/8/layout/vList2"/>
    <dgm:cxn modelId="{8F5B6A1C-BA9E-4B4A-91CB-926432576B6D}" type="presParOf" srcId="{D5446688-9621-4647-9EAF-DC9E4CDAA598}" destId="{823236C8-2308-4861-8435-611615EA7C21}" srcOrd="4" destOrd="0" presId="urn:microsoft.com/office/officeart/2005/8/layout/vList2"/>
    <dgm:cxn modelId="{4562C74C-6F3E-4BC1-946D-B1BCE3FD9F88}" type="presParOf" srcId="{D5446688-9621-4647-9EAF-DC9E4CDAA598}" destId="{9132FCC4-C776-45F5-AE25-3CDC8DCC4470}" srcOrd="5" destOrd="0" presId="urn:microsoft.com/office/officeart/2005/8/layout/vList2"/>
    <dgm:cxn modelId="{3EDE0D86-B3C9-4302-9AFB-1DD4A61936AF}" type="presParOf" srcId="{D5446688-9621-4647-9EAF-DC9E4CDAA598}" destId="{B769FCD7-5B9D-42B5-9BE0-178AEFF6A4D4}" srcOrd="6" destOrd="0" presId="urn:microsoft.com/office/officeart/2005/8/layout/vList2"/>
    <dgm:cxn modelId="{E0A65BFE-BF8B-4FAB-B544-5FAFA4F177E5}" type="presParOf" srcId="{D5446688-9621-4647-9EAF-DC9E4CDAA598}" destId="{337046B8-48C8-4668-B2EF-9D232C5A15B5}" srcOrd="7" destOrd="0" presId="urn:microsoft.com/office/officeart/2005/8/layout/vList2"/>
    <dgm:cxn modelId="{59E6B49E-5349-4A56-8EBB-6AEF9C5A8DD5}" type="presParOf" srcId="{D5446688-9621-4647-9EAF-DC9E4CDAA598}" destId="{31F074D0-3208-4819-B85D-87BE7F82FBF2}" srcOrd="8" destOrd="0" presId="urn:microsoft.com/office/officeart/2005/8/layout/vList2"/>
    <dgm:cxn modelId="{2CB71D40-736A-4C06-A44A-33CA8689ABA5}" type="presParOf" srcId="{D5446688-9621-4647-9EAF-DC9E4CDAA598}" destId="{3D10D785-9E17-4C9D-81B2-4EA402849489}" srcOrd="9" destOrd="0" presId="urn:microsoft.com/office/officeart/2005/8/layout/vList2"/>
    <dgm:cxn modelId="{26F91529-CEE9-4AF6-AC5A-82B10D473364}" type="presParOf" srcId="{D5446688-9621-4647-9EAF-DC9E4CDAA598}" destId="{7019C2B4-039D-4817-BDB5-A8304C5DD772}" srcOrd="10" destOrd="0" presId="urn:microsoft.com/office/officeart/2005/8/layout/vList2"/>
    <dgm:cxn modelId="{A5312610-F386-4BF2-B8F4-E422579FE180}" type="presParOf" srcId="{D5446688-9621-4647-9EAF-DC9E4CDAA598}" destId="{5183BC9C-96B3-479A-BCB9-2707C558ED40}" srcOrd="11" destOrd="0" presId="urn:microsoft.com/office/officeart/2005/8/layout/vList2"/>
    <dgm:cxn modelId="{BA6309AD-5061-4348-A6F0-3739368EEF90}" type="presParOf" srcId="{D5446688-9621-4647-9EAF-DC9E4CDAA598}" destId="{90AE4D87-02C8-4148-A7B0-9117B88164A9}"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4825684E-4E4E-4150-A357-229B9694801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B80D7BD8-8D5F-4F63-8ADD-6250B2E7560F}">
      <dgm:prSet phldrT="[Texto]"/>
      <dgm:spPr>
        <a:solidFill>
          <a:srgbClr val="1DAADE"/>
        </a:solidFill>
      </dgm:spPr>
      <dgm:t>
        <a:bodyPr/>
        <a:lstStyle/>
        <a:p>
          <a:r>
            <a:rPr lang="es-ES"/>
            <a:t>Explorador de órbitas de </a:t>
          </a:r>
          <a:r>
            <a:rPr lang="es-ES" err="1"/>
            <a:t>Lyapunov</a:t>
          </a:r>
          <a:r>
            <a:rPr lang="es-ES"/>
            <a:t> alrededor de puntos colineales.</a:t>
          </a:r>
        </a:p>
      </dgm:t>
    </dgm:pt>
    <dgm:pt modelId="{FCF978FF-EC2A-4E9B-9737-86FF7E922154}" type="parTrans" cxnId="{98DCBAAD-2642-42CB-A69F-874AD5DC1702}">
      <dgm:prSet/>
      <dgm:spPr/>
      <dgm:t>
        <a:bodyPr/>
        <a:lstStyle/>
        <a:p>
          <a:endParaRPr lang="es-ES"/>
        </a:p>
      </dgm:t>
    </dgm:pt>
    <dgm:pt modelId="{EE402E7D-7A0F-415F-B072-74349D08D698}" type="sibTrans" cxnId="{98DCBAAD-2642-42CB-A69F-874AD5DC1702}">
      <dgm:prSet/>
      <dgm:spPr/>
      <dgm:t>
        <a:bodyPr/>
        <a:lstStyle/>
        <a:p>
          <a:endParaRPr lang="es-ES"/>
        </a:p>
      </dgm:t>
    </dgm:pt>
    <dgm:pt modelId="{AE738890-1801-4768-A1A1-445A2080CFA0}">
      <dgm:prSet/>
      <dgm:spPr>
        <a:solidFill>
          <a:srgbClr val="1C86C1"/>
        </a:solidFill>
      </dgm:spPr>
      <dgm:t>
        <a:bodyPr/>
        <a:lstStyle/>
        <a:p>
          <a:r>
            <a:rPr lang="es-ES"/>
            <a:t>Capacidad de generar condiciones iniciales de órbitas periódicas.</a:t>
          </a:r>
        </a:p>
      </dgm:t>
    </dgm:pt>
    <dgm:pt modelId="{6738E11A-AE28-4FF5-B59C-952D2AA6CBD7}" type="parTrans" cxnId="{2A27F297-7EF4-4D5C-AE1A-61F475E95270}">
      <dgm:prSet/>
      <dgm:spPr/>
      <dgm:t>
        <a:bodyPr/>
        <a:lstStyle/>
        <a:p>
          <a:endParaRPr lang="es-ES"/>
        </a:p>
      </dgm:t>
    </dgm:pt>
    <dgm:pt modelId="{F988B251-5CCB-4537-AA8A-BC21B6ACA20D}" type="sibTrans" cxnId="{2A27F297-7EF4-4D5C-AE1A-61F475E95270}">
      <dgm:prSet/>
      <dgm:spPr/>
      <dgm:t>
        <a:bodyPr/>
        <a:lstStyle/>
        <a:p>
          <a:endParaRPr lang="es-ES"/>
        </a:p>
      </dgm:t>
    </dgm:pt>
    <dgm:pt modelId="{DC725C0C-75D9-481D-9F42-821851C7D6D3}">
      <dgm:prSet custT="1"/>
      <dgm:spPr>
        <a:blipFill>
          <a:blip xmlns:r="http://schemas.openxmlformats.org/officeDocument/2006/relationships" r:embed="rId1"/>
          <a:stretch>
            <a:fillRect l="-673" b="-7865"/>
          </a:stretch>
        </a:blipFill>
        <a:ln w="19050" cap="flat" cmpd="sng" algn="ctr">
          <a:solidFill>
            <a:prstClr val="white">
              <a:hueOff val="0"/>
              <a:satOff val="0"/>
              <a:lumOff val="0"/>
              <a:alphaOff val="0"/>
            </a:prstClr>
          </a:solidFill>
          <a:prstDash val="solid"/>
          <a:miter lim="800000"/>
        </a:ln>
        <a:effectLst/>
      </dgm:spPr>
      <dgm:t>
        <a:bodyPr/>
        <a:lstStyle/>
        <a:p>
          <a:r>
            <a:rPr lang="en-US">
              <a:noFill/>
            </a:rPr>
            <a:t> </a:t>
          </a:r>
        </a:p>
      </dgm:t>
    </dgm:pt>
    <dgm:pt modelId="{7C8A2652-1FB8-421A-B1A1-AB138B3D718B}" type="parTrans" cxnId="{10C88D12-4287-450C-A88F-698292625F10}">
      <dgm:prSet/>
      <dgm:spPr/>
      <dgm:t>
        <a:bodyPr/>
        <a:lstStyle/>
        <a:p>
          <a:endParaRPr lang="es-ES"/>
        </a:p>
      </dgm:t>
    </dgm:pt>
    <dgm:pt modelId="{2751D001-212F-4748-9140-7F0051A3D415}" type="sibTrans" cxnId="{10C88D12-4287-450C-A88F-698292625F10}">
      <dgm:prSet/>
      <dgm:spPr/>
      <dgm:t>
        <a:bodyPr/>
        <a:lstStyle/>
        <a:p>
          <a:endParaRPr lang="es-ES"/>
        </a:p>
      </dgm:t>
    </dgm:pt>
    <dgm:pt modelId="{A36F49A7-4D71-44A1-B3F2-B5769CF5C97F}">
      <dgm:prSet/>
      <dgm:spPr>
        <a:solidFill>
          <a:srgbClr val="534552"/>
        </a:solidFill>
      </dgm:spPr>
      <dgm:t>
        <a:bodyPr/>
        <a:lstStyle/>
        <a:p>
          <a:r>
            <a:rPr lang="es-ES"/>
            <a:t>Posibilidad de seleccionar el punto de Lagrange.</a:t>
          </a:r>
        </a:p>
      </dgm:t>
    </dgm:pt>
    <dgm:pt modelId="{9B001535-00E4-4DBB-9A07-68441C2F4F04}" type="parTrans" cxnId="{E148D0C4-1F99-41AA-A09E-B7E84ECA962F}">
      <dgm:prSet/>
      <dgm:spPr/>
      <dgm:t>
        <a:bodyPr/>
        <a:lstStyle/>
        <a:p>
          <a:endParaRPr lang="es-ES"/>
        </a:p>
      </dgm:t>
    </dgm:pt>
    <dgm:pt modelId="{4DF214AD-F60B-4AAE-AB19-6BF5B7627D8E}" type="sibTrans" cxnId="{E148D0C4-1F99-41AA-A09E-B7E84ECA962F}">
      <dgm:prSet/>
      <dgm:spPr/>
      <dgm:t>
        <a:bodyPr/>
        <a:lstStyle/>
        <a:p>
          <a:endParaRPr lang="es-ES"/>
        </a:p>
      </dgm:t>
    </dgm:pt>
    <dgm:pt modelId="{F102DD81-2432-4014-B3E5-EAF3531E12B6}">
      <dgm:prSet custT="1"/>
      <dgm:spPr>
        <a:solidFill>
          <a:srgbClr val="E58746"/>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Posibilidad de utilizar diferentes esquemas numéricos.</a:t>
          </a:r>
        </a:p>
      </dgm:t>
    </dgm:pt>
    <dgm:pt modelId="{C4B3AFA9-7B67-40A3-875E-8095BC4C7059}" type="parTrans" cxnId="{1E1BDFC2-D30D-46F8-94C3-C031F7F6067F}">
      <dgm:prSet/>
      <dgm:spPr/>
      <dgm:t>
        <a:bodyPr/>
        <a:lstStyle/>
        <a:p>
          <a:endParaRPr lang="es-ES"/>
        </a:p>
      </dgm:t>
    </dgm:pt>
    <dgm:pt modelId="{A1E463F4-4345-4423-A3FF-11D7B7A240C0}" type="sibTrans" cxnId="{1E1BDFC2-D30D-46F8-94C3-C031F7F6067F}">
      <dgm:prSet/>
      <dgm:spPr/>
      <dgm:t>
        <a:bodyPr/>
        <a:lstStyle/>
        <a:p>
          <a:endParaRPr lang="es-ES"/>
        </a:p>
      </dgm:t>
    </dgm:pt>
    <dgm:pt modelId="{1BC77F08-6956-4999-91CC-DED542560431}">
      <dgm:prSet custT="1"/>
      <dgm:spPr>
        <a:solidFill>
          <a:srgbClr val="F0A14A"/>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Guardar y recuperar condiciones iniciales guardadas en archivos.</a:t>
          </a:r>
        </a:p>
      </dgm:t>
    </dgm:pt>
    <dgm:pt modelId="{74089052-192E-4F25-8460-6F5B976FFAEF}" type="parTrans" cxnId="{54747CBE-27E9-4CF8-B72A-F0EFB42733CE}">
      <dgm:prSet/>
      <dgm:spPr/>
      <dgm:t>
        <a:bodyPr/>
        <a:lstStyle/>
        <a:p>
          <a:endParaRPr lang="es-ES"/>
        </a:p>
      </dgm:t>
    </dgm:pt>
    <dgm:pt modelId="{3DD914D9-7FCF-4D7A-A0DF-6B5EE62B0DC6}" type="sibTrans" cxnId="{54747CBE-27E9-4CF8-B72A-F0EFB42733CE}">
      <dgm:prSet/>
      <dgm:spPr/>
      <dgm:t>
        <a:bodyPr/>
        <a:lstStyle/>
        <a:p>
          <a:endParaRPr lang="es-ES"/>
        </a:p>
      </dgm:t>
    </dgm:pt>
    <dgm:pt modelId="{AD28491A-80D0-4918-97D8-1BEC75BEC028}">
      <dgm:prSet custT="1"/>
      <dgm:spPr>
        <a:solidFill>
          <a:srgbClr val="F3AD4F"/>
        </a:solidFill>
        <a:ln w="19050" cap="flat" cmpd="sng" algn="ctr">
          <a:solidFill>
            <a:prstClr val="white">
              <a:hueOff val="0"/>
              <a:satOff val="0"/>
              <a:lumOff val="0"/>
              <a:alphaOff val="0"/>
            </a:prstClr>
          </a:solidFill>
          <a:prstDash val="solid"/>
          <a:miter lim="800000"/>
        </a:ln>
        <a:effectLst/>
      </dgm:spPr>
      <dgm:t>
        <a:bodyPr spcFirstLastPara="0" vert="horz" wrap="square" lIns="80010" tIns="80010" rIns="80010" bIns="80010" numCol="1" spcCol="1270" anchor="ctr" anchorCtr="0"/>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Analizar la estabilidad de las órbitas.</a:t>
          </a:r>
        </a:p>
      </dgm:t>
    </dgm:pt>
    <dgm:pt modelId="{6512115E-687E-44BB-B574-87C6F4A138EA}" type="parTrans" cxnId="{D3DFE01A-79C8-450A-BDD1-0E44AB9209C9}">
      <dgm:prSet/>
      <dgm:spPr/>
      <dgm:t>
        <a:bodyPr/>
        <a:lstStyle/>
        <a:p>
          <a:endParaRPr lang="es-ES"/>
        </a:p>
      </dgm:t>
    </dgm:pt>
    <dgm:pt modelId="{6416D7E0-74CE-493B-92AF-622F406AED78}" type="sibTrans" cxnId="{D3DFE01A-79C8-450A-BDD1-0E44AB9209C9}">
      <dgm:prSet/>
      <dgm:spPr/>
      <dgm:t>
        <a:bodyPr/>
        <a:lstStyle/>
        <a:p>
          <a:endParaRPr lang="es-ES"/>
        </a:p>
      </dgm:t>
    </dgm:pt>
    <dgm:pt modelId="{D5446688-9621-4647-9EAF-DC9E4CDAA598}" type="pres">
      <dgm:prSet presAssocID="{4825684E-4E4E-4150-A357-229B96948010}" presName="linear" presStyleCnt="0">
        <dgm:presLayoutVars>
          <dgm:animLvl val="lvl"/>
          <dgm:resizeHandles val="exact"/>
        </dgm:presLayoutVars>
      </dgm:prSet>
      <dgm:spPr/>
    </dgm:pt>
    <dgm:pt modelId="{5176F132-4074-4C82-A651-9C8766DD1A32}" type="pres">
      <dgm:prSet presAssocID="{B80D7BD8-8D5F-4F63-8ADD-6250B2E7560F}" presName="parentText" presStyleLbl="node1" presStyleIdx="0" presStyleCnt="7">
        <dgm:presLayoutVars>
          <dgm:chMax val="0"/>
          <dgm:bulletEnabled val="1"/>
        </dgm:presLayoutVars>
      </dgm:prSet>
      <dgm:spPr/>
    </dgm:pt>
    <dgm:pt modelId="{2E08E3B8-4761-4697-8667-2324C26F7663}" type="pres">
      <dgm:prSet presAssocID="{EE402E7D-7A0F-415F-B072-74349D08D698}" presName="spacer" presStyleCnt="0"/>
      <dgm:spPr/>
    </dgm:pt>
    <dgm:pt modelId="{C050E2BA-C47A-4565-BEC7-995B9361F632}" type="pres">
      <dgm:prSet presAssocID="{AE738890-1801-4768-A1A1-445A2080CFA0}" presName="parentText" presStyleLbl="node1" presStyleIdx="1" presStyleCnt="7">
        <dgm:presLayoutVars>
          <dgm:chMax val="0"/>
          <dgm:bulletEnabled val="1"/>
        </dgm:presLayoutVars>
      </dgm:prSet>
      <dgm:spPr/>
    </dgm:pt>
    <dgm:pt modelId="{F978B5E5-71A5-4168-8D9A-F3AF93356870}" type="pres">
      <dgm:prSet presAssocID="{F988B251-5CCB-4537-AA8A-BC21B6ACA20D}" presName="spacer" presStyleCnt="0"/>
      <dgm:spPr/>
    </dgm:pt>
    <dgm:pt modelId="{823236C8-2308-4861-8435-611615EA7C21}" type="pres">
      <dgm:prSet presAssocID="{DC725C0C-75D9-481D-9F42-821851C7D6D3}" presName="parentText" presStyleLbl="node1" presStyleIdx="2" presStyleCnt="7">
        <dgm:presLayoutVars>
          <dgm:chMax val="0"/>
          <dgm:bulletEnabled val="1"/>
        </dgm:presLayoutVars>
      </dgm:prSet>
      <dgm:spPr>
        <a:xfrm>
          <a:off x="0" y="1874898"/>
          <a:ext cx="8128000" cy="515970"/>
        </a:xfrm>
        <a:prstGeom prst="roundRect">
          <a:avLst/>
        </a:prstGeom>
      </dgm:spPr>
    </dgm:pt>
    <dgm:pt modelId="{9132FCC4-C776-45F5-AE25-3CDC8DCC4470}" type="pres">
      <dgm:prSet presAssocID="{2751D001-212F-4748-9140-7F0051A3D415}" presName="spacer" presStyleCnt="0"/>
      <dgm:spPr/>
    </dgm:pt>
    <dgm:pt modelId="{B769FCD7-5B9D-42B5-9BE0-178AEFF6A4D4}" type="pres">
      <dgm:prSet presAssocID="{A36F49A7-4D71-44A1-B3F2-B5769CF5C97F}" presName="parentText" presStyleLbl="node1" presStyleIdx="3" presStyleCnt="7">
        <dgm:presLayoutVars>
          <dgm:chMax val="0"/>
          <dgm:bulletEnabled val="1"/>
        </dgm:presLayoutVars>
      </dgm:prSet>
      <dgm:spPr/>
    </dgm:pt>
    <dgm:pt modelId="{337046B8-48C8-4668-B2EF-9D232C5A15B5}" type="pres">
      <dgm:prSet presAssocID="{4DF214AD-F60B-4AAE-AB19-6BF5B7627D8E}" presName="spacer" presStyleCnt="0"/>
      <dgm:spPr/>
    </dgm:pt>
    <dgm:pt modelId="{31F074D0-3208-4819-B85D-87BE7F82FBF2}" type="pres">
      <dgm:prSet presAssocID="{F102DD81-2432-4014-B3E5-EAF3531E12B6}" presName="parentText" presStyleLbl="node1" presStyleIdx="4" presStyleCnt="7">
        <dgm:presLayoutVars>
          <dgm:chMax val="0"/>
          <dgm:bulletEnabled val="1"/>
        </dgm:presLayoutVars>
      </dgm:prSet>
      <dgm:spPr>
        <a:xfrm>
          <a:off x="0" y="3027798"/>
          <a:ext cx="8128000" cy="515970"/>
        </a:xfrm>
        <a:prstGeom prst="roundRect">
          <a:avLst/>
        </a:prstGeom>
      </dgm:spPr>
    </dgm:pt>
    <dgm:pt modelId="{3D10D785-9E17-4C9D-81B2-4EA402849489}" type="pres">
      <dgm:prSet presAssocID="{A1E463F4-4345-4423-A3FF-11D7B7A240C0}" presName="spacer" presStyleCnt="0"/>
      <dgm:spPr/>
    </dgm:pt>
    <dgm:pt modelId="{7019C2B4-039D-4817-BDB5-A8304C5DD772}" type="pres">
      <dgm:prSet presAssocID="{1BC77F08-6956-4999-91CC-DED542560431}" presName="parentText" presStyleLbl="node1" presStyleIdx="5" presStyleCnt="7">
        <dgm:presLayoutVars>
          <dgm:chMax val="0"/>
          <dgm:bulletEnabled val="1"/>
        </dgm:presLayoutVars>
      </dgm:prSet>
      <dgm:spPr>
        <a:xfrm>
          <a:off x="0" y="3604248"/>
          <a:ext cx="8128000" cy="515970"/>
        </a:xfrm>
        <a:prstGeom prst="roundRect">
          <a:avLst/>
        </a:prstGeom>
      </dgm:spPr>
    </dgm:pt>
    <dgm:pt modelId="{5183BC9C-96B3-479A-BCB9-2707C558ED40}" type="pres">
      <dgm:prSet presAssocID="{3DD914D9-7FCF-4D7A-A0DF-6B5EE62B0DC6}" presName="spacer" presStyleCnt="0"/>
      <dgm:spPr/>
    </dgm:pt>
    <dgm:pt modelId="{90AE4D87-02C8-4148-A7B0-9117B88164A9}" type="pres">
      <dgm:prSet presAssocID="{AD28491A-80D0-4918-97D8-1BEC75BEC028}" presName="parentText" presStyleLbl="node1" presStyleIdx="6" presStyleCnt="7">
        <dgm:presLayoutVars>
          <dgm:chMax val="0"/>
          <dgm:bulletEnabled val="1"/>
        </dgm:presLayoutVars>
      </dgm:prSet>
      <dgm:spPr>
        <a:xfrm>
          <a:off x="0" y="4180698"/>
          <a:ext cx="8128000" cy="515970"/>
        </a:xfrm>
        <a:prstGeom prst="roundRect">
          <a:avLst/>
        </a:prstGeom>
      </dgm:spPr>
    </dgm:pt>
  </dgm:ptLst>
  <dgm:cxnLst>
    <dgm:cxn modelId="{10C88D12-4287-450C-A88F-698292625F10}" srcId="{4825684E-4E4E-4150-A357-229B96948010}" destId="{DC725C0C-75D9-481D-9F42-821851C7D6D3}" srcOrd="2" destOrd="0" parTransId="{7C8A2652-1FB8-421A-B1A1-AB138B3D718B}" sibTransId="{2751D001-212F-4748-9140-7F0051A3D415}"/>
    <dgm:cxn modelId="{2C24B118-891C-452A-B5C1-54C9D076D05F}" type="presOf" srcId="{1BC77F08-6956-4999-91CC-DED542560431}" destId="{7019C2B4-039D-4817-BDB5-A8304C5DD772}" srcOrd="0" destOrd="0" presId="urn:microsoft.com/office/officeart/2005/8/layout/vList2"/>
    <dgm:cxn modelId="{D3DFE01A-79C8-450A-BDD1-0E44AB9209C9}" srcId="{4825684E-4E4E-4150-A357-229B96948010}" destId="{AD28491A-80D0-4918-97D8-1BEC75BEC028}" srcOrd="6" destOrd="0" parTransId="{6512115E-687E-44BB-B574-87C6F4A138EA}" sibTransId="{6416D7E0-74CE-493B-92AF-622F406AED78}"/>
    <dgm:cxn modelId="{5F2A3426-9A38-4F65-A4E4-69D4F8564087}" type="presOf" srcId="{B80D7BD8-8D5F-4F63-8ADD-6250B2E7560F}" destId="{5176F132-4074-4C82-A651-9C8766DD1A32}" srcOrd="0" destOrd="0" presId="urn:microsoft.com/office/officeart/2005/8/layout/vList2"/>
    <dgm:cxn modelId="{821B7C73-DB0B-4125-9C47-5764DF69542B}" type="presOf" srcId="{DC725C0C-75D9-481D-9F42-821851C7D6D3}" destId="{823236C8-2308-4861-8435-611615EA7C21}" srcOrd="0" destOrd="0" presId="urn:microsoft.com/office/officeart/2005/8/layout/vList2"/>
    <dgm:cxn modelId="{58DD2C83-6F50-479B-87BF-579FA3116331}" type="presOf" srcId="{AD28491A-80D0-4918-97D8-1BEC75BEC028}" destId="{90AE4D87-02C8-4148-A7B0-9117B88164A9}" srcOrd="0" destOrd="0" presId="urn:microsoft.com/office/officeart/2005/8/layout/vList2"/>
    <dgm:cxn modelId="{DFEC2184-156D-4985-84E1-AD4978E42BFF}" type="presOf" srcId="{A36F49A7-4D71-44A1-B3F2-B5769CF5C97F}" destId="{B769FCD7-5B9D-42B5-9BE0-178AEFF6A4D4}" srcOrd="0" destOrd="0" presId="urn:microsoft.com/office/officeart/2005/8/layout/vList2"/>
    <dgm:cxn modelId="{2A27F297-7EF4-4D5C-AE1A-61F475E95270}" srcId="{4825684E-4E4E-4150-A357-229B96948010}" destId="{AE738890-1801-4768-A1A1-445A2080CFA0}" srcOrd="1" destOrd="0" parTransId="{6738E11A-AE28-4FF5-B59C-952D2AA6CBD7}" sibTransId="{F988B251-5CCB-4537-AA8A-BC21B6ACA20D}"/>
    <dgm:cxn modelId="{98DCBAAD-2642-42CB-A69F-874AD5DC1702}" srcId="{4825684E-4E4E-4150-A357-229B96948010}" destId="{B80D7BD8-8D5F-4F63-8ADD-6250B2E7560F}" srcOrd="0" destOrd="0" parTransId="{FCF978FF-EC2A-4E9B-9737-86FF7E922154}" sibTransId="{EE402E7D-7A0F-415F-B072-74349D08D698}"/>
    <dgm:cxn modelId="{54747CBE-27E9-4CF8-B72A-F0EFB42733CE}" srcId="{4825684E-4E4E-4150-A357-229B96948010}" destId="{1BC77F08-6956-4999-91CC-DED542560431}" srcOrd="5" destOrd="0" parTransId="{74089052-192E-4F25-8460-6F5B976FFAEF}" sibTransId="{3DD914D9-7FCF-4D7A-A0DF-6B5EE62B0DC6}"/>
    <dgm:cxn modelId="{1E1BDFC2-D30D-46F8-94C3-C031F7F6067F}" srcId="{4825684E-4E4E-4150-A357-229B96948010}" destId="{F102DD81-2432-4014-B3E5-EAF3531E12B6}" srcOrd="4" destOrd="0" parTransId="{C4B3AFA9-7B67-40A3-875E-8095BC4C7059}" sibTransId="{A1E463F4-4345-4423-A3FF-11D7B7A240C0}"/>
    <dgm:cxn modelId="{E148D0C4-1F99-41AA-A09E-B7E84ECA962F}" srcId="{4825684E-4E4E-4150-A357-229B96948010}" destId="{A36F49A7-4D71-44A1-B3F2-B5769CF5C97F}" srcOrd="3" destOrd="0" parTransId="{9B001535-00E4-4DBB-9A07-68441C2F4F04}" sibTransId="{4DF214AD-F60B-4AAE-AB19-6BF5B7627D8E}"/>
    <dgm:cxn modelId="{2C56D9E7-49C8-457D-8B2F-4C162C9DC4A2}" type="presOf" srcId="{AE738890-1801-4768-A1A1-445A2080CFA0}" destId="{C050E2BA-C47A-4565-BEC7-995B9361F632}" srcOrd="0" destOrd="0" presId="urn:microsoft.com/office/officeart/2005/8/layout/vList2"/>
    <dgm:cxn modelId="{D14BAFF7-0A1A-42BC-ACBA-F05ED8217A39}" type="presOf" srcId="{4825684E-4E4E-4150-A357-229B96948010}" destId="{D5446688-9621-4647-9EAF-DC9E4CDAA598}" srcOrd="0" destOrd="0" presId="urn:microsoft.com/office/officeart/2005/8/layout/vList2"/>
    <dgm:cxn modelId="{DC82F1FE-AA45-4B6F-B073-4A5FEAC9E3DF}" type="presOf" srcId="{F102DD81-2432-4014-B3E5-EAF3531E12B6}" destId="{31F074D0-3208-4819-B85D-87BE7F82FBF2}" srcOrd="0" destOrd="0" presId="urn:microsoft.com/office/officeart/2005/8/layout/vList2"/>
    <dgm:cxn modelId="{F122A876-2D07-42BC-8C10-3F4A6A2902D8}" type="presParOf" srcId="{D5446688-9621-4647-9EAF-DC9E4CDAA598}" destId="{5176F132-4074-4C82-A651-9C8766DD1A32}" srcOrd="0" destOrd="0" presId="urn:microsoft.com/office/officeart/2005/8/layout/vList2"/>
    <dgm:cxn modelId="{2351D267-A394-4975-86AF-59FC5850CC40}" type="presParOf" srcId="{D5446688-9621-4647-9EAF-DC9E4CDAA598}" destId="{2E08E3B8-4761-4697-8667-2324C26F7663}" srcOrd="1" destOrd="0" presId="urn:microsoft.com/office/officeart/2005/8/layout/vList2"/>
    <dgm:cxn modelId="{7131F385-5AD3-4041-B2C7-252AD1FF5B7A}" type="presParOf" srcId="{D5446688-9621-4647-9EAF-DC9E4CDAA598}" destId="{C050E2BA-C47A-4565-BEC7-995B9361F632}" srcOrd="2" destOrd="0" presId="urn:microsoft.com/office/officeart/2005/8/layout/vList2"/>
    <dgm:cxn modelId="{0F414DD1-D54C-4424-B422-E94DED50C56B}" type="presParOf" srcId="{D5446688-9621-4647-9EAF-DC9E4CDAA598}" destId="{F978B5E5-71A5-4168-8D9A-F3AF93356870}" srcOrd="3" destOrd="0" presId="urn:microsoft.com/office/officeart/2005/8/layout/vList2"/>
    <dgm:cxn modelId="{8F5B6A1C-BA9E-4B4A-91CB-926432576B6D}" type="presParOf" srcId="{D5446688-9621-4647-9EAF-DC9E4CDAA598}" destId="{823236C8-2308-4861-8435-611615EA7C21}" srcOrd="4" destOrd="0" presId="urn:microsoft.com/office/officeart/2005/8/layout/vList2"/>
    <dgm:cxn modelId="{4562C74C-6F3E-4BC1-946D-B1BCE3FD9F88}" type="presParOf" srcId="{D5446688-9621-4647-9EAF-DC9E4CDAA598}" destId="{9132FCC4-C776-45F5-AE25-3CDC8DCC4470}" srcOrd="5" destOrd="0" presId="urn:microsoft.com/office/officeart/2005/8/layout/vList2"/>
    <dgm:cxn modelId="{3EDE0D86-B3C9-4302-9AFB-1DD4A61936AF}" type="presParOf" srcId="{D5446688-9621-4647-9EAF-DC9E4CDAA598}" destId="{B769FCD7-5B9D-42B5-9BE0-178AEFF6A4D4}" srcOrd="6" destOrd="0" presId="urn:microsoft.com/office/officeart/2005/8/layout/vList2"/>
    <dgm:cxn modelId="{E0A65BFE-BF8B-4FAB-B544-5FAFA4F177E5}" type="presParOf" srcId="{D5446688-9621-4647-9EAF-DC9E4CDAA598}" destId="{337046B8-48C8-4668-B2EF-9D232C5A15B5}" srcOrd="7" destOrd="0" presId="urn:microsoft.com/office/officeart/2005/8/layout/vList2"/>
    <dgm:cxn modelId="{59E6B49E-5349-4A56-8EBB-6AEF9C5A8DD5}" type="presParOf" srcId="{D5446688-9621-4647-9EAF-DC9E4CDAA598}" destId="{31F074D0-3208-4819-B85D-87BE7F82FBF2}" srcOrd="8" destOrd="0" presId="urn:microsoft.com/office/officeart/2005/8/layout/vList2"/>
    <dgm:cxn modelId="{2CB71D40-736A-4C06-A44A-33CA8689ABA5}" type="presParOf" srcId="{D5446688-9621-4647-9EAF-DC9E4CDAA598}" destId="{3D10D785-9E17-4C9D-81B2-4EA402849489}" srcOrd="9" destOrd="0" presId="urn:microsoft.com/office/officeart/2005/8/layout/vList2"/>
    <dgm:cxn modelId="{26F91529-CEE9-4AF6-AC5A-82B10D473364}" type="presParOf" srcId="{D5446688-9621-4647-9EAF-DC9E4CDAA598}" destId="{7019C2B4-039D-4817-BDB5-A8304C5DD772}" srcOrd="10" destOrd="0" presId="urn:microsoft.com/office/officeart/2005/8/layout/vList2"/>
    <dgm:cxn modelId="{A5312610-F386-4BF2-B8F4-E422579FE180}" type="presParOf" srcId="{D5446688-9621-4647-9EAF-DC9E4CDAA598}" destId="{5183BC9C-96B3-479A-BCB9-2707C558ED40}" srcOrd="11" destOrd="0" presId="urn:microsoft.com/office/officeart/2005/8/layout/vList2"/>
    <dgm:cxn modelId="{BA6309AD-5061-4348-A6F0-3739368EEF90}" type="presParOf" srcId="{D5446688-9621-4647-9EAF-DC9E4CDAA598}" destId="{90AE4D87-02C8-4148-A7B0-9117B88164A9}"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76F132-4074-4C82-A651-9C8766DD1A32}">
      <dsp:nvSpPr>
        <dsp:cNvPr id="0" name=""/>
        <dsp:cNvSpPr/>
      </dsp:nvSpPr>
      <dsp:spPr>
        <a:xfrm>
          <a:off x="0" y="721998"/>
          <a:ext cx="8128000" cy="515970"/>
        </a:xfrm>
        <a:prstGeom prst="roundRect">
          <a:avLst/>
        </a:prstGeom>
        <a:solidFill>
          <a:srgbClr val="1DAAD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t>Explorador de órbitas de </a:t>
          </a:r>
          <a:r>
            <a:rPr lang="es-ES" sz="2100" kern="1200" err="1"/>
            <a:t>Lyapunov</a:t>
          </a:r>
          <a:r>
            <a:rPr lang="es-ES" sz="2100" kern="1200"/>
            <a:t> alrededor de puntos colineales.</a:t>
          </a:r>
        </a:p>
      </dsp:txBody>
      <dsp:txXfrm>
        <a:off x="25188" y="747186"/>
        <a:ext cx="8077624" cy="465594"/>
      </dsp:txXfrm>
    </dsp:sp>
    <dsp:sp modelId="{C050E2BA-C47A-4565-BEC7-995B9361F632}">
      <dsp:nvSpPr>
        <dsp:cNvPr id="0" name=""/>
        <dsp:cNvSpPr/>
      </dsp:nvSpPr>
      <dsp:spPr>
        <a:xfrm>
          <a:off x="0" y="1298448"/>
          <a:ext cx="8128000" cy="515970"/>
        </a:xfrm>
        <a:prstGeom prst="roundRect">
          <a:avLst/>
        </a:prstGeom>
        <a:solidFill>
          <a:srgbClr val="1C86C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t>Capacidad de generar condiciones iniciales de órbitas periódicas.</a:t>
          </a:r>
        </a:p>
      </dsp:txBody>
      <dsp:txXfrm>
        <a:off x="25188" y="1323636"/>
        <a:ext cx="8077624" cy="465594"/>
      </dsp:txXfrm>
    </dsp:sp>
    <dsp:sp modelId="{823236C8-2308-4861-8435-611615EA7C21}">
      <dsp:nvSpPr>
        <dsp:cNvPr id="0" name=""/>
        <dsp:cNvSpPr/>
      </dsp:nvSpPr>
      <dsp:spPr>
        <a:xfrm>
          <a:off x="0" y="1874898"/>
          <a:ext cx="8128000" cy="515970"/>
        </a:xfrm>
        <a:prstGeom prst="roundRect">
          <a:avLst/>
        </a:prstGeom>
        <a:solidFill>
          <a:srgbClr val="1B4781"/>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Posibilidad de cambiar el valor de </a:t>
          </a:r>
          <a14:m xmlns:a14="http://schemas.microsoft.com/office/drawing/2010/main">
            <m:oMath xmlns:m="http://schemas.openxmlformats.org/officeDocument/2006/math">
              <m:r>
                <a:rPr lang="es-ES" sz="2100" kern="1200" smtClean="0">
                  <a:solidFill>
                    <a:prstClr val="white"/>
                  </a:solidFill>
                  <a:latin typeface="Cambria Math" panose="02040503050406030204" pitchFamily="18" charset="0"/>
                  <a:ea typeface="+mn-ea"/>
                  <a:cs typeface="+mn-cs"/>
                </a:rPr>
                <m:t>𝜇</m:t>
              </m:r>
            </m:oMath>
          </a14:m>
          <a:r>
            <a:rPr lang="es-ES" sz="2100" kern="1200">
              <a:solidFill>
                <a:prstClr val="white"/>
              </a:solidFill>
              <a:latin typeface="Aptos" panose="02110004020202020204"/>
              <a:ea typeface="+mn-ea"/>
              <a:cs typeface="+mn-cs"/>
            </a:rPr>
            <a:t>.</a:t>
          </a:r>
        </a:p>
      </dsp:txBody>
      <dsp:txXfrm>
        <a:off x="25188" y="1900086"/>
        <a:ext cx="8077624" cy="465594"/>
      </dsp:txXfrm>
    </dsp:sp>
    <dsp:sp modelId="{B769FCD7-5B9D-42B5-9BE0-178AEFF6A4D4}">
      <dsp:nvSpPr>
        <dsp:cNvPr id="0" name=""/>
        <dsp:cNvSpPr/>
      </dsp:nvSpPr>
      <dsp:spPr>
        <a:xfrm>
          <a:off x="0" y="2451348"/>
          <a:ext cx="8128000" cy="515970"/>
        </a:xfrm>
        <a:prstGeom prst="roundRect">
          <a:avLst/>
        </a:prstGeom>
        <a:solidFill>
          <a:srgbClr val="53455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t>Posibilidad de seleccionar el punto de Lagrange.</a:t>
          </a:r>
        </a:p>
      </dsp:txBody>
      <dsp:txXfrm>
        <a:off x="25188" y="2476536"/>
        <a:ext cx="8077624" cy="465594"/>
      </dsp:txXfrm>
    </dsp:sp>
    <dsp:sp modelId="{31F074D0-3208-4819-B85D-87BE7F82FBF2}">
      <dsp:nvSpPr>
        <dsp:cNvPr id="0" name=""/>
        <dsp:cNvSpPr/>
      </dsp:nvSpPr>
      <dsp:spPr>
        <a:xfrm>
          <a:off x="0" y="3027798"/>
          <a:ext cx="8128000" cy="515970"/>
        </a:xfrm>
        <a:prstGeom prst="roundRect">
          <a:avLst/>
        </a:prstGeom>
        <a:solidFill>
          <a:srgbClr val="E58746"/>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Posibilidad de utilizar diferentes esquemas numéricos.</a:t>
          </a:r>
        </a:p>
      </dsp:txBody>
      <dsp:txXfrm>
        <a:off x="25188" y="3052986"/>
        <a:ext cx="8077624" cy="465594"/>
      </dsp:txXfrm>
    </dsp:sp>
    <dsp:sp modelId="{7019C2B4-039D-4817-BDB5-A8304C5DD772}">
      <dsp:nvSpPr>
        <dsp:cNvPr id="0" name=""/>
        <dsp:cNvSpPr/>
      </dsp:nvSpPr>
      <dsp:spPr>
        <a:xfrm>
          <a:off x="0" y="3604248"/>
          <a:ext cx="8128000" cy="515970"/>
        </a:xfrm>
        <a:prstGeom prst="roundRect">
          <a:avLst/>
        </a:prstGeom>
        <a:solidFill>
          <a:srgbClr val="F0A14A"/>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Guardar y recuperar condiciones iniciales guardadas en archivos.</a:t>
          </a:r>
        </a:p>
      </dsp:txBody>
      <dsp:txXfrm>
        <a:off x="25188" y="3629436"/>
        <a:ext cx="8077624" cy="465594"/>
      </dsp:txXfrm>
    </dsp:sp>
    <dsp:sp modelId="{90AE4D87-02C8-4148-A7B0-9117B88164A9}">
      <dsp:nvSpPr>
        <dsp:cNvPr id="0" name=""/>
        <dsp:cNvSpPr/>
      </dsp:nvSpPr>
      <dsp:spPr>
        <a:xfrm>
          <a:off x="0" y="4180698"/>
          <a:ext cx="8128000" cy="515970"/>
        </a:xfrm>
        <a:prstGeom prst="roundRect">
          <a:avLst/>
        </a:prstGeom>
        <a:solidFill>
          <a:srgbClr val="F3AD4F"/>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s-ES" sz="2100" kern="1200">
              <a:solidFill>
                <a:prstClr val="white"/>
              </a:solidFill>
              <a:latin typeface="Aptos" panose="02110004020202020204"/>
              <a:ea typeface="+mn-ea"/>
              <a:cs typeface="+mn-cs"/>
            </a:rPr>
            <a:t>Analizar la estabilidad de las órbitas.</a:t>
          </a:r>
        </a:p>
      </dsp:txBody>
      <dsp:txXfrm>
        <a:off x="25188" y="4205886"/>
        <a:ext cx="8077624" cy="4655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D921C2-0108-43C8-9DF4-343294232031}" type="datetimeFigureOut">
              <a:rPr lang="es-ES" smtClean="0"/>
              <a:t>10/12/2025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2D9AE-631B-45B9-93A8-654CFF94FD45}" type="slidenum">
              <a:rPr lang="es-ES" smtClean="0"/>
              <a:t>‹Nº›</a:t>
            </a:fld>
            <a:endParaRPr lang="es-ES"/>
          </a:p>
        </p:txBody>
      </p:sp>
    </p:spTree>
    <p:extLst>
      <p:ext uri="{BB962C8B-B14F-4D97-AF65-F5344CB8AC3E}">
        <p14:creationId xmlns:p14="http://schemas.microsoft.com/office/powerpoint/2010/main" val="3559648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285750" indent="-285750">
                  <a:buFont typeface="Arial" panose="020B0604020202020204" pitchFamily="34" charset="0"/>
                  <a:buChar char="•"/>
                </a:pPr>
                <a:r>
                  <a:rPr lang="es-ES"/>
                  <a:t>Masa del tercer cuerpo negligible respecto los primarios.</a:t>
                </a:r>
              </a:p>
              <a:p>
                <a:pPr marL="285750" indent="-285750">
                  <a:buFont typeface="Arial" panose="020B0604020202020204" pitchFamily="34" charset="0"/>
                  <a:buChar char="•"/>
                </a:pPr>
                <a14:m>
                  <m:oMath xmlns:m="http://schemas.openxmlformats.org/officeDocument/2006/math">
                    <m:r>
                      <a:rPr lang="es-ES" b="0" i="1" smtClean="0">
                        <a:latin typeface="Cambria Math" panose="02040503050406030204" pitchFamily="18" charset="0"/>
                      </a:rPr>
                      <m:t>𝜇</m:t>
                    </m:r>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𝑚</m:t>
                            </m:r>
                          </m:e>
                          <m:sub>
                            <m:r>
                              <a:rPr lang="es-ES" b="0" i="1" smtClean="0">
                                <a:latin typeface="Cambria Math" panose="02040503050406030204" pitchFamily="18" charset="0"/>
                              </a:rPr>
                              <m:t>2</m:t>
                            </m:r>
                          </m:sub>
                        </m:sSub>
                      </m:num>
                      <m:den>
                        <m:sSub>
                          <m:sSubPr>
                            <m:ctrlPr>
                              <a:rPr lang="es-ES" b="0" i="1" smtClean="0">
                                <a:latin typeface="Cambria Math" panose="02040503050406030204" pitchFamily="18" charset="0"/>
                              </a:rPr>
                            </m:ctrlPr>
                          </m:sSubPr>
                          <m:e>
                            <m:r>
                              <a:rPr lang="es-ES" b="0" i="1" smtClean="0">
                                <a:latin typeface="Cambria Math" panose="02040503050406030204" pitchFamily="18" charset="0"/>
                              </a:rPr>
                              <m:t>𝑚</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𝑚</m:t>
                            </m:r>
                          </m:e>
                          <m:sub>
                            <m:r>
                              <a:rPr lang="es-ES" b="0" i="1" smtClean="0">
                                <a:latin typeface="Cambria Math" panose="02040503050406030204" pitchFamily="18" charset="0"/>
                              </a:rPr>
                              <m:t>2</m:t>
                            </m:r>
                          </m:sub>
                        </m:sSub>
                      </m:den>
                    </m:f>
                  </m:oMath>
                </a14:m>
                <a:endParaRPr lang="es-ES"/>
              </a:p>
              <a:p>
                <a:pPr marL="285750" indent="-285750">
                  <a:buFont typeface="Arial" panose="020B0604020202020204" pitchFamily="34" charset="0"/>
                  <a:buChar char="•"/>
                </a:pPr>
                <a:r>
                  <a:rPr lang="es-ES"/>
                  <a:t>Órbitas circulares.</a:t>
                </a:r>
              </a:p>
              <a:p>
                <a:pPr marL="285750" indent="-285750">
                  <a:buFont typeface="Arial" panose="020B0604020202020204" pitchFamily="34" charset="0"/>
                  <a:buChar char="•"/>
                </a:pPr>
                <a:r>
                  <a:rPr lang="es-ES"/>
                  <a:t>Primarios en el plano XY.</a:t>
                </a:r>
              </a:p>
              <a:p>
                <a:pPr marL="285750" indent="-285750">
                  <a:buFont typeface="Arial" panose="020B0604020202020204" pitchFamily="34" charset="0"/>
                  <a:buChar char="•"/>
                </a:pPr>
                <a:r>
                  <a:rPr lang="es-ES" err="1"/>
                  <a:t>Adimensionalización</a:t>
                </a:r>
                <a:r>
                  <a:rPr lang="es-ES"/>
                  <a:t> de masas, tiempos, y distancias.</a:t>
                </a:r>
              </a:p>
              <a:p>
                <a:endParaRPr lang="es-ES"/>
              </a:p>
            </p:txBody>
          </p:sp>
        </mc:Choice>
        <mc:Fallback xmlns="">
          <p:sp>
            <p:nvSpPr>
              <p:cNvPr id="3" name="Marcador de notas 2"/>
              <p:cNvSpPr>
                <a:spLocks noGrp="1"/>
              </p:cNvSpPr>
              <p:nvPr>
                <p:ph type="body" idx="1"/>
              </p:nvPr>
            </p:nvSpPr>
            <p:spPr/>
            <p:txBody>
              <a:bodyPr/>
              <a:lstStyle/>
              <a:p>
                <a:pPr marL="285750" indent="-285750">
                  <a:buFont typeface="Arial" panose="020B0604020202020204" pitchFamily="34" charset="0"/>
                  <a:buChar char="•"/>
                </a:pPr>
                <a:r>
                  <a:rPr lang="es-ES"/>
                  <a:t>Masa del tercer cuerpo negligible respecto los primarios.</a:t>
                </a:r>
              </a:p>
              <a:p>
                <a:pPr marL="285750" indent="-285750">
                  <a:buFont typeface="Arial" panose="020B0604020202020204" pitchFamily="34" charset="0"/>
                  <a:buChar char="•"/>
                </a:pPr>
                <a:r>
                  <a:rPr lang="es-ES" b="0" i="0">
                    <a:latin typeface="Cambria Math" panose="02040503050406030204" pitchFamily="18" charset="0"/>
                  </a:rPr>
                  <a:t>𝜇=𝑚_2/(𝑚_1+𝑚_2 )</a:t>
                </a:r>
                <a:endParaRPr lang="es-ES"/>
              </a:p>
              <a:p>
                <a:pPr marL="285750" indent="-285750">
                  <a:buFont typeface="Arial" panose="020B0604020202020204" pitchFamily="34" charset="0"/>
                  <a:buChar char="•"/>
                </a:pPr>
                <a:r>
                  <a:rPr lang="es-ES"/>
                  <a:t>Órbitas circulares.</a:t>
                </a:r>
              </a:p>
              <a:p>
                <a:pPr marL="285750" indent="-285750">
                  <a:buFont typeface="Arial" panose="020B0604020202020204" pitchFamily="34" charset="0"/>
                  <a:buChar char="•"/>
                </a:pPr>
                <a:r>
                  <a:rPr lang="es-ES"/>
                  <a:t>Primarios en el plano XY.</a:t>
                </a:r>
              </a:p>
              <a:p>
                <a:pPr marL="285750" indent="-285750">
                  <a:buFont typeface="Arial" panose="020B0604020202020204" pitchFamily="34" charset="0"/>
                  <a:buChar char="•"/>
                </a:pPr>
                <a:r>
                  <a:rPr lang="es-ES" err="1"/>
                  <a:t>Adimensionalización</a:t>
                </a:r>
                <a:r>
                  <a:rPr lang="es-ES"/>
                  <a:t> de masas, tiempos, y distancias.</a:t>
                </a:r>
              </a:p>
              <a:p>
                <a:endParaRPr lang="es-ES"/>
              </a:p>
            </p:txBody>
          </p:sp>
        </mc:Fallback>
      </mc:AlternateContent>
      <p:sp>
        <p:nvSpPr>
          <p:cNvPr id="4" name="Marcador de número de diapositiva 3"/>
          <p:cNvSpPr>
            <a:spLocks noGrp="1"/>
          </p:cNvSpPr>
          <p:nvPr>
            <p:ph type="sldNum" sz="quarter" idx="5"/>
          </p:nvPr>
        </p:nvSpPr>
        <p:spPr/>
        <p:txBody>
          <a:bodyPr/>
          <a:lstStyle/>
          <a:p>
            <a:fld id="{F502D9AE-631B-45B9-93A8-654CFF94FD45}" type="slidenum">
              <a:rPr lang="es-ES" smtClean="0"/>
              <a:t>5</a:t>
            </a:fld>
            <a:endParaRPr lang="es-ES"/>
          </a:p>
        </p:txBody>
      </p:sp>
    </p:spTree>
    <p:extLst>
      <p:ext uri="{BB962C8B-B14F-4D97-AF65-F5344CB8AC3E}">
        <p14:creationId xmlns:p14="http://schemas.microsoft.com/office/powerpoint/2010/main" val="2609069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algn="just"/>
                <a:r>
                  <a:rPr lang="es-ES"/>
                  <a:t>Aplicar iterativamente </a:t>
                </a:r>
                <a:r>
                  <a:rPr lang="es-ES" i="1"/>
                  <a:t>single </a:t>
                </a:r>
                <a:r>
                  <a:rPr lang="es-ES" i="1" err="1"/>
                  <a:t>shooting</a:t>
                </a:r>
                <a:r>
                  <a:rPr lang="es-ES" i="1"/>
                  <a:t> </a:t>
                </a:r>
                <a:r>
                  <a:rPr lang="es-ES"/>
                  <a:t>y perturbar la CI encontrada.</a:t>
                </a:r>
              </a:p>
              <a:p>
                <a:pPr algn="just"/>
                <a:r>
                  <a:rPr lang="es-ES"/>
                  <a:t>Permite encontrar familias de órbitas periódicas.</a:t>
                </a:r>
              </a:p>
              <a:p>
                <a:pPr algn="just"/>
                <a:r>
                  <a:rPr lang="es-ES"/>
                  <a:t>Escogemos perturbar en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0</m:t>
                        </m:r>
                      </m:sub>
                    </m:sSub>
                  </m:oMath>
                </a14:m>
                <a:r>
                  <a:rPr lang="es-ES"/>
                  <a:t>.</a:t>
                </a:r>
              </a:p>
              <a:p>
                <a:pPr algn="just"/>
                <a:r>
                  <a:rPr lang="es-ES"/>
                  <a:t>También se puede perturbar en la energía.</a:t>
                </a:r>
              </a:p>
              <a:p>
                <a:pPr algn="just"/>
                <a:r>
                  <a:rPr lang="es-ES"/>
                  <a:t>Tiene límites: bifurcaciones con órbitas Halo…</a:t>
                </a:r>
              </a:p>
              <a:p>
                <a:endParaRPr lang="es-ES"/>
              </a:p>
            </p:txBody>
          </p:sp>
        </mc:Choice>
        <mc:Fallback xmlns="">
          <p:sp>
            <p:nvSpPr>
              <p:cNvPr id="3" name="Marcador de notas 2"/>
              <p:cNvSpPr>
                <a:spLocks noGrp="1"/>
              </p:cNvSpPr>
              <p:nvPr>
                <p:ph type="body" idx="1"/>
              </p:nvPr>
            </p:nvSpPr>
            <p:spPr/>
            <p:txBody>
              <a:bodyPr/>
              <a:lstStyle/>
              <a:p>
                <a:pPr algn="just"/>
                <a:r>
                  <a:rPr lang="es-ES"/>
                  <a:t>Aplicar iterativamente </a:t>
                </a:r>
                <a:r>
                  <a:rPr lang="es-ES" i="1"/>
                  <a:t>single </a:t>
                </a:r>
                <a:r>
                  <a:rPr lang="es-ES" i="1" err="1"/>
                  <a:t>shooting</a:t>
                </a:r>
                <a:r>
                  <a:rPr lang="es-ES" i="1"/>
                  <a:t> </a:t>
                </a:r>
                <a:r>
                  <a:rPr lang="es-ES"/>
                  <a:t>y perturbar la CI encontrada.</a:t>
                </a:r>
              </a:p>
              <a:p>
                <a:pPr algn="just"/>
                <a:r>
                  <a:rPr lang="es-ES"/>
                  <a:t>Permite encontrar familias de órbitas periódicas.</a:t>
                </a:r>
              </a:p>
              <a:p>
                <a:pPr algn="just"/>
                <a:r>
                  <a:rPr lang="es-ES"/>
                  <a:t>Escogemos perturbar en </a:t>
                </a:r>
                <a:r>
                  <a:rPr lang="es-ES" b="0" i="0">
                    <a:latin typeface="Cambria Math" panose="02040503050406030204" pitchFamily="18" charset="0"/>
                  </a:rPr>
                  <a:t>𝑥_0</a:t>
                </a:r>
                <a:r>
                  <a:rPr lang="es-ES"/>
                  <a:t>.</a:t>
                </a:r>
              </a:p>
              <a:p>
                <a:pPr algn="just"/>
                <a:r>
                  <a:rPr lang="es-ES"/>
                  <a:t>También se puede perturbar en la energía.</a:t>
                </a:r>
              </a:p>
              <a:p>
                <a:pPr algn="just"/>
                <a:r>
                  <a:rPr lang="es-ES"/>
                  <a:t>Tiene límites: bifurcaciones con órbitas Halo…</a:t>
                </a:r>
              </a:p>
              <a:p>
                <a:endParaRPr lang="es-ES"/>
              </a:p>
            </p:txBody>
          </p:sp>
        </mc:Fallback>
      </mc:AlternateContent>
      <p:sp>
        <p:nvSpPr>
          <p:cNvPr id="4" name="Marcador de número de diapositiva 3"/>
          <p:cNvSpPr>
            <a:spLocks noGrp="1"/>
          </p:cNvSpPr>
          <p:nvPr>
            <p:ph type="sldNum" sz="quarter" idx="5"/>
          </p:nvPr>
        </p:nvSpPr>
        <p:spPr/>
        <p:txBody>
          <a:bodyPr/>
          <a:lstStyle/>
          <a:p>
            <a:fld id="{F502D9AE-631B-45B9-93A8-654CFF94FD45}" type="slidenum">
              <a:rPr lang="es-ES" smtClean="0"/>
              <a:t>7</a:t>
            </a:fld>
            <a:endParaRPr lang="es-ES"/>
          </a:p>
        </p:txBody>
      </p:sp>
    </p:spTree>
    <p:extLst>
      <p:ext uri="{BB962C8B-B14F-4D97-AF65-F5344CB8AC3E}">
        <p14:creationId xmlns:p14="http://schemas.microsoft.com/office/powerpoint/2010/main" val="3493100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F502D9AE-631B-45B9-93A8-654CFF94FD45}" type="slidenum">
              <a:rPr lang="es-ES" smtClean="0"/>
              <a:t>11</a:t>
            </a:fld>
            <a:endParaRPr lang="es-ES"/>
          </a:p>
        </p:txBody>
      </p:sp>
    </p:spTree>
    <p:extLst>
      <p:ext uri="{BB962C8B-B14F-4D97-AF65-F5344CB8AC3E}">
        <p14:creationId xmlns:p14="http://schemas.microsoft.com/office/powerpoint/2010/main" val="2453429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F502D9AE-631B-45B9-93A8-654CFF94FD45}" type="slidenum">
              <a:rPr lang="es-ES" smtClean="0"/>
              <a:t>13</a:t>
            </a:fld>
            <a:endParaRPr lang="es-ES"/>
          </a:p>
        </p:txBody>
      </p:sp>
    </p:spTree>
    <p:extLst>
      <p:ext uri="{BB962C8B-B14F-4D97-AF65-F5344CB8AC3E}">
        <p14:creationId xmlns:p14="http://schemas.microsoft.com/office/powerpoint/2010/main" val="228573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1FE8F3-7658-DDF8-430B-9DA00F345BA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9BD3EBD-1701-E34B-148E-15FD194774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B61E2FE-B05E-2211-39DB-C8BF2563681D}"/>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5" name="Marcador de pie de página 4">
            <a:extLst>
              <a:ext uri="{FF2B5EF4-FFF2-40B4-BE49-F238E27FC236}">
                <a16:creationId xmlns:a16="http://schemas.microsoft.com/office/drawing/2014/main" id="{8E05B725-E7D7-1A0D-6553-FE5E49EF32A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BE13934-C2A8-F0C2-6DDD-4665EFCB5ED2}"/>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1495078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D8139F-0D5D-E68A-B0F5-DCD9678252F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A7A721E-99BA-18AD-90EB-069FA9A377F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DE93F2B-56AC-B59A-95B4-4400BFAE5767}"/>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5" name="Marcador de pie de página 4">
            <a:extLst>
              <a:ext uri="{FF2B5EF4-FFF2-40B4-BE49-F238E27FC236}">
                <a16:creationId xmlns:a16="http://schemas.microsoft.com/office/drawing/2014/main" id="{E194BE88-0021-E1D6-9277-7770FB05683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4ADD7D3-85B1-B335-3DA1-B6D938D8BA77}"/>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680256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6E6B8F-C564-7013-2DB2-7D3A4105280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65B58E3-0036-75A2-BB23-1486856A09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BC1A872-3296-FBB4-6C86-CC623633D5C9}"/>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5" name="Marcador de pie de página 4">
            <a:extLst>
              <a:ext uri="{FF2B5EF4-FFF2-40B4-BE49-F238E27FC236}">
                <a16:creationId xmlns:a16="http://schemas.microsoft.com/office/drawing/2014/main" id="{96B12AC5-0C1F-7DF8-A966-1894EFD6BAF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F8F5EA0-6215-2498-E3E8-6D3239B45787}"/>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2728682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BFBE3-77F9-F2A5-1DE8-A8726F4583E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353DAD9-4BBF-E2D3-6369-254AABC66FE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D667C0B-C23F-3076-0BE4-319D587EEAB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2AE5A01F-DB1C-33DB-89C2-8F3AB0F3184B}"/>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6" name="Marcador de pie de página 5">
            <a:extLst>
              <a:ext uri="{FF2B5EF4-FFF2-40B4-BE49-F238E27FC236}">
                <a16:creationId xmlns:a16="http://schemas.microsoft.com/office/drawing/2014/main" id="{6C559B1B-8267-5FC8-84C9-EC584E7416F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03D7970-B027-43AD-B785-23A69BE98CCF}"/>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510851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A77B27-42A5-AEB0-C53B-3B0B26F268FC}"/>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60CE6DB-B1B7-67B7-C1F1-40BAB6564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29CA09-46C5-053B-2443-064A3A64D2B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37B7ABC-0528-2136-8551-FA674D4111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FDCE3F2-5F58-94C6-C478-33CBFF4910B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3515B113-F287-0B53-F0FB-F8C1B47E8566}"/>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8" name="Marcador de pie de página 7">
            <a:extLst>
              <a:ext uri="{FF2B5EF4-FFF2-40B4-BE49-F238E27FC236}">
                <a16:creationId xmlns:a16="http://schemas.microsoft.com/office/drawing/2014/main" id="{14FA404C-05AE-01C4-9B52-8A0474EFB848}"/>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5B899F2C-9511-FF29-6709-6E8FFDC31942}"/>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1416419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C4E5CD-3FA8-BEDA-74F4-0B24AA8F9734}"/>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211A7D0-125B-2580-CD9E-BE66DE610BC1}"/>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4" name="Marcador de pie de página 3">
            <a:extLst>
              <a:ext uri="{FF2B5EF4-FFF2-40B4-BE49-F238E27FC236}">
                <a16:creationId xmlns:a16="http://schemas.microsoft.com/office/drawing/2014/main" id="{220A729F-9E7C-49C6-4ABA-B785E9C5C7D9}"/>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9B07975F-23C3-5CB5-B7CE-B9378F530C3B}"/>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122258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29A213E-0B66-D1AF-98CF-95C01C4C5DB2}"/>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3" name="Marcador de pie de página 2">
            <a:extLst>
              <a:ext uri="{FF2B5EF4-FFF2-40B4-BE49-F238E27FC236}">
                <a16:creationId xmlns:a16="http://schemas.microsoft.com/office/drawing/2014/main" id="{C1CD30DF-B13A-DEBC-C698-D71639CA88A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616AE8A-C80D-209F-A1FB-FC5655791C7E}"/>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366001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FE0F8-2917-E535-4C23-02C7050865C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E6FB52E-86C3-EDA3-95EB-C54ACFEBCB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1658E1A-1E91-6E87-B090-390406D420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7556F4D-5963-DFAE-3755-4F5DDC2229C2}"/>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6" name="Marcador de pie de página 5">
            <a:extLst>
              <a:ext uri="{FF2B5EF4-FFF2-40B4-BE49-F238E27FC236}">
                <a16:creationId xmlns:a16="http://schemas.microsoft.com/office/drawing/2014/main" id="{8C946CE5-4FC3-66A4-45FD-B5D99CC2CAB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A102404-BD6E-9F9E-72D8-060620F1244B}"/>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3971305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240C83-A603-D50B-FD3C-87D7FB31EE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22CFCF37-03CD-4B77-9F54-1F7BDFE087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319CE9A-A8A9-AE41-04A6-23CE71F7B4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D047E84-7FBC-E723-CDD4-3FEABDFE8F97}"/>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6" name="Marcador de pie de página 5">
            <a:extLst>
              <a:ext uri="{FF2B5EF4-FFF2-40B4-BE49-F238E27FC236}">
                <a16:creationId xmlns:a16="http://schemas.microsoft.com/office/drawing/2014/main" id="{8C89BF10-982E-FB21-5F95-30850D6B6FE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F9DFC1E-2032-268C-86B0-E61E4B911364}"/>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2110870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86C110-9D95-4F52-2BA4-44179BEE802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E2CCA73-7519-BCFD-D575-FFE6B96CD5F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F4A9AB1-5DA2-F325-C343-521472B4AFE3}"/>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5" name="Marcador de pie de página 4">
            <a:extLst>
              <a:ext uri="{FF2B5EF4-FFF2-40B4-BE49-F238E27FC236}">
                <a16:creationId xmlns:a16="http://schemas.microsoft.com/office/drawing/2014/main" id="{1BAE7394-662E-C21C-DC87-43DD16DF066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D93EA6-72B1-BB6F-9281-1927F3A7D4B7}"/>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3097651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11D088E-E2A2-CCAA-DB65-B81FD5525C2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BE488E3-1021-9BD0-F733-5E9E9EB1817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DC752A0-6631-F0B8-8E6E-4E68D80DF853}"/>
              </a:ext>
            </a:extLst>
          </p:cNvPr>
          <p:cNvSpPr>
            <a:spLocks noGrp="1"/>
          </p:cNvSpPr>
          <p:nvPr>
            <p:ph type="dt" sz="half" idx="10"/>
          </p:nvPr>
        </p:nvSpPr>
        <p:spPr/>
        <p:txBody>
          <a:bodyPr/>
          <a:lstStyle/>
          <a:p>
            <a:fld id="{6C7D388C-2799-4C1D-9FF0-082116A974E1}" type="datetimeFigureOut">
              <a:rPr lang="es-ES" smtClean="0"/>
              <a:t>10/12/2025</a:t>
            </a:fld>
            <a:endParaRPr lang="es-ES"/>
          </a:p>
        </p:txBody>
      </p:sp>
      <p:sp>
        <p:nvSpPr>
          <p:cNvPr id="5" name="Marcador de pie de página 4">
            <a:extLst>
              <a:ext uri="{FF2B5EF4-FFF2-40B4-BE49-F238E27FC236}">
                <a16:creationId xmlns:a16="http://schemas.microsoft.com/office/drawing/2014/main" id="{9E365BFE-A35D-2135-0CE8-31D422095D6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25ECB05-55B8-B7CE-4EB1-A5F1D581B8FF}"/>
              </a:ext>
            </a:extLst>
          </p:cNvPr>
          <p:cNvSpPr>
            <a:spLocks noGrp="1"/>
          </p:cNvSpPr>
          <p:nvPr>
            <p:ph type="sldNum" sz="quarter" idx="12"/>
          </p:nvPr>
        </p:nvSpPr>
        <p:spPr/>
        <p:txBody>
          <a:bodyPr/>
          <a:lstStyle/>
          <a:p>
            <a:fld id="{9D260114-DF0A-47C0-9F3B-853501704D47}" type="slidenum">
              <a:rPr lang="es-ES" smtClean="0"/>
              <a:t>‹Nº›</a:t>
            </a:fld>
            <a:endParaRPr lang="es-ES"/>
          </a:p>
        </p:txBody>
      </p:sp>
    </p:spTree>
    <p:extLst>
      <p:ext uri="{BB962C8B-B14F-4D97-AF65-F5344CB8AC3E}">
        <p14:creationId xmlns:p14="http://schemas.microsoft.com/office/powerpoint/2010/main" val="4179784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71D69E5-F7BE-5C55-8182-8A4A23E1F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6317B23-1F38-58E9-AE9F-37E8E5A437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99D76B-4E7F-4DDD-DF0B-B6AA6E008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7D388C-2799-4C1D-9FF0-082116A974E1}" type="datetimeFigureOut">
              <a:rPr lang="es-ES" smtClean="0"/>
              <a:t>10/12/2025</a:t>
            </a:fld>
            <a:endParaRPr lang="es-ES"/>
          </a:p>
        </p:txBody>
      </p:sp>
      <p:sp>
        <p:nvSpPr>
          <p:cNvPr id="5" name="Marcador de pie de página 4">
            <a:extLst>
              <a:ext uri="{FF2B5EF4-FFF2-40B4-BE49-F238E27FC236}">
                <a16:creationId xmlns:a16="http://schemas.microsoft.com/office/drawing/2014/main" id="{103EEE1D-EC02-1528-CBD6-F9063B0CB6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F45C8787-E7B2-4821-02D1-A109F5A613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260114-DF0A-47C0-9F3B-853501704D47}" type="slidenum">
              <a:rPr lang="es-ES" smtClean="0"/>
              <a:t>‹Nº›</a:t>
            </a:fld>
            <a:endParaRPr lang="es-ES"/>
          </a:p>
        </p:txBody>
      </p:sp>
    </p:spTree>
    <p:extLst>
      <p:ext uri="{BB962C8B-B14F-4D97-AF65-F5344CB8AC3E}">
        <p14:creationId xmlns:p14="http://schemas.microsoft.com/office/powerpoint/2010/main" val="2931254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1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4.svg"/><Relationship Id="rId4" Type="http://schemas.openxmlformats.org/officeDocument/2006/relationships/image" Target="../media/image27.sv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3.png"/><Relationship Id="rId4" Type="http://schemas.openxmlformats.org/officeDocument/2006/relationships/image" Target="../media/image3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0B_C16087BA.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868D365-EA38-743F-801A-5F5891028CAB}"/>
              </a:ext>
            </a:extLst>
          </p:cNvPr>
          <p:cNvSpPr>
            <a:spLocks noGrp="1"/>
          </p:cNvSpPr>
          <p:nvPr>
            <p:ph type="ctrTitle"/>
          </p:nvPr>
        </p:nvSpPr>
        <p:spPr>
          <a:xfrm>
            <a:off x="643468" y="352113"/>
            <a:ext cx="5452532" cy="3829395"/>
          </a:xfrm>
        </p:spPr>
        <p:txBody>
          <a:bodyPr vert="horz" lIns="91440" tIns="45720" rIns="91440" bIns="45720" rtlCol="0" anchor="ctr">
            <a:normAutofit/>
          </a:bodyPr>
          <a:lstStyle/>
          <a:p>
            <a:pPr algn="l"/>
            <a:r>
              <a:rPr lang="es-ES" sz="4400" b="1" err="1">
                <a:solidFill>
                  <a:srgbClr val="325984"/>
                </a:solidFill>
                <a:latin typeface="Times New Roman"/>
                <a:cs typeface="Times New Roman"/>
              </a:rPr>
              <a:t>Py</a:t>
            </a:r>
            <a:r>
              <a:rPr lang="es-ES" sz="4400" b="1" err="1">
                <a:solidFill>
                  <a:srgbClr val="EB9435"/>
                </a:solidFill>
                <a:latin typeface="Times New Roman"/>
                <a:cs typeface="Times New Roman"/>
              </a:rPr>
              <a:t>g</a:t>
            </a:r>
            <a:r>
              <a:rPr lang="es-ES" sz="4400" b="1" err="1">
                <a:solidFill>
                  <a:srgbClr val="325984"/>
                </a:solidFill>
                <a:latin typeface="Times New Roman"/>
                <a:cs typeface="Times New Roman"/>
              </a:rPr>
              <a:t>range</a:t>
            </a:r>
            <a:br>
              <a:rPr lang="es-ES" sz="4400">
                <a:latin typeface="Times New Roman"/>
                <a:cs typeface="Times New Roman"/>
              </a:rPr>
            </a:br>
            <a:br>
              <a:rPr lang="es-ES" sz="4400">
                <a:latin typeface="Times New Roman"/>
                <a:cs typeface="Times New Roman"/>
              </a:rPr>
            </a:br>
            <a:r>
              <a:rPr lang="es-ES" sz="4400">
                <a:latin typeface="Times New Roman"/>
                <a:cs typeface="Times New Roman"/>
              </a:rPr>
              <a:t>Un explorador de órbitas alrededor de los puntos de Lagrange colineales</a:t>
            </a:r>
          </a:p>
        </p:txBody>
      </p:sp>
      <p:sp>
        <p:nvSpPr>
          <p:cNvPr id="3" name="Subtítulo 2">
            <a:extLst>
              <a:ext uri="{FF2B5EF4-FFF2-40B4-BE49-F238E27FC236}">
                <a16:creationId xmlns:a16="http://schemas.microsoft.com/office/drawing/2014/main" id="{D385B6C8-1BF6-4791-B5FE-F4758466BDBF}"/>
              </a:ext>
            </a:extLst>
          </p:cNvPr>
          <p:cNvSpPr>
            <a:spLocks noGrp="1"/>
          </p:cNvSpPr>
          <p:nvPr>
            <p:ph type="subTitle" idx="1"/>
          </p:nvPr>
        </p:nvSpPr>
        <p:spPr>
          <a:xfrm>
            <a:off x="643468" y="4634217"/>
            <a:ext cx="4620584" cy="1580316"/>
          </a:xfrm>
        </p:spPr>
        <p:txBody>
          <a:bodyPr vert="horz" lIns="91440" tIns="45720" rIns="91440" bIns="45720" rtlCol="0" anchor="t">
            <a:noAutofit/>
          </a:bodyPr>
          <a:lstStyle/>
          <a:p>
            <a:pPr algn="l"/>
            <a:r>
              <a:rPr lang="es-ES" sz="2000">
                <a:latin typeface="Times New Roman"/>
                <a:cs typeface="Times New Roman"/>
              </a:rPr>
              <a:t>Alondra Cortés Avelar</a:t>
            </a:r>
          </a:p>
          <a:p>
            <a:pPr algn="l"/>
            <a:r>
              <a:rPr lang="es-ES" sz="2000">
                <a:latin typeface="Times New Roman"/>
                <a:cs typeface="Times New Roman"/>
              </a:rPr>
              <a:t>Brendan de la Oliva Yanguas</a:t>
            </a:r>
          </a:p>
          <a:p>
            <a:pPr algn="l"/>
            <a:r>
              <a:rPr lang="es-ES" sz="2000">
                <a:latin typeface="Times New Roman"/>
                <a:cs typeface="Times New Roman"/>
              </a:rPr>
              <a:t>Emanuel </a:t>
            </a:r>
            <a:r>
              <a:rPr lang="es-ES" sz="2000" err="1">
                <a:latin typeface="Times New Roman"/>
                <a:cs typeface="Times New Roman"/>
              </a:rPr>
              <a:t>Angelo</a:t>
            </a:r>
            <a:r>
              <a:rPr lang="es-ES" sz="2000">
                <a:latin typeface="Times New Roman"/>
                <a:cs typeface="Times New Roman"/>
              </a:rPr>
              <a:t> Cárdenas Ojose</a:t>
            </a:r>
          </a:p>
          <a:p>
            <a:pPr algn="l"/>
            <a:r>
              <a:rPr lang="es-ES" sz="2000">
                <a:latin typeface="Times New Roman"/>
                <a:cs typeface="Times New Roman"/>
              </a:rPr>
              <a:t>Jordi González de </a:t>
            </a:r>
            <a:r>
              <a:rPr lang="es-ES" sz="2000" err="1">
                <a:latin typeface="Times New Roman"/>
                <a:cs typeface="Times New Roman"/>
              </a:rPr>
              <a:t>Regàs</a:t>
            </a:r>
            <a:endParaRPr lang="es-ES" sz="2000">
              <a:latin typeface="Times New Roman"/>
              <a:cs typeface="Times New Roman"/>
            </a:endParaRPr>
          </a:p>
        </p:txBody>
      </p:sp>
      <p:pic>
        <p:nvPicPr>
          <p:cNvPr id="7" name="Imagen 6" descr="Un cd de música&#10;&#10;El contenido generado por IA puede ser incorrecto.">
            <a:extLst>
              <a:ext uri="{FF2B5EF4-FFF2-40B4-BE49-F238E27FC236}">
                <a16:creationId xmlns:a16="http://schemas.microsoft.com/office/drawing/2014/main" id="{6EC7C345-DB39-A8A0-3F2B-DAB15A58FC68}"/>
              </a:ext>
            </a:extLst>
          </p:cNvPr>
          <p:cNvPicPr>
            <a:picLocks noChangeAspect="1"/>
          </p:cNvPicPr>
          <p:nvPr/>
        </p:nvPicPr>
        <p:blipFill>
          <a:blip r:embed="rId2">
            <a:extLst>
              <a:ext uri="{28A0092B-C50C-407E-A947-70E740481C1C}">
                <a14:useLocalDpi xmlns:a14="http://schemas.microsoft.com/office/drawing/2010/main" val="0"/>
              </a:ext>
            </a:extLst>
          </a:blip>
          <a:srcRect l="6411" r="6643"/>
          <a:stretch>
            <a:fillRect/>
          </a:stretch>
        </p:blipFill>
        <p:spPr>
          <a:xfrm>
            <a:off x="6229215" y="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941587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6B576E3-19A1-8C04-2E4A-2F3A73E362B6}"/>
              </a:ext>
            </a:extLst>
          </p:cNvPr>
          <p:cNvSpPr/>
          <p:nvPr/>
        </p:nvSpPr>
        <p:spPr>
          <a:xfrm>
            <a:off x="2494365" y="-105901"/>
            <a:ext cx="9856387" cy="7072365"/>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A46A826D-0DC5-5722-EC13-449F48EAF81B}"/>
              </a:ext>
            </a:extLst>
          </p:cNvPr>
          <p:cNvSpPr/>
          <p:nvPr/>
        </p:nvSpPr>
        <p:spPr>
          <a:xfrm>
            <a:off x="-118205" y="-105900"/>
            <a:ext cx="2611339" cy="7072366"/>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ítulo 1">
            <a:extLst>
              <a:ext uri="{FF2B5EF4-FFF2-40B4-BE49-F238E27FC236}">
                <a16:creationId xmlns:a16="http://schemas.microsoft.com/office/drawing/2014/main" id="{3375B9CF-1748-0634-81B1-6F0A6B110F87}"/>
              </a:ext>
            </a:extLst>
          </p:cNvPr>
          <p:cNvSpPr>
            <a:spLocks noGrp="1"/>
          </p:cNvSpPr>
          <p:nvPr>
            <p:ph type="title"/>
          </p:nvPr>
        </p:nvSpPr>
        <p:spPr>
          <a:xfrm>
            <a:off x="306010" y="788459"/>
            <a:ext cx="1867505" cy="1337658"/>
          </a:xfrm>
        </p:spPr>
        <p:txBody>
          <a:bodyPr/>
          <a:lstStyle/>
          <a:p>
            <a:r>
              <a:rPr lang="es-ES">
                <a:solidFill>
                  <a:srgbClr val="FFFFFF"/>
                </a:solidFill>
                <a:latin typeface="Times New Roman"/>
                <a:cs typeface="Times New Roman"/>
              </a:rPr>
              <a:t>Índice</a:t>
            </a:r>
          </a:p>
        </p:txBody>
      </p:sp>
      <p:sp>
        <p:nvSpPr>
          <p:cNvPr id="3" name="Marcador de contenido 2">
            <a:extLst>
              <a:ext uri="{FF2B5EF4-FFF2-40B4-BE49-F238E27FC236}">
                <a16:creationId xmlns:a16="http://schemas.microsoft.com/office/drawing/2014/main" id="{06FA24B2-C723-4431-910E-0D282CC7E3E4}"/>
              </a:ext>
            </a:extLst>
          </p:cNvPr>
          <p:cNvSpPr>
            <a:spLocks noGrp="1"/>
          </p:cNvSpPr>
          <p:nvPr>
            <p:ph idx="1"/>
          </p:nvPr>
        </p:nvSpPr>
        <p:spPr>
          <a:xfrm>
            <a:off x="2797629" y="1257149"/>
            <a:ext cx="6596743" cy="4351338"/>
          </a:xfrm>
        </p:spPr>
        <p:txBody>
          <a:bodyPr vert="horz" lIns="91440" tIns="45720" rIns="91440" bIns="45720" rtlCol="0" anchor="t">
            <a:normAutofit lnSpcReduction="10000"/>
          </a:bodyPr>
          <a:lstStyle/>
          <a:p>
            <a:pPr marL="514350" indent="-514350">
              <a:buAutoNum type="arabicPeriod"/>
            </a:pPr>
            <a:r>
              <a:rPr lang="es-ES">
                <a:solidFill>
                  <a:schemeClr val="bg1"/>
                </a:solidFill>
                <a:latin typeface="Times New Roman"/>
                <a:cs typeface="Times New Roman"/>
              </a:rPr>
              <a:t>Introducción</a:t>
            </a:r>
          </a:p>
          <a:p>
            <a:pPr marL="514350" indent="-514350">
              <a:buAutoNum type="arabicPeriod"/>
            </a:pPr>
            <a:r>
              <a:rPr lang="es-ES">
                <a:solidFill>
                  <a:schemeClr val="bg1"/>
                </a:solidFill>
                <a:latin typeface="Times New Roman"/>
                <a:cs typeface="Times New Roman"/>
              </a:rPr>
              <a:t>Continuación de órbitas periódicas</a:t>
            </a:r>
          </a:p>
          <a:p>
            <a:pPr marL="514350" indent="-514350">
              <a:buAutoNum type="arabicPeriod"/>
            </a:pPr>
            <a:r>
              <a:rPr lang="es-ES">
                <a:solidFill>
                  <a:schemeClr val="bg1"/>
                </a:solidFill>
                <a:latin typeface="Times New Roman"/>
                <a:cs typeface="Times New Roman"/>
              </a:rPr>
              <a:t>Estabilidad</a:t>
            </a:r>
          </a:p>
          <a:p>
            <a:pPr marL="514350" indent="-514350">
              <a:buAutoNum type="arabicPeriod"/>
            </a:pPr>
            <a:r>
              <a:rPr lang="es-ES">
                <a:solidFill>
                  <a:schemeClr val="bg1"/>
                </a:solidFill>
                <a:latin typeface="Times New Roman"/>
                <a:cs typeface="Times New Roman"/>
              </a:rPr>
              <a:t>Especificación del software</a:t>
            </a:r>
          </a:p>
          <a:p>
            <a:pPr marL="514350" indent="-514350">
              <a:buAutoNum type="arabicPeriod"/>
            </a:pPr>
            <a:r>
              <a:rPr lang="es-ES">
                <a:solidFill>
                  <a:schemeClr val="bg1"/>
                </a:solidFill>
                <a:latin typeface="Times New Roman"/>
                <a:cs typeface="Times New Roman"/>
              </a:rPr>
              <a:t>Esquemas temporales</a:t>
            </a:r>
          </a:p>
          <a:p>
            <a:pPr marL="514350" indent="-514350">
              <a:buAutoNum type="arabicPeriod"/>
            </a:pPr>
            <a:r>
              <a:rPr lang="es-ES">
                <a:solidFill>
                  <a:schemeClr val="bg1"/>
                </a:solidFill>
                <a:latin typeface="Times New Roman"/>
                <a:cs typeface="Times New Roman"/>
              </a:rPr>
              <a:t>Arquitectura funcional</a:t>
            </a:r>
          </a:p>
          <a:p>
            <a:pPr marL="514350" indent="-514350">
              <a:buAutoNum type="arabicPeriod"/>
            </a:pPr>
            <a:r>
              <a:rPr lang="es-ES">
                <a:solidFill>
                  <a:schemeClr val="bg1"/>
                </a:solidFill>
                <a:latin typeface="Times New Roman"/>
                <a:cs typeface="Times New Roman"/>
              </a:rPr>
              <a:t>Interfaz de usuario</a:t>
            </a:r>
          </a:p>
          <a:p>
            <a:pPr marL="514350" indent="-514350">
              <a:buAutoNum type="arabicPeriod"/>
            </a:pPr>
            <a:r>
              <a:rPr lang="es-ES">
                <a:solidFill>
                  <a:schemeClr val="bg1"/>
                </a:solidFill>
                <a:latin typeface="Times New Roman"/>
                <a:cs typeface="Times New Roman"/>
              </a:rPr>
              <a:t>Resultados</a:t>
            </a:r>
          </a:p>
          <a:p>
            <a:pPr marL="514350" indent="-514350">
              <a:buAutoNum type="arabicPeriod"/>
            </a:pPr>
            <a:r>
              <a:rPr lang="es-ES">
                <a:solidFill>
                  <a:schemeClr val="bg1"/>
                </a:solidFill>
                <a:latin typeface="Times New Roman"/>
                <a:cs typeface="Times New Roman"/>
              </a:rPr>
              <a:t>Conclusiones</a:t>
            </a:r>
          </a:p>
        </p:txBody>
      </p:sp>
    </p:spTree>
    <p:extLst>
      <p:ext uri="{BB962C8B-B14F-4D97-AF65-F5344CB8AC3E}">
        <p14:creationId xmlns:p14="http://schemas.microsoft.com/office/powerpoint/2010/main" val="161573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EA0052D-F373-338E-7B00-65DB58C38E28}"/>
              </a:ext>
            </a:extLst>
          </p:cNvPr>
          <p:cNvSpPr>
            <a:spLocks noGrp="1"/>
          </p:cNvSpPr>
          <p:nvPr>
            <p:ph type="title"/>
          </p:nvPr>
        </p:nvSpPr>
        <p:spPr>
          <a:xfrm>
            <a:off x="761803" y="350196"/>
            <a:ext cx="4646904" cy="1624520"/>
          </a:xfrm>
        </p:spPr>
        <p:txBody>
          <a:bodyPr anchor="ctr">
            <a:normAutofit/>
          </a:bodyPr>
          <a:lstStyle/>
          <a:p>
            <a:r>
              <a:rPr lang="es-ES" sz="4000">
                <a:latin typeface="Times New Roman"/>
                <a:cs typeface="Times New Roman"/>
              </a:rPr>
              <a:t>Introducción</a:t>
            </a:r>
          </a:p>
        </p:txBody>
      </p:sp>
      <p:sp>
        <p:nvSpPr>
          <p:cNvPr id="3" name="Marcador de contenido 2">
            <a:extLst>
              <a:ext uri="{FF2B5EF4-FFF2-40B4-BE49-F238E27FC236}">
                <a16:creationId xmlns:a16="http://schemas.microsoft.com/office/drawing/2014/main" id="{ACC06EB5-A63F-57D8-E131-E0F39F644355}"/>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lgn="just">
              <a:buNone/>
            </a:pPr>
            <a:r>
              <a:rPr lang="es-ES" sz="2000">
                <a:ea typeface="+mn-lt"/>
                <a:cs typeface="+mn-lt"/>
              </a:rPr>
              <a:t>Consiste en el desarrollo de una herramienta para analizar la dinámica del problema de los tres cuerpos, esencial para comprender las órbitas en los Puntos de Lagrange utilizadas en misiones reales</a:t>
            </a:r>
            <a:endParaRPr lang="es-ES">
              <a:ea typeface="+mn-lt"/>
              <a:cs typeface="+mn-lt"/>
            </a:endParaRPr>
          </a:p>
          <a:p>
            <a:pPr marL="0" indent="0">
              <a:buNone/>
            </a:pPr>
            <a:endParaRPr lang="es-ES" sz="2000">
              <a:latin typeface="Times New Roman"/>
              <a:cs typeface="Times New Roman"/>
            </a:endParaRPr>
          </a:p>
          <a:p>
            <a:pPr marL="0" indent="0">
              <a:buNone/>
            </a:pPr>
            <a:endParaRPr lang="es-ES" sz="2000">
              <a:latin typeface="Times New Roman"/>
              <a:cs typeface="Times New Roman"/>
            </a:endParaRPr>
          </a:p>
          <a:p>
            <a:endParaRPr lang="es-ES" sz="2000">
              <a:latin typeface="Times New Roman"/>
              <a:cs typeface="Times New Roman"/>
            </a:endParaRPr>
          </a:p>
        </p:txBody>
      </p:sp>
      <p:pic>
        <p:nvPicPr>
          <p:cNvPr id="4" name="Imagen 3" descr="El Problema de los Tres Cuerpos en física, más allá de la serie de Netflix">
            <a:extLst>
              <a:ext uri="{FF2B5EF4-FFF2-40B4-BE49-F238E27FC236}">
                <a16:creationId xmlns:a16="http://schemas.microsoft.com/office/drawing/2014/main" id="{4CB46409-DEE6-B4D1-3063-892D285F07C4}"/>
              </a:ext>
            </a:extLst>
          </p:cNvPr>
          <p:cNvPicPr>
            <a:picLocks noChangeAspect="1"/>
          </p:cNvPicPr>
          <p:nvPr/>
        </p:nvPicPr>
        <p:blipFill>
          <a:blip r:embed="rId2"/>
          <a:srcRect l="26218" r="18165"/>
          <a:stretch>
            <a:fillRect/>
          </a:stretch>
        </p:blipFill>
        <p:spPr>
          <a:xfrm>
            <a:off x="6096000" y="1"/>
            <a:ext cx="6102825" cy="6858000"/>
          </a:xfrm>
          <a:prstGeom prst="rect">
            <a:avLst/>
          </a:prstGeom>
        </p:spPr>
      </p:pic>
    </p:spTree>
    <p:extLst>
      <p:ext uri="{BB962C8B-B14F-4D97-AF65-F5344CB8AC3E}">
        <p14:creationId xmlns:p14="http://schemas.microsoft.com/office/powerpoint/2010/main" val="2877583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394842B0-684D-44CC-B4BC-D13331CFD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CBFD135-4D0F-7029-BA52-209907BFF06D}"/>
              </a:ext>
            </a:extLst>
          </p:cNvPr>
          <p:cNvSpPr>
            <a:spLocks noGrp="1"/>
          </p:cNvSpPr>
          <p:nvPr>
            <p:ph type="title"/>
          </p:nvPr>
        </p:nvSpPr>
        <p:spPr>
          <a:xfrm>
            <a:off x="541238" y="320040"/>
            <a:ext cx="4762282" cy="1783080"/>
          </a:xfrm>
        </p:spPr>
        <p:txBody>
          <a:bodyPr anchor="b">
            <a:normAutofit/>
          </a:bodyPr>
          <a:lstStyle/>
          <a:p>
            <a:r>
              <a:rPr lang="es-ES" sz="4100">
                <a:latin typeface="Times New Roman"/>
                <a:cs typeface="Times New Roman"/>
              </a:rPr>
              <a:t>El problema circular restringido de los tres cuerpos (II)</a:t>
            </a:r>
          </a:p>
        </p:txBody>
      </p:sp>
      <p:sp>
        <p:nvSpPr>
          <p:cNvPr id="1035" name="sketch line">
            <a:extLst>
              <a:ext uri="{FF2B5EF4-FFF2-40B4-BE49-F238E27FC236}">
                <a16:creationId xmlns:a16="http://schemas.microsoft.com/office/drawing/2014/main" id="{4C2A3DC3-F495-4B99-9FF3-3FB30D632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a:extLst>
              <a:ext uri="{FF2B5EF4-FFF2-40B4-BE49-F238E27FC236}">
                <a16:creationId xmlns:a16="http://schemas.microsoft.com/office/drawing/2014/main" id="{AD83BF12-3CA9-528A-CB06-8D09DCBC102B}"/>
              </a:ext>
            </a:extLst>
          </p:cNvPr>
          <p:cNvSpPr/>
          <p:nvPr/>
        </p:nvSpPr>
        <p:spPr>
          <a:xfrm>
            <a:off x="640080" y="2243667"/>
            <a:ext cx="4778587"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Picture 2" descr="Where are the lagrangian points and why do they exist? | Astronomy.com">
            <a:extLst>
              <a:ext uri="{FF2B5EF4-FFF2-40B4-BE49-F238E27FC236}">
                <a16:creationId xmlns:a16="http://schemas.microsoft.com/office/drawing/2014/main" id="{F679A6F9-9658-9C1F-CAE8-23977B4EF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6953" y="0"/>
            <a:ext cx="6371999" cy="67767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2668B2E5-9EB5-B627-E571-503C1158E5B3}"/>
              </a:ext>
            </a:extLst>
          </p:cNvPr>
          <p:cNvSpPr txBox="1"/>
          <p:nvPr/>
        </p:nvSpPr>
        <p:spPr>
          <a:xfrm>
            <a:off x="541150" y="2393747"/>
            <a:ext cx="493243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s-ES" sz="2400">
                <a:latin typeface="Times New Roman"/>
                <a:cs typeface="Times New Roman"/>
              </a:rPr>
              <a:t>Puntos de Lagrange: 5 puntos de equilibrio.</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latin typeface="Times New Roman"/>
                <a:cs typeface="Times New Roman"/>
              </a:rPr>
              <a:t>3 en el eje X, 2 formando un triángulo equilátero con los primarios.</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latin typeface="Times New Roman"/>
                <a:cs typeface="Times New Roman"/>
              </a:rPr>
              <a:t>Los colineales son tipo silla x silla x centro.</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latin typeface="Times New Roman"/>
                <a:cs typeface="Times New Roman"/>
              </a:rPr>
              <a:t>Posiciones dependen de </a:t>
            </a:r>
            <a:r>
              <a:rPr lang="es-ES" sz="2400">
                <a:solidFill>
                  <a:srgbClr val="000000"/>
                </a:solidFill>
                <a:latin typeface="Times New Roman"/>
                <a:cs typeface="Times New Roman"/>
              </a:rPr>
              <a:t>μ.</a:t>
            </a:r>
          </a:p>
        </p:txBody>
      </p:sp>
    </p:spTree>
    <p:extLst>
      <p:ext uri="{BB962C8B-B14F-4D97-AF65-F5344CB8AC3E}">
        <p14:creationId xmlns:p14="http://schemas.microsoft.com/office/powerpoint/2010/main" val="2856109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8341D826-49AE-A198-7DA7-8F1C754E4FCA}"/>
              </a:ext>
            </a:extLst>
          </p:cNvPr>
          <p:cNvPicPr>
            <a:picLocks noChangeAspect="1"/>
          </p:cNvPicPr>
          <p:nvPr/>
        </p:nvPicPr>
        <p:blipFill>
          <a:blip r:embed="rId3"/>
          <a:srcRect l="864" r="174"/>
          <a:stretch>
            <a:fillRect/>
          </a:stretch>
        </p:blipFill>
        <p:spPr>
          <a:xfrm>
            <a:off x="148551" y="1625836"/>
            <a:ext cx="6040583" cy="4055297"/>
          </a:xfrm>
          <a:prstGeom prst="rect">
            <a:avLst/>
          </a:prstGeom>
        </p:spPr>
      </p:pic>
      <p:sp>
        <p:nvSpPr>
          <p:cNvPr id="16" name="CuadroTexto 15">
            <a:extLst>
              <a:ext uri="{FF2B5EF4-FFF2-40B4-BE49-F238E27FC236}">
                <a16:creationId xmlns:a16="http://schemas.microsoft.com/office/drawing/2014/main" id="{5B7D12DE-4549-26A7-2942-A28D77ED94AF}"/>
              </a:ext>
            </a:extLst>
          </p:cNvPr>
          <p:cNvSpPr txBox="1"/>
          <p:nvPr/>
        </p:nvSpPr>
        <p:spPr>
          <a:xfrm>
            <a:off x="2692400" y="6154410"/>
            <a:ext cx="3496734" cy="261610"/>
          </a:xfrm>
          <a:prstGeom prst="rect">
            <a:avLst/>
          </a:prstGeom>
          <a:noFill/>
        </p:spPr>
        <p:txBody>
          <a:bodyPr wrap="square" rtlCol="0">
            <a:spAutoFit/>
          </a:bodyPr>
          <a:lstStyle/>
          <a:p>
            <a:r>
              <a:rPr lang="es-ES" sz="1100">
                <a:latin typeface="Times New Roman"/>
                <a:cs typeface="Times New Roman"/>
              </a:rPr>
              <a:t>Fuente: S. Hosseini</a:t>
            </a:r>
          </a:p>
        </p:txBody>
      </p:sp>
      <p:grpSp>
        <p:nvGrpSpPr>
          <p:cNvPr id="6" name="Grupo 5">
            <a:extLst>
              <a:ext uri="{FF2B5EF4-FFF2-40B4-BE49-F238E27FC236}">
                <a16:creationId xmlns:a16="http://schemas.microsoft.com/office/drawing/2014/main" id="{891C1AB1-87B5-B86B-2939-747160059E18}"/>
              </a:ext>
            </a:extLst>
          </p:cNvPr>
          <p:cNvGrpSpPr/>
          <p:nvPr/>
        </p:nvGrpSpPr>
        <p:grpSpPr>
          <a:xfrm>
            <a:off x="-3166" y="-3556"/>
            <a:ext cx="12200147" cy="840333"/>
            <a:chOff x="-3166" y="-3556"/>
            <a:chExt cx="12200147" cy="840333"/>
          </a:xfrm>
        </p:grpSpPr>
        <p:sp>
          <p:nvSpPr>
            <p:cNvPr id="4" name="Rectángulo 3">
              <a:extLst>
                <a:ext uri="{FF2B5EF4-FFF2-40B4-BE49-F238E27FC236}">
                  <a16:creationId xmlns:a16="http://schemas.microsoft.com/office/drawing/2014/main" id="{4043C61E-8554-7EC8-D649-2FC9A3043802}"/>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 1. Introducción</a:t>
              </a:r>
              <a:endParaRPr lang="es-ES"/>
            </a:p>
          </p:txBody>
        </p:sp>
        <p:sp>
          <p:nvSpPr>
            <p:cNvPr id="5" name="Rectángulo 4">
              <a:extLst>
                <a:ext uri="{FF2B5EF4-FFF2-40B4-BE49-F238E27FC236}">
                  <a16:creationId xmlns:a16="http://schemas.microsoft.com/office/drawing/2014/main" id="{3BEE93F5-4DCF-A1DB-5A1C-B1085AA18EAB}"/>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pic>
        <p:nvPicPr>
          <p:cNvPr id="3" name="Picture 2" descr="Where are the lagrangian points and why do they exist? | Astronomy.com">
            <a:extLst>
              <a:ext uri="{FF2B5EF4-FFF2-40B4-BE49-F238E27FC236}">
                <a16:creationId xmlns:a16="http://schemas.microsoft.com/office/drawing/2014/main" id="{8590C24B-F2E8-979E-CB81-0D70E8F7D3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6016" y="834299"/>
            <a:ext cx="5663951" cy="602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747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rco 33">
            <a:extLst>
              <a:ext uri="{FF2B5EF4-FFF2-40B4-BE49-F238E27FC236}">
                <a16:creationId xmlns:a16="http://schemas.microsoft.com/office/drawing/2014/main" id="{A7D5CB3B-040A-1AAE-D10B-EDD710B01051}"/>
              </a:ext>
            </a:extLst>
          </p:cNvPr>
          <p:cNvSpPr/>
          <p:nvPr/>
        </p:nvSpPr>
        <p:spPr>
          <a:xfrm flipV="1">
            <a:off x="4071658" y="697184"/>
            <a:ext cx="3784445" cy="6051063"/>
          </a:xfrm>
          <a:prstGeom prst="arc">
            <a:avLst>
              <a:gd name="adj1" fmla="val 10703758"/>
              <a:gd name="adj2"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Arco 29">
            <a:extLst>
              <a:ext uri="{FF2B5EF4-FFF2-40B4-BE49-F238E27FC236}">
                <a16:creationId xmlns:a16="http://schemas.microsoft.com/office/drawing/2014/main" id="{C6B44AB7-E41B-02A6-DC94-0A858488181D}"/>
              </a:ext>
            </a:extLst>
          </p:cNvPr>
          <p:cNvSpPr/>
          <p:nvPr/>
        </p:nvSpPr>
        <p:spPr>
          <a:xfrm>
            <a:off x="4067040" y="535548"/>
            <a:ext cx="3784445" cy="6051063"/>
          </a:xfrm>
          <a:prstGeom prst="arc">
            <a:avLst>
              <a:gd name="adj1" fmla="val 10703758"/>
              <a:gd name="adj2"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Forma libre: forma 21">
            <a:extLst>
              <a:ext uri="{FF2B5EF4-FFF2-40B4-BE49-F238E27FC236}">
                <a16:creationId xmlns:a16="http://schemas.microsoft.com/office/drawing/2014/main" id="{1738E62C-02A2-9267-B084-22A5DA34B47A}"/>
              </a:ext>
            </a:extLst>
          </p:cNvPr>
          <p:cNvSpPr/>
          <p:nvPr/>
        </p:nvSpPr>
        <p:spPr>
          <a:xfrm>
            <a:off x="4091779" y="210884"/>
            <a:ext cx="4262779" cy="3544929"/>
          </a:xfrm>
          <a:custGeom>
            <a:avLst/>
            <a:gdLst>
              <a:gd name="connsiteX0" fmla="*/ 3899061 w 4262779"/>
              <a:gd name="connsiteY0" fmla="*/ 3468729 h 3544929"/>
              <a:gd name="connsiteX1" fmla="*/ 4110728 w 4262779"/>
              <a:gd name="connsiteY1" fmla="*/ 2537396 h 3544929"/>
              <a:gd name="connsiteX2" fmla="*/ 4229261 w 4262779"/>
              <a:gd name="connsiteY2" fmla="*/ 894863 h 3544929"/>
              <a:gd name="connsiteX3" fmla="*/ 3484194 w 4262779"/>
              <a:gd name="connsiteY3" fmla="*/ 98996 h 3544929"/>
              <a:gd name="connsiteX4" fmla="*/ 1486061 w 4262779"/>
              <a:gd name="connsiteY4" fmla="*/ 65129 h 3544929"/>
              <a:gd name="connsiteX5" fmla="*/ 89061 w 4262779"/>
              <a:gd name="connsiteY5" fmla="*/ 581596 h 3544929"/>
              <a:gd name="connsiteX6" fmla="*/ 258394 w 4262779"/>
              <a:gd name="connsiteY6" fmla="*/ 3544929 h 354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2779" h="3544929">
                <a:moveTo>
                  <a:pt x="3899061" y="3468729"/>
                </a:moveTo>
                <a:cubicBezTo>
                  <a:pt x="3977378" y="3217551"/>
                  <a:pt x="4055695" y="2966374"/>
                  <a:pt x="4110728" y="2537396"/>
                </a:cubicBezTo>
                <a:cubicBezTo>
                  <a:pt x="4165761" y="2108418"/>
                  <a:pt x="4333683" y="1301263"/>
                  <a:pt x="4229261" y="894863"/>
                </a:cubicBezTo>
                <a:cubicBezTo>
                  <a:pt x="4124839" y="488463"/>
                  <a:pt x="3941394" y="237285"/>
                  <a:pt x="3484194" y="98996"/>
                </a:cubicBezTo>
                <a:cubicBezTo>
                  <a:pt x="3026994" y="-39293"/>
                  <a:pt x="2051916" y="-15304"/>
                  <a:pt x="1486061" y="65129"/>
                </a:cubicBezTo>
                <a:cubicBezTo>
                  <a:pt x="920206" y="145562"/>
                  <a:pt x="293672" y="1629"/>
                  <a:pt x="89061" y="581596"/>
                </a:cubicBezTo>
                <a:cubicBezTo>
                  <a:pt x="-115550" y="1161563"/>
                  <a:pt x="71422" y="2353246"/>
                  <a:pt x="258394" y="3544929"/>
                </a:cubicBezTo>
              </a:path>
            </a:pathLst>
          </a:custGeom>
          <a:noFill/>
          <a:ln w="38100">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5" name="Conector recto de flecha 4">
            <a:extLst>
              <a:ext uri="{FF2B5EF4-FFF2-40B4-BE49-F238E27FC236}">
                <a16:creationId xmlns:a16="http://schemas.microsoft.com/office/drawing/2014/main" id="{43304D1F-7A99-24EA-D35F-61F7E0C28DBE}"/>
              </a:ext>
            </a:extLst>
          </p:cNvPr>
          <p:cNvCxnSpPr>
            <a:cxnSpLocks/>
          </p:cNvCxnSpPr>
          <p:nvPr/>
        </p:nvCxnSpPr>
        <p:spPr>
          <a:xfrm>
            <a:off x="1479973" y="3688080"/>
            <a:ext cx="9135534"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ector recto de flecha 5">
            <a:extLst>
              <a:ext uri="{FF2B5EF4-FFF2-40B4-BE49-F238E27FC236}">
                <a16:creationId xmlns:a16="http://schemas.microsoft.com/office/drawing/2014/main" id="{7505B34E-8307-66A6-B69C-E1A38A05D58C}"/>
              </a:ext>
            </a:extLst>
          </p:cNvPr>
          <p:cNvCxnSpPr>
            <a:cxnSpLocks/>
          </p:cNvCxnSpPr>
          <p:nvPr/>
        </p:nvCxnSpPr>
        <p:spPr>
          <a:xfrm flipV="1">
            <a:off x="6013873" y="522080"/>
            <a:ext cx="0" cy="58748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Elipse 7">
            <a:extLst>
              <a:ext uri="{FF2B5EF4-FFF2-40B4-BE49-F238E27FC236}">
                <a16:creationId xmlns:a16="http://schemas.microsoft.com/office/drawing/2014/main" id="{C92D5629-85C0-7F18-5FCC-41E0FE94C1D7}"/>
              </a:ext>
            </a:extLst>
          </p:cNvPr>
          <p:cNvSpPr/>
          <p:nvPr/>
        </p:nvSpPr>
        <p:spPr>
          <a:xfrm>
            <a:off x="7872307" y="3561080"/>
            <a:ext cx="262462" cy="25399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de flecha 9">
            <a:extLst>
              <a:ext uri="{FF2B5EF4-FFF2-40B4-BE49-F238E27FC236}">
                <a16:creationId xmlns:a16="http://schemas.microsoft.com/office/drawing/2014/main" id="{62ABE8A1-98C3-802D-7A27-E1F55B2EA7AF}"/>
              </a:ext>
            </a:extLst>
          </p:cNvPr>
          <p:cNvCxnSpPr>
            <a:cxnSpLocks/>
          </p:cNvCxnSpPr>
          <p:nvPr/>
        </p:nvCxnSpPr>
        <p:spPr>
          <a:xfrm flipV="1">
            <a:off x="8037406" y="3002280"/>
            <a:ext cx="131231" cy="55880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Elipse 11">
            <a:extLst>
              <a:ext uri="{FF2B5EF4-FFF2-40B4-BE49-F238E27FC236}">
                <a16:creationId xmlns:a16="http://schemas.microsoft.com/office/drawing/2014/main" id="{C48D9A76-5EA6-07F3-DB5A-70F8B6DD69AB}"/>
              </a:ext>
            </a:extLst>
          </p:cNvPr>
          <p:cNvSpPr/>
          <p:nvPr/>
        </p:nvSpPr>
        <p:spPr>
          <a:xfrm>
            <a:off x="4172369" y="3561080"/>
            <a:ext cx="262462" cy="253999"/>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6" name="Conector recto de flecha 15">
            <a:extLst>
              <a:ext uri="{FF2B5EF4-FFF2-40B4-BE49-F238E27FC236}">
                <a16:creationId xmlns:a16="http://schemas.microsoft.com/office/drawing/2014/main" id="{C01541BD-86C9-0B09-C578-64600B7243C7}"/>
              </a:ext>
            </a:extLst>
          </p:cNvPr>
          <p:cNvCxnSpPr>
            <a:cxnSpLocks/>
          </p:cNvCxnSpPr>
          <p:nvPr/>
        </p:nvCxnSpPr>
        <p:spPr>
          <a:xfrm>
            <a:off x="4358791" y="3712354"/>
            <a:ext cx="152080" cy="728134"/>
          </a:xfrm>
          <a:prstGeom prst="straightConnector1">
            <a:avLst/>
          </a:prstGeom>
          <a:ln w="381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3" name="Elipse 22">
            <a:extLst>
              <a:ext uri="{FF2B5EF4-FFF2-40B4-BE49-F238E27FC236}">
                <a16:creationId xmlns:a16="http://schemas.microsoft.com/office/drawing/2014/main" id="{205C2DD3-3667-99A6-11D7-D867CC64E157}"/>
              </a:ext>
            </a:extLst>
          </p:cNvPr>
          <p:cNvSpPr/>
          <p:nvPr/>
        </p:nvSpPr>
        <p:spPr>
          <a:xfrm>
            <a:off x="7707208" y="3561080"/>
            <a:ext cx="262462" cy="253999"/>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5" name="Conector recto de flecha 24">
            <a:extLst>
              <a:ext uri="{FF2B5EF4-FFF2-40B4-BE49-F238E27FC236}">
                <a16:creationId xmlns:a16="http://schemas.microsoft.com/office/drawing/2014/main" id="{7ABC884F-50F4-4E3B-5021-992D06CE9981}"/>
              </a:ext>
            </a:extLst>
          </p:cNvPr>
          <p:cNvCxnSpPr>
            <a:stCxn id="23" idx="0"/>
          </p:cNvCxnSpPr>
          <p:nvPr/>
        </p:nvCxnSpPr>
        <p:spPr>
          <a:xfrm flipV="1">
            <a:off x="7838439" y="3002280"/>
            <a:ext cx="0" cy="558800"/>
          </a:xfrm>
          <a:prstGeom prst="straightConnector1">
            <a:avLst/>
          </a:prstGeom>
          <a:ln w="38100">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26" name="Elipse 25">
            <a:extLst>
              <a:ext uri="{FF2B5EF4-FFF2-40B4-BE49-F238E27FC236}">
                <a16:creationId xmlns:a16="http://schemas.microsoft.com/office/drawing/2014/main" id="{F731D57A-B282-55CE-00A3-6550970F07EC}"/>
              </a:ext>
            </a:extLst>
          </p:cNvPr>
          <p:cNvSpPr/>
          <p:nvPr/>
        </p:nvSpPr>
        <p:spPr>
          <a:xfrm>
            <a:off x="3958589" y="3561080"/>
            <a:ext cx="262462" cy="253999"/>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7" name="Conector recto de flecha 26">
            <a:extLst>
              <a:ext uri="{FF2B5EF4-FFF2-40B4-BE49-F238E27FC236}">
                <a16:creationId xmlns:a16="http://schemas.microsoft.com/office/drawing/2014/main" id="{E8B428CA-857C-95B1-3054-BA78B92C413C}"/>
              </a:ext>
            </a:extLst>
          </p:cNvPr>
          <p:cNvCxnSpPr>
            <a:cxnSpLocks/>
          </p:cNvCxnSpPr>
          <p:nvPr/>
        </p:nvCxnSpPr>
        <p:spPr>
          <a:xfrm>
            <a:off x="4089819" y="3755813"/>
            <a:ext cx="0" cy="684675"/>
          </a:xfrm>
          <a:prstGeom prst="straightConnector1">
            <a:avLst/>
          </a:prstGeom>
          <a:ln w="38100">
            <a:solidFill>
              <a:srgbClr val="FFFF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139C3F49-7098-065C-CD77-A473C6B58018}"/>
                  </a:ext>
                </a:extLst>
              </p:cNvPr>
              <p:cNvSpPr txBox="1"/>
              <p:nvPr/>
            </p:nvSpPr>
            <p:spPr>
              <a:xfrm>
                <a:off x="7969670" y="3981380"/>
                <a:ext cx="1264962"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3200" b="0" i="1" smtClean="0">
                          <a:latin typeface="Cambria Math" panose="02040503050406030204" pitchFamily="18" charset="0"/>
                        </a:rPr>
                        <m:t>𝛿</m:t>
                      </m:r>
                      <m:r>
                        <a:rPr lang="es-ES" sz="3200" b="0" i="1" smtClean="0">
                          <a:latin typeface="Cambria Math" panose="02040503050406030204" pitchFamily="18" charset="0"/>
                        </a:rPr>
                        <m:t>𝑋</m:t>
                      </m:r>
                      <m:r>
                        <a:rPr lang="es-ES" sz="3200" b="0" i="1" smtClean="0">
                          <a:latin typeface="Cambria Math" panose="02040503050406030204" pitchFamily="18" charset="0"/>
                        </a:rPr>
                        <m:t>(</m:t>
                      </m:r>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𝑡</m:t>
                          </m:r>
                        </m:e>
                        <m:sub>
                          <m:r>
                            <a:rPr lang="es-ES" sz="3200" b="0" i="1" smtClean="0">
                              <a:latin typeface="Cambria Math" panose="02040503050406030204" pitchFamily="18" charset="0"/>
                            </a:rPr>
                            <m:t>0</m:t>
                          </m:r>
                        </m:sub>
                      </m:sSub>
                      <m:r>
                        <a:rPr lang="es-ES" sz="3200" b="0" i="1" smtClean="0">
                          <a:latin typeface="Cambria Math" panose="02040503050406030204" pitchFamily="18" charset="0"/>
                        </a:rPr>
                        <m:t>)</m:t>
                      </m:r>
                    </m:oMath>
                  </m:oMathPara>
                </a14:m>
                <a:endParaRPr lang="es-ES" sz="3200"/>
              </a:p>
            </p:txBody>
          </p:sp>
        </mc:Choice>
        <mc:Fallback xmlns="">
          <p:sp>
            <p:nvSpPr>
              <p:cNvPr id="31" name="CuadroTexto 30">
                <a:extLst>
                  <a:ext uri="{FF2B5EF4-FFF2-40B4-BE49-F238E27FC236}">
                    <a16:creationId xmlns:a16="http://schemas.microsoft.com/office/drawing/2014/main" id="{139C3F49-7098-065C-CD77-A473C6B58018}"/>
                  </a:ext>
                </a:extLst>
              </p:cNvPr>
              <p:cNvSpPr txBox="1">
                <a:spLocks noRot="1" noChangeAspect="1" noMove="1" noResize="1" noEditPoints="1" noAdjustHandles="1" noChangeArrowheads="1" noChangeShapeType="1" noTextEdit="1"/>
              </p:cNvSpPr>
              <p:nvPr/>
            </p:nvSpPr>
            <p:spPr>
              <a:xfrm>
                <a:off x="7969670" y="3981380"/>
                <a:ext cx="1264962"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1B4764C-89D0-FB42-676A-F409013C583A}"/>
                  </a:ext>
                </a:extLst>
              </p:cNvPr>
              <p:cNvSpPr txBox="1"/>
              <p:nvPr/>
            </p:nvSpPr>
            <p:spPr>
              <a:xfrm>
                <a:off x="10455955" y="3772746"/>
                <a:ext cx="27539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latin typeface="Cambria Math" panose="02040503050406030204" pitchFamily="18" charset="0"/>
                        </a:rPr>
                        <m:t>𝑥</m:t>
                      </m:r>
                    </m:oMath>
                  </m:oMathPara>
                </a14:m>
                <a:endParaRPr lang="es-ES" sz="2800"/>
              </a:p>
            </p:txBody>
          </p:sp>
        </mc:Choice>
        <mc:Fallback xmlns="">
          <p:sp>
            <p:nvSpPr>
              <p:cNvPr id="32" name="CuadroTexto 31">
                <a:extLst>
                  <a:ext uri="{FF2B5EF4-FFF2-40B4-BE49-F238E27FC236}">
                    <a16:creationId xmlns:a16="http://schemas.microsoft.com/office/drawing/2014/main" id="{71B4764C-89D0-FB42-676A-F409013C583A}"/>
                  </a:ext>
                </a:extLst>
              </p:cNvPr>
              <p:cNvSpPr txBox="1">
                <a:spLocks noRot="1" noChangeAspect="1" noMove="1" noResize="1" noEditPoints="1" noAdjustHandles="1" noChangeArrowheads="1" noChangeShapeType="1" noTextEdit="1"/>
              </p:cNvSpPr>
              <p:nvPr/>
            </p:nvSpPr>
            <p:spPr>
              <a:xfrm>
                <a:off x="10455955" y="3772746"/>
                <a:ext cx="275395"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BA63C7C5-0F4D-84BA-CD2C-2B4E906008A9}"/>
                  </a:ext>
                </a:extLst>
              </p:cNvPr>
              <p:cNvSpPr txBox="1"/>
              <p:nvPr/>
            </p:nvSpPr>
            <p:spPr>
              <a:xfrm>
                <a:off x="5652563" y="559822"/>
                <a:ext cx="280269"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latin typeface="Cambria Math" panose="02040503050406030204" pitchFamily="18" charset="0"/>
                        </a:rPr>
                        <m:t>𝑦</m:t>
                      </m:r>
                    </m:oMath>
                  </m:oMathPara>
                </a14:m>
                <a:endParaRPr lang="es-ES" sz="2800"/>
              </a:p>
            </p:txBody>
          </p:sp>
        </mc:Choice>
        <mc:Fallback xmlns="">
          <p:sp>
            <p:nvSpPr>
              <p:cNvPr id="33" name="CuadroTexto 32">
                <a:extLst>
                  <a:ext uri="{FF2B5EF4-FFF2-40B4-BE49-F238E27FC236}">
                    <a16:creationId xmlns:a16="http://schemas.microsoft.com/office/drawing/2014/main" id="{BA63C7C5-0F4D-84BA-CD2C-2B4E906008A9}"/>
                  </a:ext>
                </a:extLst>
              </p:cNvPr>
              <p:cNvSpPr txBox="1">
                <a:spLocks noRot="1" noChangeAspect="1" noMove="1" noResize="1" noEditPoints="1" noAdjustHandles="1" noChangeArrowheads="1" noChangeShapeType="1" noTextEdit="1"/>
              </p:cNvSpPr>
              <p:nvPr/>
            </p:nvSpPr>
            <p:spPr>
              <a:xfrm>
                <a:off x="5652563" y="559822"/>
                <a:ext cx="280269" cy="430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1B5BDE45-A5B2-BD46-B22A-496C60F1D213}"/>
                  </a:ext>
                </a:extLst>
              </p:cNvPr>
              <p:cNvSpPr txBox="1"/>
              <p:nvPr/>
            </p:nvSpPr>
            <p:spPr>
              <a:xfrm>
                <a:off x="2565712" y="2706477"/>
                <a:ext cx="1060441" cy="6769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sz="3200" b="0" i="1" smtClean="0">
                              <a:latin typeface="Cambria Math" panose="02040503050406030204" pitchFamily="18" charset="0"/>
                            </a:rPr>
                          </m:ctrlPr>
                        </m:accPr>
                        <m:e>
                          <m:r>
                            <a:rPr lang="es-ES" sz="3200" b="0" i="1" smtClean="0">
                              <a:latin typeface="Cambria Math" panose="02040503050406030204" pitchFamily="18" charset="0"/>
                            </a:rPr>
                            <m:t>𝑋</m:t>
                          </m:r>
                        </m:e>
                      </m:acc>
                      <m:d>
                        <m:dPr>
                          <m:ctrlPr>
                            <a:rPr lang="es-ES" sz="3200" b="0" i="1" smtClean="0">
                              <a:latin typeface="Cambria Math" panose="02040503050406030204" pitchFamily="18" charset="0"/>
                            </a:rPr>
                          </m:ctrlPr>
                        </m:dPr>
                        <m:e>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𝑡</m:t>
                              </m:r>
                            </m:e>
                            <m:sub>
                              <m:acc>
                                <m:accPr>
                                  <m:chr m:val="̂"/>
                                  <m:ctrlPr>
                                    <a:rPr lang="es-ES" sz="3200" b="0" i="1" smtClean="0">
                                      <a:latin typeface="Cambria Math" panose="02040503050406030204" pitchFamily="18" charset="0"/>
                                    </a:rPr>
                                  </m:ctrlPr>
                                </m:accPr>
                                <m:e>
                                  <m:r>
                                    <a:rPr lang="es-ES" sz="3200" b="0" i="1" smtClean="0">
                                      <a:latin typeface="Cambria Math" panose="02040503050406030204" pitchFamily="18" charset="0"/>
                                    </a:rPr>
                                    <m:t>𝑇</m:t>
                                  </m:r>
                                </m:e>
                              </m:acc>
                              <m:r>
                                <a:rPr lang="es-ES" sz="3200" b="0" i="1" dirty="0" smtClean="0">
                                  <a:latin typeface="Cambria Math" panose="02040503050406030204" pitchFamily="18" charset="0"/>
                                </a:rPr>
                                <m:t>/2</m:t>
                              </m:r>
                            </m:sub>
                          </m:sSub>
                        </m:e>
                      </m:d>
                    </m:oMath>
                  </m:oMathPara>
                </a14:m>
                <a:endParaRPr lang="es-ES" sz="3200"/>
              </a:p>
            </p:txBody>
          </p:sp>
        </mc:Choice>
        <mc:Fallback xmlns="">
          <p:sp>
            <p:nvSpPr>
              <p:cNvPr id="36" name="CuadroTexto 35">
                <a:extLst>
                  <a:ext uri="{FF2B5EF4-FFF2-40B4-BE49-F238E27FC236}">
                    <a16:creationId xmlns:a16="http://schemas.microsoft.com/office/drawing/2014/main" id="{1B5BDE45-A5B2-BD46-B22A-496C60F1D213}"/>
                  </a:ext>
                </a:extLst>
              </p:cNvPr>
              <p:cNvSpPr txBox="1">
                <a:spLocks noRot="1" noChangeAspect="1" noMove="1" noResize="1" noEditPoints="1" noAdjustHandles="1" noChangeArrowheads="1" noChangeShapeType="1" noTextEdit="1"/>
              </p:cNvSpPr>
              <p:nvPr/>
            </p:nvSpPr>
            <p:spPr>
              <a:xfrm>
                <a:off x="2565712" y="2706477"/>
                <a:ext cx="1060441" cy="676980"/>
              </a:xfrm>
              <a:prstGeom prst="rect">
                <a:avLst/>
              </a:prstGeom>
              <a:blipFill>
                <a:blip r:embed="rId5"/>
                <a:stretch>
                  <a:fillRect r="-32184"/>
                </a:stretch>
              </a:blipFill>
            </p:spPr>
            <p:txBody>
              <a:bodyPr/>
              <a:lstStyle/>
              <a:p>
                <a:r>
                  <a:rPr lang="en-US">
                    <a:noFill/>
                  </a:rPr>
                  <a:t> </a:t>
                </a:r>
              </a:p>
            </p:txBody>
          </p:sp>
        </mc:Fallback>
      </mc:AlternateContent>
    </p:spTree>
    <p:extLst>
      <p:ext uri="{BB962C8B-B14F-4D97-AF65-F5344CB8AC3E}">
        <p14:creationId xmlns:p14="http://schemas.microsoft.com/office/powerpoint/2010/main" val="323560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0" grpId="0" animBg="1"/>
      <p:bldP spid="22" grpId="0" animBg="1"/>
      <p:bldP spid="12" grpId="0" animBg="1"/>
      <p:bldP spid="23" grpId="0" animBg="1"/>
      <p:bldP spid="26" grpId="0" animBg="1"/>
      <p:bldP spid="31"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eriodic Orbits of Interest Computed in the Circular Restricted... |  Download Scientific Diagram">
            <a:extLst>
              <a:ext uri="{FF2B5EF4-FFF2-40B4-BE49-F238E27FC236}">
                <a16:creationId xmlns:a16="http://schemas.microsoft.com/office/drawing/2014/main" id="{5ED881EB-E040-45C6-BC83-464061348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114" y="1458357"/>
            <a:ext cx="4039652" cy="511918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seudo arc-length continuation in the CR3BP — heyoka.py 7.8.1 documentation">
            <a:extLst>
              <a:ext uri="{FF2B5EF4-FFF2-40B4-BE49-F238E27FC236}">
                <a16:creationId xmlns:a16="http://schemas.microsoft.com/office/drawing/2014/main" id="{2B153EA8-8AEB-FC21-3AC9-B736036E79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1027" y="1645589"/>
            <a:ext cx="4860043" cy="474472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o 7">
            <a:extLst>
              <a:ext uri="{FF2B5EF4-FFF2-40B4-BE49-F238E27FC236}">
                <a16:creationId xmlns:a16="http://schemas.microsoft.com/office/drawing/2014/main" id="{B67F3884-D878-0761-D71D-A6F260A4A861}"/>
              </a:ext>
            </a:extLst>
          </p:cNvPr>
          <p:cNvGrpSpPr/>
          <p:nvPr/>
        </p:nvGrpSpPr>
        <p:grpSpPr>
          <a:xfrm>
            <a:off x="-3166" y="-3556"/>
            <a:ext cx="12200147" cy="840333"/>
            <a:chOff x="-3166" y="-3556"/>
            <a:chExt cx="12200147" cy="840333"/>
          </a:xfrm>
        </p:grpSpPr>
        <p:sp>
          <p:nvSpPr>
            <p:cNvPr id="6" name="Rectángulo 5">
              <a:extLst>
                <a:ext uri="{FF2B5EF4-FFF2-40B4-BE49-F238E27FC236}">
                  <a16:creationId xmlns:a16="http://schemas.microsoft.com/office/drawing/2014/main" id="{B6C10CEE-3E08-82DE-F29E-1C4C6C5F4BE8}"/>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 2. Continuación de órbitas periódicas</a:t>
              </a:r>
              <a:endParaRPr lang="es-ES"/>
            </a:p>
          </p:txBody>
        </p:sp>
        <p:sp>
          <p:nvSpPr>
            <p:cNvPr id="7" name="Rectángulo 6">
              <a:extLst>
                <a:ext uri="{FF2B5EF4-FFF2-40B4-BE49-F238E27FC236}">
                  <a16:creationId xmlns:a16="http://schemas.microsoft.com/office/drawing/2014/main" id="{F7B2FA04-D188-6D80-0221-491B3368636B}"/>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162748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0D5C0478-905D-C501-B3E3-E81E3C0FB421}"/>
              </a:ext>
            </a:extLst>
          </p:cNvPr>
          <p:cNvSpPr/>
          <p:nvPr/>
        </p:nvSpPr>
        <p:spPr>
          <a:xfrm>
            <a:off x="5873445" y="5257324"/>
            <a:ext cx="152400" cy="110913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Forma libre: forma 6">
            <a:extLst>
              <a:ext uri="{FF2B5EF4-FFF2-40B4-BE49-F238E27FC236}">
                <a16:creationId xmlns:a16="http://schemas.microsoft.com/office/drawing/2014/main" id="{52810ACE-D127-9859-B514-57AE9703564F}"/>
              </a:ext>
            </a:extLst>
          </p:cNvPr>
          <p:cNvSpPr/>
          <p:nvPr/>
        </p:nvSpPr>
        <p:spPr>
          <a:xfrm>
            <a:off x="3865877" y="1281276"/>
            <a:ext cx="4382407" cy="4632498"/>
          </a:xfrm>
          <a:custGeom>
            <a:avLst/>
            <a:gdLst>
              <a:gd name="connsiteX0" fmla="*/ 446611 w 4382407"/>
              <a:gd name="connsiteY0" fmla="*/ 2354682 h 4632498"/>
              <a:gd name="connsiteX1" fmla="*/ 438145 w 4382407"/>
              <a:gd name="connsiteY1" fmla="*/ 2972748 h 4632498"/>
              <a:gd name="connsiteX2" fmla="*/ 133345 w 4382407"/>
              <a:gd name="connsiteY2" fmla="*/ 3709348 h 4632498"/>
              <a:gd name="connsiteX3" fmla="*/ 497411 w 4382407"/>
              <a:gd name="connsiteY3" fmla="*/ 4412082 h 4632498"/>
              <a:gd name="connsiteX4" fmla="*/ 2131478 w 4382407"/>
              <a:gd name="connsiteY4" fmla="*/ 4556015 h 4632498"/>
              <a:gd name="connsiteX5" fmla="*/ 4366678 w 4382407"/>
              <a:gd name="connsiteY5" fmla="*/ 3311415 h 4632498"/>
              <a:gd name="connsiteX6" fmla="*/ 3122078 w 4382407"/>
              <a:gd name="connsiteY6" fmla="*/ 1999082 h 4632498"/>
              <a:gd name="connsiteX7" fmla="*/ 3012011 w 4382407"/>
              <a:gd name="connsiteY7" fmla="*/ 746015 h 4632498"/>
              <a:gd name="connsiteX8" fmla="*/ 1970611 w 4382407"/>
              <a:gd name="connsiteY8" fmla="*/ 948 h 4632498"/>
              <a:gd name="connsiteX9" fmla="*/ 65611 w 4382407"/>
              <a:gd name="connsiteY9" fmla="*/ 889948 h 4632498"/>
              <a:gd name="connsiteX10" fmla="*/ 446611 w 4382407"/>
              <a:gd name="connsiteY10" fmla="*/ 2354682 h 463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2407" h="4632498">
                <a:moveTo>
                  <a:pt x="446611" y="2354682"/>
                </a:moveTo>
                <a:cubicBezTo>
                  <a:pt x="508700" y="2701815"/>
                  <a:pt x="490356" y="2746970"/>
                  <a:pt x="438145" y="2972748"/>
                </a:cubicBezTo>
                <a:cubicBezTo>
                  <a:pt x="385934" y="3198526"/>
                  <a:pt x="123467" y="3469459"/>
                  <a:pt x="133345" y="3709348"/>
                </a:cubicBezTo>
                <a:cubicBezTo>
                  <a:pt x="143223" y="3949237"/>
                  <a:pt x="164389" y="4270971"/>
                  <a:pt x="497411" y="4412082"/>
                </a:cubicBezTo>
                <a:cubicBezTo>
                  <a:pt x="830433" y="4553193"/>
                  <a:pt x="1486600" y="4739460"/>
                  <a:pt x="2131478" y="4556015"/>
                </a:cubicBezTo>
                <a:cubicBezTo>
                  <a:pt x="2776356" y="4372570"/>
                  <a:pt x="4201578" y="3737570"/>
                  <a:pt x="4366678" y="3311415"/>
                </a:cubicBezTo>
                <a:cubicBezTo>
                  <a:pt x="4531778" y="2885260"/>
                  <a:pt x="3347856" y="2426649"/>
                  <a:pt x="3122078" y="1999082"/>
                </a:cubicBezTo>
                <a:cubicBezTo>
                  <a:pt x="2896300" y="1571515"/>
                  <a:pt x="3203922" y="1079037"/>
                  <a:pt x="3012011" y="746015"/>
                </a:cubicBezTo>
                <a:cubicBezTo>
                  <a:pt x="2820100" y="412993"/>
                  <a:pt x="2461678" y="-23041"/>
                  <a:pt x="1970611" y="948"/>
                </a:cubicBezTo>
                <a:cubicBezTo>
                  <a:pt x="1479544" y="24937"/>
                  <a:pt x="322433" y="501892"/>
                  <a:pt x="65611" y="889948"/>
                </a:cubicBezTo>
                <a:cubicBezTo>
                  <a:pt x="-191211" y="1278004"/>
                  <a:pt x="384522" y="2007549"/>
                  <a:pt x="446611" y="2354682"/>
                </a:cubicBezTo>
                <a:close/>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Forma libre: forma 7">
            <a:extLst>
              <a:ext uri="{FF2B5EF4-FFF2-40B4-BE49-F238E27FC236}">
                <a16:creationId xmlns:a16="http://schemas.microsoft.com/office/drawing/2014/main" id="{F6952A39-E3A7-71A7-46A8-E94E58D5ACC1}"/>
              </a:ext>
            </a:extLst>
          </p:cNvPr>
          <p:cNvSpPr/>
          <p:nvPr/>
        </p:nvSpPr>
        <p:spPr>
          <a:xfrm>
            <a:off x="4145466" y="1420927"/>
            <a:ext cx="3927304" cy="4390964"/>
          </a:xfrm>
          <a:custGeom>
            <a:avLst/>
            <a:gdLst>
              <a:gd name="connsiteX0" fmla="*/ 1894222 w 3927304"/>
              <a:gd name="connsiteY0" fmla="*/ 4390964 h 4390964"/>
              <a:gd name="connsiteX1" fmla="*/ 3841556 w 3927304"/>
              <a:gd name="connsiteY1" fmla="*/ 3247964 h 4390964"/>
              <a:gd name="connsiteX2" fmla="*/ 3494422 w 3927304"/>
              <a:gd name="connsiteY2" fmla="*/ 2621431 h 4390964"/>
              <a:gd name="connsiteX3" fmla="*/ 2698556 w 3927304"/>
              <a:gd name="connsiteY3" fmla="*/ 2003364 h 4390964"/>
              <a:gd name="connsiteX4" fmla="*/ 2630822 w 3927304"/>
              <a:gd name="connsiteY4" fmla="*/ 860364 h 4390964"/>
              <a:gd name="connsiteX5" fmla="*/ 2207489 w 3927304"/>
              <a:gd name="connsiteY5" fmla="*/ 225364 h 4390964"/>
              <a:gd name="connsiteX6" fmla="*/ 1648689 w 3927304"/>
              <a:gd name="connsiteY6" fmla="*/ 30631 h 4390964"/>
              <a:gd name="connsiteX7" fmla="*/ 48489 w 3927304"/>
              <a:gd name="connsiteY7" fmla="*/ 809564 h 4390964"/>
              <a:gd name="connsiteX8" fmla="*/ 412556 w 3927304"/>
              <a:gd name="connsiteY8" fmla="*/ 2138831 h 4390964"/>
              <a:gd name="connsiteX9" fmla="*/ 387156 w 3927304"/>
              <a:gd name="connsiteY9" fmla="*/ 3095564 h 4390964"/>
              <a:gd name="connsiteX10" fmla="*/ 82356 w 3927304"/>
              <a:gd name="connsiteY10" fmla="*/ 3722097 h 4390964"/>
              <a:gd name="connsiteX11" fmla="*/ 395622 w 3927304"/>
              <a:gd name="connsiteY11" fmla="*/ 3984564 h 4390964"/>
              <a:gd name="connsiteX12" fmla="*/ 1792622 w 3927304"/>
              <a:gd name="connsiteY12" fmla="*/ 3840631 h 439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7304" h="4390964">
                <a:moveTo>
                  <a:pt x="1894222" y="4390964"/>
                </a:moveTo>
                <a:cubicBezTo>
                  <a:pt x="2734539" y="3966925"/>
                  <a:pt x="3574856" y="3542886"/>
                  <a:pt x="3841556" y="3247964"/>
                </a:cubicBezTo>
                <a:cubicBezTo>
                  <a:pt x="4108256" y="2953042"/>
                  <a:pt x="3684922" y="2828864"/>
                  <a:pt x="3494422" y="2621431"/>
                </a:cubicBezTo>
                <a:cubicBezTo>
                  <a:pt x="3303922" y="2413998"/>
                  <a:pt x="2842489" y="2296875"/>
                  <a:pt x="2698556" y="2003364"/>
                </a:cubicBezTo>
                <a:cubicBezTo>
                  <a:pt x="2554623" y="1709853"/>
                  <a:pt x="2712666" y="1156697"/>
                  <a:pt x="2630822" y="860364"/>
                </a:cubicBezTo>
                <a:cubicBezTo>
                  <a:pt x="2548978" y="564031"/>
                  <a:pt x="2371178" y="363653"/>
                  <a:pt x="2207489" y="225364"/>
                </a:cubicBezTo>
                <a:cubicBezTo>
                  <a:pt x="2043800" y="87075"/>
                  <a:pt x="2008522" y="-66736"/>
                  <a:pt x="1648689" y="30631"/>
                </a:cubicBezTo>
                <a:cubicBezTo>
                  <a:pt x="1288856" y="127998"/>
                  <a:pt x="254511" y="458197"/>
                  <a:pt x="48489" y="809564"/>
                </a:cubicBezTo>
                <a:cubicBezTo>
                  <a:pt x="-157533" y="1160931"/>
                  <a:pt x="356111" y="1757831"/>
                  <a:pt x="412556" y="2138831"/>
                </a:cubicBezTo>
                <a:cubicBezTo>
                  <a:pt x="469000" y="2519831"/>
                  <a:pt x="442189" y="2831686"/>
                  <a:pt x="387156" y="3095564"/>
                </a:cubicBezTo>
                <a:cubicBezTo>
                  <a:pt x="332123" y="3359442"/>
                  <a:pt x="80945" y="3573930"/>
                  <a:pt x="82356" y="3722097"/>
                </a:cubicBezTo>
                <a:cubicBezTo>
                  <a:pt x="83767" y="3870264"/>
                  <a:pt x="110578" y="3964808"/>
                  <a:pt x="395622" y="3984564"/>
                </a:cubicBezTo>
                <a:cubicBezTo>
                  <a:pt x="680666" y="4004320"/>
                  <a:pt x="1236644" y="3922475"/>
                  <a:pt x="1792622" y="3840631"/>
                </a:cubicBezTo>
              </a:path>
            </a:pathLst>
          </a:cu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orma libre: forma 8">
            <a:extLst>
              <a:ext uri="{FF2B5EF4-FFF2-40B4-BE49-F238E27FC236}">
                <a16:creationId xmlns:a16="http://schemas.microsoft.com/office/drawing/2014/main" id="{B4A81FB0-5A9C-54EF-F549-28912B48962A}"/>
              </a:ext>
            </a:extLst>
          </p:cNvPr>
          <p:cNvSpPr/>
          <p:nvPr/>
        </p:nvSpPr>
        <p:spPr>
          <a:xfrm>
            <a:off x="3666132" y="1072115"/>
            <a:ext cx="4859735" cy="5264709"/>
          </a:xfrm>
          <a:custGeom>
            <a:avLst/>
            <a:gdLst>
              <a:gd name="connsiteX0" fmla="*/ 2390490 w 4859735"/>
              <a:gd name="connsiteY0" fmla="*/ 4765176 h 5264709"/>
              <a:gd name="connsiteX1" fmla="*/ 3660490 w 4859735"/>
              <a:gd name="connsiteY1" fmla="*/ 4451909 h 5264709"/>
              <a:gd name="connsiteX2" fmla="*/ 4811956 w 4859735"/>
              <a:gd name="connsiteY2" fmla="*/ 3622176 h 5264709"/>
              <a:gd name="connsiteX3" fmla="*/ 4541023 w 4859735"/>
              <a:gd name="connsiteY3" fmla="*/ 2910976 h 5264709"/>
              <a:gd name="connsiteX4" fmla="*/ 3626623 w 4859735"/>
              <a:gd name="connsiteY4" fmla="*/ 2284443 h 5264709"/>
              <a:gd name="connsiteX5" fmla="*/ 3499623 w 4859735"/>
              <a:gd name="connsiteY5" fmla="*/ 1090643 h 5264709"/>
              <a:gd name="connsiteX6" fmla="*/ 2737623 w 4859735"/>
              <a:gd name="connsiteY6" fmla="*/ 116976 h 5264709"/>
              <a:gd name="connsiteX7" fmla="*/ 1721623 w 4859735"/>
              <a:gd name="connsiteY7" fmla="*/ 108509 h 5264709"/>
              <a:gd name="connsiteX8" fmla="*/ 96023 w 4859735"/>
              <a:gd name="connsiteY8" fmla="*/ 938243 h 5264709"/>
              <a:gd name="connsiteX9" fmla="*/ 214556 w 4859735"/>
              <a:gd name="connsiteY9" fmla="*/ 2098176 h 5264709"/>
              <a:gd name="connsiteX10" fmla="*/ 426223 w 4859735"/>
              <a:gd name="connsiteY10" fmla="*/ 2631576 h 5264709"/>
              <a:gd name="connsiteX11" fmla="*/ 366956 w 4859735"/>
              <a:gd name="connsiteY11" fmla="*/ 3122643 h 5264709"/>
              <a:gd name="connsiteX12" fmla="*/ 19823 w 4859735"/>
              <a:gd name="connsiteY12" fmla="*/ 3935443 h 5264709"/>
              <a:gd name="connsiteX13" fmla="*/ 146823 w 4859735"/>
              <a:gd name="connsiteY13" fmla="*/ 4587376 h 5264709"/>
              <a:gd name="connsiteX14" fmla="*/ 519356 w 4859735"/>
              <a:gd name="connsiteY14" fmla="*/ 5036109 h 5264709"/>
              <a:gd name="connsiteX15" fmla="*/ 2288890 w 4859735"/>
              <a:gd name="connsiteY15" fmla="*/ 5264709 h 5264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59735" h="5264709">
                <a:moveTo>
                  <a:pt x="2390490" y="4765176"/>
                </a:moveTo>
                <a:cubicBezTo>
                  <a:pt x="2823701" y="4703792"/>
                  <a:pt x="3256912" y="4642409"/>
                  <a:pt x="3660490" y="4451909"/>
                </a:cubicBezTo>
                <a:cubicBezTo>
                  <a:pt x="4064068" y="4261409"/>
                  <a:pt x="4665201" y="3878998"/>
                  <a:pt x="4811956" y="3622176"/>
                </a:cubicBezTo>
                <a:cubicBezTo>
                  <a:pt x="4958711" y="3365354"/>
                  <a:pt x="4738578" y="3133931"/>
                  <a:pt x="4541023" y="2910976"/>
                </a:cubicBezTo>
                <a:cubicBezTo>
                  <a:pt x="4343468" y="2688021"/>
                  <a:pt x="3800190" y="2587832"/>
                  <a:pt x="3626623" y="2284443"/>
                </a:cubicBezTo>
                <a:cubicBezTo>
                  <a:pt x="3453056" y="1981054"/>
                  <a:pt x="3647790" y="1451887"/>
                  <a:pt x="3499623" y="1090643"/>
                </a:cubicBezTo>
                <a:cubicBezTo>
                  <a:pt x="3351456" y="729399"/>
                  <a:pt x="3033956" y="280665"/>
                  <a:pt x="2737623" y="116976"/>
                </a:cubicBezTo>
                <a:cubicBezTo>
                  <a:pt x="2441290" y="-46713"/>
                  <a:pt x="2161890" y="-28369"/>
                  <a:pt x="1721623" y="108509"/>
                </a:cubicBezTo>
                <a:cubicBezTo>
                  <a:pt x="1281356" y="245387"/>
                  <a:pt x="347201" y="606632"/>
                  <a:pt x="96023" y="938243"/>
                </a:cubicBezTo>
                <a:cubicBezTo>
                  <a:pt x="-155155" y="1269854"/>
                  <a:pt x="159523" y="1815954"/>
                  <a:pt x="214556" y="2098176"/>
                </a:cubicBezTo>
                <a:cubicBezTo>
                  <a:pt x="269589" y="2380398"/>
                  <a:pt x="400823" y="2460832"/>
                  <a:pt x="426223" y="2631576"/>
                </a:cubicBezTo>
                <a:cubicBezTo>
                  <a:pt x="451623" y="2802320"/>
                  <a:pt x="434689" y="2905332"/>
                  <a:pt x="366956" y="3122643"/>
                </a:cubicBezTo>
                <a:cubicBezTo>
                  <a:pt x="299223" y="3339954"/>
                  <a:pt x="56512" y="3691321"/>
                  <a:pt x="19823" y="3935443"/>
                </a:cubicBezTo>
                <a:cubicBezTo>
                  <a:pt x="-16866" y="4179565"/>
                  <a:pt x="63568" y="4403932"/>
                  <a:pt x="146823" y="4587376"/>
                </a:cubicBezTo>
                <a:cubicBezTo>
                  <a:pt x="230078" y="4770820"/>
                  <a:pt x="162345" y="4923220"/>
                  <a:pt x="519356" y="5036109"/>
                </a:cubicBezTo>
                <a:cubicBezTo>
                  <a:pt x="876367" y="5148998"/>
                  <a:pt x="1582628" y="5206853"/>
                  <a:pt x="2288890" y="5264709"/>
                </a:cubicBezTo>
              </a:path>
            </a:pathLst>
          </a:cu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orma libre: forma 10">
            <a:extLst>
              <a:ext uri="{FF2B5EF4-FFF2-40B4-BE49-F238E27FC236}">
                <a16:creationId xmlns:a16="http://schemas.microsoft.com/office/drawing/2014/main" id="{1E853E95-B758-FEC9-40B3-5D4F9F78203F}"/>
              </a:ext>
            </a:extLst>
          </p:cNvPr>
          <p:cNvSpPr>
            <a:spLocks noChangeAspect="1"/>
          </p:cNvSpPr>
          <p:nvPr/>
        </p:nvSpPr>
        <p:spPr>
          <a:xfrm>
            <a:off x="3968240" y="1438001"/>
            <a:ext cx="4153913" cy="4390964"/>
          </a:xfrm>
          <a:custGeom>
            <a:avLst/>
            <a:gdLst>
              <a:gd name="connsiteX0" fmla="*/ 446611 w 4382407"/>
              <a:gd name="connsiteY0" fmla="*/ 2354682 h 4632498"/>
              <a:gd name="connsiteX1" fmla="*/ 438145 w 4382407"/>
              <a:gd name="connsiteY1" fmla="*/ 2972748 h 4632498"/>
              <a:gd name="connsiteX2" fmla="*/ 133345 w 4382407"/>
              <a:gd name="connsiteY2" fmla="*/ 3709348 h 4632498"/>
              <a:gd name="connsiteX3" fmla="*/ 497411 w 4382407"/>
              <a:gd name="connsiteY3" fmla="*/ 4412082 h 4632498"/>
              <a:gd name="connsiteX4" fmla="*/ 2131478 w 4382407"/>
              <a:gd name="connsiteY4" fmla="*/ 4556015 h 4632498"/>
              <a:gd name="connsiteX5" fmla="*/ 4366678 w 4382407"/>
              <a:gd name="connsiteY5" fmla="*/ 3311415 h 4632498"/>
              <a:gd name="connsiteX6" fmla="*/ 3122078 w 4382407"/>
              <a:gd name="connsiteY6" fmla="*/ 1999082 h 4632498"/>
              <a:gd name="connsiteX7" fmla="*/ 3012011 w 4382407"/>
              <a:gd name="connsiteY7" fmla="*/ 746015 h 4632498"/>
              <a:gd name="connsiteX8" fmla="*/ 1970611 w 4382407"/>
              <a:gd name="connsiteY8" fmla="*/ 948 h 4632498"/>
              <a:gd name="connsiteX9" fmla="*/ 65611 w 4382407"/>
              <a:gd name="connsiteY9" fmla="*/ 889948 h 4632498"/>
              <a:gd name="connsiteX10" fmla="*/ 446611 w 4382407"/>
              <a:gd name="connsiteY10" fmla="*/ 2354682 h 463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2407" h="4632498">
                <a:moveTo>
                  <a:pt x="446611" y="2354682"/>
                </a:moveTo>
                <a:cubicBezTo>
                  <a:pt x="508700" y="2701815"/>
                  <a:pt x="490356" y="2746970"/>
                  <a:pt x="438145" y="2972748"/>
                </a:cubicBezTo>
                <a:cubicBezTo>
                  <a:pt x="385934" y="3198526"/>
                  <a:pt x="123467" y="3469459"/>
                  <a:pt x="133345" y="3709348"/>
                </a:cubicBezTo>
                <a:cubicBezTo>
                  <a:pt x="143223" y="3949237"/>
                  <a:pt x="164389" y="4270971"/>
                  <a:pt x="497411" y="4412082"/>
                </a:cubicBezTo>
                <a:cubicBezTo>
                  <a:pt x="830433" y="4553193"/>
                  <a:pt x="1486600" y="4739460"/>
                  <a:pt x="2131478" y="4556015"/>
                </a:cubicBezTo>
                <a:cubicBezTo>
                  <a:pt x="2776356" y="4372570"/>
                  <a:pt x="4201578" y="3737570"/>
                  <a:pt x="4366678" y="3311415"/>
                </a:cubicBezTo>
                <a:cubicBezTo>
                  <a:pt x="4531778" y="2885260"/>
                  <a:pt x="3347856" y="2426649"/>
                  <a:pt x="3122078" y="1999082"/>
                </a:cubicBezTo>
                <a:cubicBezTo>
                  <a:pt x="2896300" y="1571515"/>
                  <a:pt x="3203922" y="1079037"/>
                  <a:pt x="3012011" y="746015"/>
                </a:cubicBezTo>
                <a:cubicBezTo>
                  <a:pt x="2820100" y="412993"/>
                  <a:pt x="2461678" y="-23041"/>
                  <a:pt x="1970611" y="948"/>
                </a:cubicBezTo>
                <a:cubicBezTo>
                  <a:pt x="1479544" y="24937"/>
                  <a:pt x="322433" y="501892"/>
                  <a:pt x="65611" y="889948"/>
                </a:cubicBezTo>
                <a:cubicBezTo>
                  <a:pt x="-191211" y="1278004"/>
                  <a:pt x="384522" y="2007549"/>
                  <a:pt x="446611" y="2354682"/>
                </a:cubicBezTo>
                <a:close/>
              </a:path>
            </a:pathLst>
          </a:custGeom>
          <a:noFill/>
          <a:ln w="38100">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Forma libre: forma 11">
            <a:extLst>
              <a:ext uri="{FF2B5EF4-FFF2-40B4-BE49-F238E27FC236}">
                <a16:creationId xmlns:a16="http://schemas.microsoft.com/office/drawing/2014/main" id="{18D1DEE9-A07A-F1A4-E46E-0AB84CF37954}"/>
              </a:ext>
            </a:extLst>
          </p:cNvPr>
          <p:cNvSpPr>
            <a:spLocks noChangeAspect="1"/>
          </p:cNvSpPr>
          <p:nvPr/>
        </p:nvSpPr>
        <p:spPr>
          <a:xfrm>
            <a:off x="3776551" y="1160063"/>
            <a:ext cx="4608404" cy="4871391"/>
          </a:xfrm>
          <a:custGeom>
            <a:avLst/>
            <a:gdLst>
              <a:gd name="connsiteX0" fmla="*/ 446611 w 4382407"/>
              <a:gd name="connsiteY0" fmla="*/ 2354682 h 4632498"/>
              <a:gd name="connsiteX1" fmla="*/ 438145 w 4382407"/>
              <a:gd name="connsiteY1" fmla="*/ 2972748 h 4632498"/>
              <a:gd name="connsiteX2" fmla="*/ 133345 w 4382407"/>
              <a:gd name="connsiteY2" fmla="*/ 3709348 h 4632498"/>
              <a:gd name="connsiteX3" fmla="*/ 497411 w 4382407"/>
              <a:gd name="connsiteY3" fmla="*/ 4412082 h 4632498"/>
              <a:gd name="connsiteX4" fmla="*/ 2131478 w 4382407"/>
              <a:gd name="connsiteY4" fmla="*/ 4556015 h 4632498"/>
              <a:gd name="connsiteX5" fmla="*/ 4366678 w 4382407"/>
              <a:gd name="connsiteY5" fmla="*/ 3311415 h 4632498"/>
              <a:gd name="connsiteX6" fmla="*/ 3122078 w 4382407"/>
              <a:gd name="connsiteY6" fmla="*/ 1999082 h 4632498"/>
              <a:gd name="connsiteX7" fmla="*/ 3012011 w 4382407"/>
              <a:gd name="connsiteY7" fmla="*/ 746015 h 4632498"/>
              <a:gd name="connsiteX8" fmla="*/ 1970611 w 4382407"/>
              <a:gd name="connsiteY8" fmla="*/ 948 h 4632498"/>
              <a:gd name="connsiteX9" fmla="*/ 65611 w 4382407"/>
              <a:gd name="connsiteY9" fmla="*/ 889948 h 4632498"/>
              <a:gd name="connsiteX10" fmla="*/ 446611 w 4382407"/>
              <a:gd name="connsiteY10" fmla="*/ 2354682 h 463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2407" h="4632498">
                <a:moveTo>
                  <a:pt x="446611" y="2354682"/>
                </a:moveTo>
                <a:cubicBezTo>
                  <a:pt x="508700" y="2701815"/>
                  <a:pt x="490356" y="2746970"/>
                  <a:pt x="438145" y="2972748"/>
                </a:cubicBezTo>
                <a:cubicBezTo>
                  <a:pt x="385934" y="3198526"/>
                  <a:pt x="123467" y="3469459"/>
                  <a:pt x="133345" y="3709348"/>
                </a:cubicBezTo>
                <a:cubicBezTo>
                  <a:pt x="143223" y="3949237"/>
                  <a:pt x="164389" y="4270971"/>
                  <a:pt x="497411" y="4412082"/>
                </a:cubicBezTo>
                <a:cubicBezTo>
                  <a:pt x="830433" y="4553193"/>
                  <a:pt x="1486600" y="4739460"/>
                  <a:pt x="2131478" y="4556015"/>
                </a:cubicBezTo>
                <a:cubicBezTo>
                  <a:pt x="2776356" y="4372570"/>
                  <a:pt x="4201578" y="3737570"/>
                  <a:pt x="4366678" y="3311415"/>
                </a:cubicBezTo>
                <a:cubicBezTo>
                  <a:pt x="4531778" y="2885260"/>
                  <a:pt x="3347856" y="2426649"/>
                  <a:pt x="3122078" y="1999082"/>
                </a:cubicBezTo>
                <a:cubicBezTo>
                  <a:pt x="2896300" y="1571515"/>
                  <a:pt x="3203922" y="1079037"/>
                  <a:pt x="3012011" y="746015"/>
                </a:cubicBezTo>
                <a:cubicBezTo>
                  <a:pt x="2820100" y="412993"/>
                  <a:pt x="2461678" y="-23041"/>
                  <a:pt x="1970611" y="948"/>
                </a:cubicBezTo>
                <a:cubicBezTo>
                  <a:pt x="1479544" y="24937"/>
                  <a:pt x="322433" y="501892"/>
                  <a:pt x="65611" y="889948"/>
                </a:cubicBezTo>
                <a:cubicBezTo>
                  <a:pt x="-191211" y="1278004"/>
                  <a:pt x="384522" y="2007549"/>
                  <a:pt x="446611" y="2354682"/>
                </a:cubicBezTo>
                <a:close/>
              </a:path>
            </a:pathLst>
          </a:custGeom>
          <a:noFill/>
          <a:ln w="38100">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491A72B2-836B-309F-0DEF-333BE8D61233}"/>
              </a:ext>
            </a:extLst>
          </p:cNvPr>
          <p:cNvSpPr/>
          <p:nvPr/>
        </p:nvSpPr>
        <p:spPr>
          <a:xfrm>
            <a:off x="5918466" y="5744158"/>
            <a:ext cx="62357" cy="257564"/>
          </a:xfrm>
          <a:prstGeom prst="ellipse">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11425A6-3925-2F3F-8687-1342E9EA9BDF}"/>
                  </a:ext>
                </a:extLst>
              </p:cNvPr>
              <p:cNvSpPr txBox="1"/>
              <p:nvPr/>
            </p:nvSpPr>
            <p:spPr>
              <a:xfrm>
                <a:off x="7941731" y="5347139"/>
                <a:ext cx="76136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latin typeface="Cambria Math" panose="02040503050406030204" pitchFamily="18" charset="0"/>
                        </a:rPr>
                        <m:t>𝑋</m:t>
                      </m:r>
                      <m:r>
                        <a:rPr lang="es-ES" sz="2800" b="0" i="1" smtClean="0">
                          <a:latin typeface="Cambria Math" panose="02040503050406030204" pitchFamily="18" charset="0"/>
                        </a:rPr>
                        <m:t>(</m:t>
                      </m:r>
                      <m:r>
                        <a:rPr lang="es-ES" sz="2800" b="0" i="1" smtClean="0">
                          <a:latin typeface="Cambria Math" panose="02040503050406030204" pitchFamily="18" charset="0"/>
                        </a:rPr>
                        <m:t>𝑡</m:t>
                      </m:r>
                      <m:r>
                        <a:rPr lang="es-ES" sz="2800" b="0" i="1" smtClean="0">
                          <a:latin typeface="Cambria Math" panose="02040503050406030204" pitchFamily="18" charset="0"/>
                        </a:rPr>
                        <m:t>)</m:t>
                      </m:r>
                    </m:oMath>
                  </m:oMathPara>
                </a14:m>
                <a:endParaRPr lang="es-ES" sz="2800"/>
              </a:p>
            </p:txBody>
          </p:sp>
        </mc:Choice>
        <mc:Fallback xmlns="">
          <p:sp>
            <p:nvSpPr>
              <p:cNvPr id="15" name="CuadroTexto 14">
                <a:extLst>
                  <a:ext uri="{FF2B5EF4-FFF2-40B4-BE49-F238E27FC236}">
                    <a16:creationId xmlns:a16="http://schemas.microsoft.com/office/drawing/2014/main" id="{D11425A6-3925-2F3F-8687-1342E9EA9BDF}"/>
                  </a:ext>
                </a:extLst>
              </p:cNvPr>
              <p:cNvSpPr txBox="1">
                <a:spLocks noRot="1" noChangeAspect="1" noMove="1" noResize="1" noEditPoints="1" noAdjustHandles="1" noChangeArrowheads="1" noChangeShapeType="1" noTextEdit="1"/>
              </p:cNvSpPr>
              <p:nvPr/>
            </p:nvSpPr>
            <p:spPr>
              <a:xfrm>
                <a:off x="7941731" y="5347139"/>
                <a:ext cx="761362" cy="43088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2B8B2B8-6493-085E-8378-2B6638A2523A}"/>
                  </a:ext>
                </a:extLst>
              </p:cNvPr>
              <p:cNvSpPr txBox="1"/>
              <p:nvPr/>
            </p:nvSpPr>
            <p:spPr>
              <a:xfrm>
                <a:off x="7582087" y="2883320"/>
                <a:ext cx="191873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solidFill>
                            <a:srgbClr val="FF0000"/>
                          </a:solidFill>
                          <a:latin typeface="Cambria Math" panose="02040503050406030204" pitchFamily="18" charset="0"/>
                        </a:rPr>
                        <m:t>(</m:t>
                      </m:r>
                      <m:r>
                        <a:rPr lang="es-ES" sz="2800" b="0" i="1" smtClean="0">
                          <a:solidFill>
                            <a:srgbClr val="FF0000"/>
                          </a:solidFill>
                          <a:latin typeface="Cambria Math" panose="02040503050406030204" pitchFamily="18" charset="0"/>
                        </a:rPr>
                        <m:t>𝑋</m:t>
                      </m:r>
                      <m:r>
                        <a:rPr lang="es-ES" sz="2800" b="0" i="1" smtClean="0">
                          <a:solidFill>
                            <a:srgbClr val="FF0000"/>
                          </a:solidFill>
                          <a:latin typeface="Cambria Math" panose="02040503050406030204" pitchFamily="18" charset="0"/>
                        </a:rPr>
                        <m:t>+</m:t>
                      </m:r>
                      <m:r>
                        <a:rPr lang="es-ES" sz="2800" b="0" i="1" smtClean="0">
                          <a:solidFill>
                            <a:srgbClr val="FF0000"/>
                          </a:solidFill>
                          <a:latin typeface="Cambria Math" panose="02040503050406030204" pitchFamily="18" charset="0"/>
                        </a:rPr>
                        <m:t>𝛿</m:t>
                      </m:r>
                      <m:r>
                        <a:rPr lang="es-ES" sz="2800" b="0" i="1" smtClean="0">
                          <a:solidFill>
                            <a:srgbClr val="FF0000"/>
                          </a:solidFill>
                          <a:latin typeface="Cambria Math" panose="02040503050406030204" pitchFamily="18" charset="0"/>
                        </a:rPr>
                        <m:t>𝑋</m:t>
                      </m:r>
                      <m:r>
                        <a:rPr lang="es-ES" sz="2800" b="0" i="1" smtClean="0">
                          <a:solidFill>
                            <a:srgbClr val="FF0000"/>
                          </a:solidFill>
                          <a:latin typeface="Cambria Math" panose="02040503050406030204" pitchFamily="18" charset="0"/>
                        </a:rPr>
                        <m:t>)(</m:t>
                      </m:r>
                      <m:r>
                        <a:rPr lang="es-ES" sz="2800" b="0" i="1" smtClean="0">
                          <a:solidFill>
                            <a:srgbClr val="FF0000"/>
                          </a:solidFill>
                          <a:latin typeface="Cambria Math" panose="02040503050406030204" pitchFamily="18" charset="0"/>
                        </a:rPr>
                        <m:t>𝑡</m:t>
                      </m:r>
                      <m:r>
                        <a:rPr lang="es-ES" sz="2800" b="0" i="1" smtClean="0">
                          <a:solidFill>
                            <a:srgbClr val="FF0000"/>
                          </a:solidFill>
                          <a:latin typeface="Cambria Math" panose="02040503050406030204" pitchFamily="18" charset="0"/>
                        </a:rPr>
                        <m:t>)</m:t>
                      </m:r>
                    </m:oMath>
                  </m:oMathPara>
                </a14:m>
                <a:endParaRPr lang="es-ES" sz="2800">
                  <a:solidFill>
                    <a:srgbClr val="FF0000"/>
                  </a:solidFill>
                </a:endParaRPr>
              </a:p>
            </p:txBody>
          </p:sp>
        </mc:Choice>
        <mc:Fallback xmlns="">
          <p:sp>
            <p:nvSpPr>
              <p:cNvPr id="16" name="CuadroTexto 15">
                <a:extLst>
                  <a:ext uri="{FF2B5EF4-FFF2-40B4-BE49-F238E27FC236}">
                    <a16:creationId xmlns:a16="http://schemas.microsoft.com/office/drawing/2014/main" id="{92B8B2B8-6493-085E-8378-2B6638A2523A}"/>
                  </a:ext>
                </a:extLst>
              </p:cNvPr>
              <p:cNvSpPr txBox="1">
                <a:spLocks noRot="1" noChangeAspect="1" noMove="1" noResize="1" noEditPoints="1" noAdjustHandles="1" noChangeArrowheads="1" noChangeShapeType="1" noTextEdit="1"/>
              </p:cNvSpPr>
              <p:nvPr/>
            </p:nvSpPr>
            <p:spPr>
              <a:xfrm>
                <a:off x="7582087" y="2883320"/>
                <a:ext cx="1918730" cy="430887"/>
              </a:xfrm>
              <a:prstGeom prst="rect">
                <a:avLst/>
              </a:prstGeom>
              <a:blipFill>
                <a:blip r:embed="rId3"/>
                <a:stretch>
                  <a:fillRect/>
                </a:stretch>
              </a:blipFill>
            </p:spPr>
            <p:txBody>
              <a:bodyPr/>
              <a:lstStyle/>
              <a:p>
                <a:r>
                  <a:rPr lang="en-US">
                    <a:noFill/>
                  </a:rPr>
                  <a:t> </a:t>
                </a:r>
              </a:p>
            </p:txBody>
          </p:sp>
        </mc:Fallback>
      </mc:AlternateContent>
      <p:sp>
        <p:nvSpPr>
          <p:cNvPr id="17" name="Elipse 16">
            <a:extLst>
              <a:ext uri="{FF2B5EF4-FFF2-40B4-BE49-F238E27FC236}">
                <a16:creationId xmlns:a16="http://schemas.microsoft.com/office/drawing/2014/main" id="{F1AF7754-3D05-D83E-7AA8-0EB36E0DFD16}"/>
              </a:ext>
            </a:extLst>
          </p:cNvPr>
          <p:cNvSpPr/>
          <p:nvPr/>
        </p:nvSpPr>
        <p:spPr>
          <a:xfrm>
            <a:off x="6017378" y="5778026"/>
            <a:ext cx="80407" cy="143121"/>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F9DA42A8-FCB0-52EF-E181-D5A3F447B2BC}"/>
                  </a:ext>
                </a:extLst>
              </p:cNvPr>
              <p:cNvSpPr txBox="1"/>
              <p:nvPr/>
            </p:nvSpPr>
            <p:spPr>
              <a:xfrm>
                <a:off x="5003776" y="4647201"/>
                <a:ext cx="189173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200" b="0" i="1" smtClean="0">
                          <a:latin typeface="Cambria Math" panose="02040503050406030204" pitchFamily="18" charset="0"/>
                        </a:rPr>
                        <m:t>𝑀</m:t>
                      </m:r>
                      <m:r>
                        <a:rPr lang="es-ES" sz="3200" b="0" i="1" smtClean="0">
                          <a:latin typeface="Cambria Math" panose="02040503050406030204" pitchFamily="18" charset="0"/>
                        </a:rPr>
                        <m:t>=</m:t>
                      </m:r>
                      <m:r>
                        <m:rPr>
                          <m:sty m:val="p"/>
                        </m:rPr>
                        <a:rPr lang="es-ES" sz="3200" b="0" i="0" smtClean="0">
                          <a:latin typeface="Cambria Math" panose="02040503050406030204" pitchFamily="18" charset="0"/>
                        </a:rPr>
                        <m:t>Φ</m:t>
                      </m:r>
                      <m:r>
                        <a:rPr lang="es-ES" sz="3200" b="0" i="1" smtClean="0">
                          <a:latin typeface="Cambria Math" panose="02040503050406030204" pitchFamily="18" charset="0"/>
                        </a:rPr>
                        <m:t>(</m:t>
                      </m:r>
                      <m:r>
                        <a:rPr lang="es-ES" sz="3200" b="0" i="1" smtClean="0">
                          <a:latin typeface="Cambria Math" panose="02040503050406030204" pitchFamily="18" charset="0"/>
                        </a:rPr>
                        <m:t>𝑇</m:t>
                      </m:r>
                      <m:r>
                        <a:rPr lang="es-ES" sz="3200" b="0" i="1" smtClean="0">
                          <a:latin typeface="Cambria Math" panose="02040503050406030204" pitchFamily="18" charset="0"/>
                        </a:rPr>
                        <m:t>)</m:t>
                      </m:r>
                    </m:oMath>
                  </m:oMathPara>
                </a14:m>
                <a:endParaRPr lang="es-ES" sz="3200"/>
              </a:p>
            </p:txBody>
          </p:sp>
        </mc:Choice>
        <mc:Fallback xmlns="">
          <p:sp>
            <p:nvSpPr>
              <p:cNvPr id="18" name="CuadroTexto 17">
                <a:extLst>
                  <a:ext uri="{FF2B5EF4-FFF2-40B4-BE49-F238E27FC236}">
                    <a16:creationId xmlns:a16="http://schemas.microsoft.com/office/drawing/2014/main" id="{F9DA42A8-FCB0-52EF-E181-D5A3F447B2BC}"/>
                  </a:ext>
                </a:extLst>
              </p:cNvPr>
              <p:cNvSpPr txBox="1">
                <a:spLocks noRot="1" noChangeAspect="1" noMove="1" noResize="1" noEditPoints="1" noAdjustHandles="1" noChangeArrowheads="1" noChangeShapeType="1" noTextEdit="1"/>
              </p:cNvSpPr>
              <p:nvPr/>
            </p:nvSpPr>
            <p:spPr>
              <a:xfrm>
                <a:off x="5003776" y="4647201"/>
                <a:ext cx="1891736" cy="4924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921877E-2CC7-A540-A960-7A44276F5F1E}"/>
                  </a:ext>
                </a:extLst>
              </p:cNvPr>
              <p:cNvSpPr txBox="1"/>
              <p:nvPr/>
            </p:nvSpPr>
            <p:spPr>
              <a:xfrm>
                <a:off x="6290918" y="5972735"/>
                <a:ext cx="91448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solidFill>
                            <a:srgbClr val="0070C0"/>
                          </a:solidFill>
                          <a:latin typeface="Cambria Math" panose="02040503050406030204" pitchFamily="18" charset="0"/>
                        </a:rPr>
                        <m:t>𝑋</m:t>
                      </m:r>
                      <m:r>
                        <a:rPr lang="es-ES" sz="2800" b="0" i="1" smtClean="0">
                          <a:solidFill>
                            <a:srgbClr val="0070C0"/>
                          </a:solidFill>
                          <a:latin typeface="Cambria Math" panose="02040503050406030204" pitchFamily="18" charset="0"/>
                        </a:rPr>
                        <m:t>(</m:t>
                      </m:r>
                      <m:sSub>
                        <m:sSubPr>
                          <m:ctrlPr>
                            <a:rPr lang="es-ES" sz="2800" b="0" i="1" smtClean="0">
                              <a:solidFill>
                                <a:srgbClr val="0070C0"/>
                              </a:solidFill>
                              <a:latin typeface="Cambria Math" panose="02040503050406030204" pitchFamily="18" charset="0"/>
                            </a:rPr>
                          </m:ctrlPr>
                        </m:sSubPr>
                        <m:e>
                          <m:r>
                            <a:rPr lang="es-ES" sz="2800" b="0" i="1" smtClean="0">
                              <a:solidFill>
                                <a:srgbClr val="0070C0"/>
                              </a:solidFill>
                              <a:latin typeface="Cambria Math" panose="02040503050406030204" pitchFamily="18" charset="0"/>
                            </a:rPr>
                            <m:t>𝑡</m:t>
                          </m:r>
                        </m:e>
                        <m:sub>
                          <m:r>
                            <a:rPr lang="es-ES" sz="2800" b="0" i="1" smtClean="0">
                              <a:solidFill>
                                <a:srgbClr val="0070C0"/>
                              </a:solidFill>
                              <a:latin typeface="Cambria Math" panose="02040503050406030204" pitchFamily="18" charset="0"/>
                            </a:rPr>
                            <m:t>0</m:t>
                          </m:r>
                        </m:sub>
                      </m:sSub>
                      <m:r>
                        <a:rPr lang="es-ES" sz="2800" b="0" i="1" smtClean="0">
                          <a:solidFill>
                            <a:srgbClr val="0070C0"/>
                          </a:solidFill>
                          <a:latin typeface="Cambria Math" panose="02040503050406030204" pitchFamily="18" charset="0"/>
                        </a:rPr>
                        <m:t>)</m:t>
                      </m:r>
                    </m:oMath>
                  </m:oMathPara>
                </a14:m>
                <a:endParaRPr lang="es-ES" sz="2800">
                  <a:solidFill>
                    <a:srgbClr val="0070C0"/>
                  </a:solidFill>
                </a:endParaRPr>
              </a:p>
            </p:txBody>
          </p:sp>
        </mc:Choice>
        <mc:Fallback xmlns="">
          <p:sp>
            <p:nvSpPr>
              <p:cNvPr id="19" name="CuadroTexto 18">
                <a:extLst>
                  <a:ext uri="{FF2B5EF4-FFF2-40B4-BE49-F238E27FC236}">
                    <a16:creationId xmlns:a16="http://schemas.microsoft.com/office/drawing/2014/main" id="{B921877E-2CC7-A540-A960-7A44276F5F1E}"/>
                  </a:ext>
                </a:extLst>
              </p:cNvPr>
              <p:cNvSpPr txBox="1">
                <a:spLocks noRot="1" noChangeAspect="1" noMove="1" noResize="1" noEditPoints="1" noAdjustHandles="1" noChangeArrowheads="1" noChangeShapeType="1" noTextEdit="1"/>
              </p:cNvSpPr>
              <p:nvPr/>
            </p:nvSpPr>
            <p:spPr>
              <a:xfrm>
                <a:off x="6290918" y="5972735"/>
                <a:ext cx="914481" cy="430887"/>
              </a:xfrm>
              <a:prstGeom prst="rect">
                <a:avLst/>
              </a:prstGeom>
              <a:blipFill>
                <a:blip r:embed="rId5"/>
                <a:stretch>
                  <a:fillRect/>
                </a:stretch>
              </a:blipFill>
            </p:spPr>
            <p:txBody>
              <a:bodyPr/>
              <a:lstStyle/>
              <a:p>
                <a:r>
                  <a:rPr lang="en-US">
                    <a:noFill/>
                  </a:rPr>
                  <a:t> </a:t>
                </a:r>
              </a:p>
            </p:txBody>
          </p:sp>
        </mc:Fallback>
      </mc:AlternateContent>
      <p:grpSp>
        <p:nvGrpSpPr>
          <p:cNvPr id="28" name="Grupo 27">
            <a:extLst>
              <a:ext uri="{FF2B5EF4-FFF2-40B4-BE49-F238E27FC236}">
                <a16:creationId xmlns:a16="http://schemas.microsoft.com/office/drawing/2014/main" id="{B1C21C55-541B-CED4-759C-74C88F84B87A}"/>
              </a:ext>
            </a:extLst>
          </p:cNvPr>
          <p:cNvGrpSpPr/>
          <p:nvPr/>
        </p:nvGrpSpPr>
        <p:grpSpPr>
          <a:xfrm>
            <a:off x="-3166" y="-3556"/>
            <a:ext cx="12200147" cy="840333"/>
            <a:chOff x="-3166" y="-3556"/>
            <a:chExt cx="12200147" cy="840333"/>
          </a:xfrm>
        </p:grpSpPr>
        <p:sp>
          <p:nvSpPr>
            <p:cNvPr id="26" name="Rectángulo 25">
              <a:extLst>
                <a:ext uri="{FF2B5EF4-FFF2-40B4-BE49-F238E27FC236}">
                  <a16:creationId xmlns:a16="http://schemas.microsoft.com/office/drawing/2014/main" id="{BCBB3846-D535-F134-6429-FDA1F0BE66F4}"/>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 3. Estabilidad</a:t>
              </a:r>
              <a:endParaRPr lang="es-ES"/>
            </a:p>
          </p:txBody>
        </p:sp>
        <p:sp>
          <p:nvSpPr>
            <p:cNvPr id="27" name="Rectángulo 26">
              <a:extLst>
                <a:ext uri="{FF2B5EF4-FFF2-40B4-BE49-F238E27FC236}">
                  <a16:creationId xmlns:a16="http://schemas.microsoft.com/office/drawing/2014/main" id="{8B3CEEDB-04E2-23D9-2753-FF48838A94CA}"/>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41430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animBg="1"/>
      <p:bldP spid="8" grpId="0" animBg="1"/>
      <p:bldP spid="9" grpId="0" animBg="1"/>
      <p:bldP spid="11" grpId="0" animBg="1"/>
      <p:bldP spid="12" grpId="0" animBg="1"/>
      <p:bldP spid="13" grpId="0" animBg="1"/>
      <p:bldP spid="15" grpId="0"/>
      <p:bldP spid="16" grpId="0"/>
      <p:bldP spid="17" grpId="0"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93E829E9-4633-F99E-C871-431812C31665}"/>
              </a:ext>
            </a:extLst>
          </p:cNvPr>
          <p:cNvGrpSpPr/>
          <p:nvPr/>
        </p:nvGrpSpPr>
        <p:grpSpPr>
          <a:xfrm>
            <a:off x="3807265" y="1172150"/>
            <a:ext cx="5303187" cy="5311984"/>
            <a:chOff x="2296704" y="1925108"/>
            <a:chExt cx="5303187" cy="5311984"/>
          </a:xfrm>
        </p:grpSpPr>
        <p:sp>
          <p:nvSpPr>
            <p:cNvPr id="20" name="Elipse 19">
              <a:extLst>
                <a:ext uri="{FF2B5EF4-FFF2-40B4-BE49-F238E27FC236}">
                  <a16:creationId xmlns:a16="http://schemas.microsoft.com/office/drawing/2014/main" id="{5FFD61EB-6B8D-5BCA-85CE-683D573D6D67}"/>
                </a:ext>
              </a:extLst>
            </p:cNvPr>
            <p:cNvSpPr/>
            <p:nvPr/>
          </p:nvSpPr>
          <p:spPr>
            <a:xfrm>
              <a:off x="2296704" y="2628688"/>
              <a:ext cx="4608404" cy="460840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4" name="Grupo 3">
              <a:extLst>
                <a:ext uri="{FF2B5EF4-FFF2-40B4-BE49-F238E27FC236}">
                  <a16:creationId xmlns:a16="http://schemas.microsoft.com/office/drawing/2014/main" id="{D983A2CF-CE08-B5FA-F1EB-237B6C6850E2}"/>
                </a:ext>
              </a:extLst>
            </p:cNvPr>
            <p:cNvGrpSpPr/>
            <p:nvPr/>
          </p:nvGrpSpPr>
          <p:grpSpPr>
            <a:xfrm>
              <a:off x="4592108" y="1925108"/>
              <a:ext cx="3007783" cy="3007784"/>
              <a:chOff x="5864647" y="406400"/>
              <a:chExt cx="3007783" cy="3007784"/>
            </a:xfrm>
          </p:grpSpPr>
          <p:cxnSp>
            <p:nvCxnSpPr>
              <p:cNvPr id="22" name="Conector recto de flecha 21">
                <a:extLst>
                  <a:ext uri="{FF2B5EF4-FFF2-40B4-BE49-F238E27FC236}">
                    <a16:creationId xmlns:a16="http://schemas.microsoft.com/office/drawing/2014/main" id="{0BF3E200-B8AA-CD95-AD31-928101CFE54C}"/>
                  </a:ext>
                </a:extLst>
              </p:cNvPr>
              <p:cNvCxnSpPr/>
              <p:nvPr/>
            </p:nvCxnSpPr>
            <p:spPr>
              <a:xfrm flipV="1">
                <a:off x="5873445" y="406400"/>
                <a:ext cx="0" cy="300778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D6B1B957-AADC-799D-C691-BEA45AD05C04}"/>
                  </a:ext>
                </a:extLst>
              </p:cNvPr>
              <p:cNvCxnSpPr>
                <a:cxnSpLocks/>
              </p:cNvCxnSpPr>
              <p:nvPr/>
            </p:nvCxnSpPr>
            <p:spPr>
              <a:xfrm rot="5400000" flipV="1">
                <a:off x="7368539" y="1910292"/>
                <a:ext cx="0" cy="300778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4" name="Elipse 23">
              <a:extLst>
                <a:ext uri="{FF2B5EF4-FFF2-40B4-BE49-F238E27FC236}">
                  <a16:creationId xmlns:a16="http://schemas.microsoft.com/office/drawing/2014/main" id="{F62BE189-2E58-FC1B-AECF-F44CB272FFBB}"/>
                </a:ext>
              </a:extLst>
            </p:cNvPr>
            <p:cNvSpPr/>
            <p:nvPr/>
          </p:nvSpPr>
          <p:spPr>
            <a:xfrm>
              <a:off x="3653803" y="3994586"/>
              <a:ext cx="1876609" cy="1876609"/>
            </a:xfrm>
            <a:prstGeom prst="ellipse">
              <a:avLst/>
            </a:prstGeom>
            <a:noFill/>
            <a:ln w="381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3BBA045-023A-B34F-46BD-8849ED37774F}"/>
                  </a:ext>
                </a:extLst>
              </p:cNvPr>
              <p:cNvSpPr txBox="1"/>
              <p:nvPr/>
            </p:nvSpPr>
            <p:spPr>
              <a:xfrm>
                <a:off x="7126273" y="4233587"/>
                <a:ext cx="23243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1</m:t>
                      </m:r>
                    </m:oMath>
                  </m:oMathPara>
                </a14:m>
                <a:endParaRPr lang="es-ES" sz="2400"/>
              </a:p>
            </p:txBody>
          </p:sp>
        </mc:Choice>
        <mc:Fallback xmlns="">
          <p:sp>
            <p:nvSpPr>
              <p:cNvPr id="6" name="CuadroTexto 5">
                <a:extLst>
                  <a:ext uri="{FF2B5EF4-FFF2-40B4-BE49-F238E27FC236}">
                    <a16:creationId xmlns:a16="http://schemas.microsoft.com/office/drawing/2014/main" id="{33BBA045-023A-B34F-46BD-8849ED37774F}"/>
                  </a:ext>
                </a:extLst>
              </p:cNvPr>
              <p:cNvSpPr txBox="1">
                <a:spLocks noRot="1" noChangeAspect="1" noMove="1" noResize="1" noEditPoints="1" noAdjustHandles="1" noChangeArrowheads="1" noChangeShapeType="1" noTextEdit="1"/>
              </p:cNvSpPr>
              <p:nvPr/>
            </p:nvSpPr>
            <p:spPr>
              <a:xfrm>
                <a:off x="7126273" y="4233587"/>
                <a:ext cx="232436" cy="369332"/>
              </a:xfrm>
              <a:prstGeom prst="rect">
                <a:avLst/>
              </a:prstGeom>
              <a:blipFill>
                <a:blip r:embed="rId2"/>
                <a:stretch>
                  <a:fillRect l="-31579" r="-34211"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23877FC-1B95-DCD2-B38E-1FE12E0EBF98}"/>
                  </a:ext>
                </a:extLst>
              </p:cNvPr>
              <p:cNvSpPr txBox="1"/>
              <p:nvPr/>
            </p:nvSpPr>
            <p:spPr>
              <a:xfrm>
                <a:off x="8911113" y="4325920"/>
                <a:ext cx="8404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i="1" smtClean="0">
                          <a:latin typeface="Cambria Math" panose="02040503050406030204" pitchFamily="18" charset="0"/>
                          <a:ea typeface="Cambria Math" panose="02040503050406030204" pitchFamily="18" charset="0"/>
                        </a:rPr>
                        <m:t>ℜ𝔢</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𝜆</m:t>
                      </m:r>
                      <m:r>
                        <a:rPr lang="es-ES" sz="2400" b="0" i="1" smtClean="0">
                          <a:latin typeface="Cambria Math" panose="02040503050406030204" pitchFamily="18" charset="0"/>
                          <a:ea typeface="Cambria Math" panose="02040503050406030204" pitchFamily="18" charset="0"/>
                        </a:rPr>
                        <m:t>)</m:t>
                      </m:r>
                    </m:oMath>
                  </m:oMathPara>
                </a14:m>
                <a:endParaRPr lang="es-ES" sz="2400"/>
              </a:p>
            </p:txBody>
          </p:sp>
        </mc:Choice>
        <mc:Fallback xmlns="">
          <p:sp>
            <p:nvSpPr>
              <p:cNvPr id="7" name="CuadroTexto 6">
                <a:extLst>
                  <a:ext uri="{FF2B5EF4-FFF2-40B4-BE49-F238E27FC236}">
                    <a16:creationId xmlns:a16="http://schemas.microsoft.com/office/drawing/2014/main" id="{123877FC-1B95-DCD2-B38E-1FE12E0EBF98}"/>
                  </a:ext>
                </a:extLst>
              </p:cNvPr>
              <p:cNvSpPr txBox="1">
                <a:spLocks noRot="1" noChangeAspect="1" noMove="1" noResize="1" noEditPoints="1" noAdjustHandles="1" noChangeArrowheads="1" noChangeShapeType="1" noTextEdit="1"/>
              </p:cNvSpPr>
              <p:nvPr/>
            </p:nvSpPr>
            <p:spPr>
              <a:xfrm>
                <a:off x="8911113" y="4325920"/>
                <a:ext cx="840423" cy="369332"/>
              </a:xfrm>
              <a:prstGeom prst="rect">
                <a:avLst/>
              </a:prstGeom>
              <a:blipFill>
                <a:blip r:embed="rId3"/>
                <a:stretch>
                  <a:fillRect l="-10145" r="-12319"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98C8E59-AE95-1C4E-A313-CC1F034EF98C}"/>
                  </a:ext>
                </a:extLst>
              </p:cNvPr>
              <p:cNvSpPr txBox="1"/>
              <p:nvPr/>
            </p:nvSpPr>
            <p:spPr>
              <a:xfrm>
                <a:off x="5024712" y="1172150"/>
                <a:ext cx="94461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ea typeface="Cambria Math" panose="02040503050406030204" pitchFamily="18" charset="0"/>
                        </a:rPr>
                        <m:t>𝔗𝔪</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𝜆</m:t>
                      </m:r>
                      <m:r>
                        <a:rPr lang="es-ES" sz="2400" b="0" i="1" smtClean="0">
                          <a:latin typeface="Cambria Math" panose="02040503050406030204" pitchFamily="18" charset="0"/>
                          <a:ea typeface="Cambria Math" panose="02040503050406030204" pitchFamily="18" charset="0"/>
                        </a:rPr>
                        <m:t>)</m:t>
                      </m:r>
                    </m:oMath>
                  </m:oMathPara>
                </a14:m>
                <a:endParaRPr lang="es-ES" sz="2400"/>
              </a:p>
            </p:txBody>
          </p:sp>
        </mc:Choice>
        <mc:Fallback xmlns="">
          <p:sp>
            <p:nvSpPr>
              <p:cNvPr id="8" name="CuadroTexto 7">
                <a:extLst>
                  <a:ext uri="{FF2B5EF4-FFF2-40B4-BE49-F238E27FC236}">
                    <a16:creationId xmlns:a16="http://schemas.microsoft.com/office/drawing/2014/main" id="{D98C8E59-AE95-1C4E-A313-CC1F034EF98C}"/>
                  </a:ext>
                </a:extLst>
              </p:cNvPr>
              <p:cNvSpPr txBox="1">
                <a:spLocks noRot="1" noChangeAspect="1" noMove="1" noResize="1" noEditPoints="1" noAdjustHandles="1" noChangeArrowheads="1" noChangeShapeType="1" noTextEdit="1"/>
              </p:cNvSpPr>
              <p:nvPr/>
            </p:nvSpPr>
            <p:spPr>
              <a:xfrm>
                <a:off x="5024712" y="1172150"/>
                <a:ext cx="944618" cy="369332"/>
              </a:xfrm>
              <a:prstGeom prst="rect">
                <a:avLst/>
              </a:prstGeom>
              <a:blipFill>
                <a:blip r:embed="rId4"/>
                <a:stretch>
                  <a:fillRect l="-7742" r="-11613" b="-34426"/>
                </a:stretch>
              </a:blipFill>
            </p:spPr>
            <p:txBody>
              <a:bodyPr/>
              <a:lstStyle/>
              <a:p>
                <a:r>
                  <a:rPr lang="en-US">
                    <a:noFill/>
                  </a:rPr>
                  <a:t> </a:t>
                </a:r>
              </a:p>
            </p:txBody>
          </p:sp>
        </mc:Fallback>
      </mc:AlternateContent>
      <p:sp>
        <p:nvSpPr>
          <p:cNvPr id="9" name="Elipse 8">
            <a:extLst>
              <a:ext uri="{FF2B5EF4-FFF2-40B4-BE49-F238E27FC236}">
                <a16:creationId xmlns:a16="http://schemas.microsoft.com/office/drawing/2014/main" id="{3D49893F-3C54-34EE-6DF5-454CF1D08C2C}"/>
              </a:ext>
            </a:extLst>
          </p:cNvPr>
          <p:cNvSpPr/>
          <p:nvPr/>
        </p:nvSpPr>
        <p:spPr>
          <a:xfrm>
            <a:off x="6938275" y="4093574"/>
            <a:ext cx="172800" cy="17271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Elipse 9">
            <a:extLst>
              <a:ext uri="{FF2B5EF4-FFF2-40B4-BE49-F238E27FC236}">
                <a16:creationId xmlns:a16="http://schemas.microsoft.com/office/drawing/2014/main" id="{C2000CA5-0DF7-CA3B-CB7A-2D0E33B42715}"/>
              </a:ext>
            </a:extLst>
          </p:cNvPr>
          <p:cNvSpPr/>
          <p:nvPr/>
        </p:nvSpPr>
        <p:spPr>
          <a:xfrm>
            <a:off x="6458858" y="4605131"/>
            <a:ext cx="172800" cy="172716"/>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33467BD3-B90D-8577-9136-F3FE7205C9E1}"/>
              </a:ext>
            </a:extLst>
          </p:cNvPr>
          <p:cNvSpPr/>
          <p:nvPr/>
        </p:nvSpPr>
        <p:spPr>
          <a:xfrm>
            <a:off x="6458858" y="3582020"/>
            <a:ext cx="172800" cy="172716"/>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AFD54B57-14D7-7AEB-7384-A3E87F9FE067}"/>
              </a:ext>
            </a:extLst>
          </p:cNvPr>
          <p:cNvSpPr/>
          <p:nvPr/>
        </p:nvSpPr>
        <p:spPr>
          <a:xfrm>
            <a:off x="7272309" y="2855116"/>
            <a:ext cx="172800" cy="172716"/>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68D35F8E-2B0E-CDFA-C422-8CE2EBB5D918}"/>
              </a:ext>
            </a:extLst>
          </p:cNvPr>
          <p:cNvSpPr/>
          <p:nvPr/>
        </p:nvSpPr>
        <p:spPr>
          <a:xfrm flipV="1">
            <a:off x="7272309" y="5332035"/>
            <a:ext cx="172800" cy="172716"/>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E58F2B7-0035-9085-0578-27C837B6FDDE}"/>
                  </a:ext>
                </a:extLst>
              </p:cNvPr>
              <p:cNvSpPr txBox="1"/>
              <p:nvPr/>
            </p:nvSpPr>
            <p:spPr>
              <a:xfrm>
                <a:off x="8557806" y="2243740"/>
                <a:ext cx="2816284" cy="430887"/>
              </a:xfrm>
              <a:prstGeom prst="rect">
                <a:avLst/>
              </a:prstGeom>
              <a:noFill/>
            </p:spPr>
            <p:txBody>
              <a:bodyPr wrap="none" lIns="0" tIns="0" rIns="0" bIns="0" rtlCol="0">
                <a:spAutoFit/>
              </a:bodyPr>
              <a:lstStyle/>
              <a:p>
                <a14:m>
                  <m:oMath xmlns:m="http://schemas.openxmlformats.org/officeDocument/2006/math">
                    <m:d>
                      <m:dPr>
                        <m:begChr m:val="|"/>
                        <m:endChr m:val="|"/>
                        <m:ctrlPr>
                          <a:rPr lang="es-ES" sz="2800" b="0" i="1" smtClean="0">
                            <a:latin typeface="Cambria Math" panose="02040503050406030204" pitchFamily="18" charset="0"/>
                          </a:rPr>
                        </m:ctrlPr>
                      </m:dPr>
                      <m:e>
                        <m:sSub>
                          <m:sSubPr>
                            <m:ctrlPr>
                              <a:rPr lang="es-ES" sz="2800" b="0" i="1" smtClean="0">
                                <a:latin typeface="Cambria Math" panose="02040503050406030204" pitchFamily="18" charset="0"/>
                              </a:rPr>
                            </m:ctrlPr>
                          </m:sSubPr>
                          <m:e>
                            <m:r>
                              <a:rPr lang="es-ES" sz="2800" b="0" i="1" smtClean="0">
                                <a:latin typeface="Cambria Math" panose="02040503050406030204" pitchFamily="18" charset="0"/>
                              </a:rPr>
                              <m:t>𝜆</m:t>
                            </m:r>
                          </m:e>
                          <m:sub>
                            <m:r>
                              <a:rPr lang="es-ES" sz="2800" b="0" i="1" smtClean="0">
                                <a:latin typeface="Cambria Math" panose="02040503050406030204" pitchFamily="18" charset="0"/>
                              </a:rPr>
                              <m:t>𝑖</m:t>
                            </m:r>
                          </m:sub>
                        </m:sSub>
                      </m:e>
                    </m:d>
                    <m:r>
                      <a:rPr lang="es-ES" sz="2800" b="0" i="1" smtClean="0">
                        <a:latin typeface="Cambria Math" panose="02040503050406030204" pitchFamily="18" charset="0"/>
                      </a:rPr>
                      <m:t>&gt;1</m:t>
                    </m:r>
                  </m:oMath>
                </a14:m>
                <a:r>
                  <a:rPr lang="es-ES" sz="2800"/>
                  <a:t>! Inestable</a:t>
                </a:r>
              </a:p>
            </p:txBody>
          </p:sp>
        </mc:Choice>
        <mc:Fallback xmlns="">
          <p:sp>
            <p:nvSpPr>
              <p:cNvPr id="14" name="CuadroTexto 13">
                <a:extLst>
                  <a:ext uri="{FF2B5EF4-FFF2-40B4-BE49-F238E27FC236}">
                    <a16:creationId xmlns:a16="http://schemas.microsoft.com/office/drawing/2014/main" id="{2E58F2B7-0035-9085-0578-27C837B6FDDE}"/>
                  </a:ext>
                </a:extLst>
              </p:cNvPr>
              <p:cNvSpPr txBox="1">
                <a:spLocks noRot="1" noChangeAspect="1" noMove="1" noResize="1" noEditPoints="1" noAdjustHandles="1" noChangeArrowheads="1" noChangeShapeType="1" noTextEdit="1"/>
              </p:cNvSpPr>
              <p:nvPr/>
            </p:nvSpPr>
            <p:spPr>
              <a:xfrm>
                <a:off x="8557806" y="2243740"/>
                <a:ext cx="2816284" cy="430887"/>
              </a:xfrm>
              <a:prstGeom prst="rect">
                <a:avLst/>
              </a:prstGeom>
              <a:blipFill>
                <a:blip r:embed="rId5"/>
                <a:stretch>
                  <a:fillRect t="-23944" r="-2814" b="-50704"/>
                </a:stretch>
              </a:blipFill>
            </p:spPr>
            <p:txBody>
              <a:bodyPr/>
              <a:lstStyle/>
              <a:p>
                <a:r>
                  <a:rPr lang="en-US">
                    <a:noFill/>
                  </a:rPr>
                  <a:t> </a:t>
                </a:r>
              </a:p>
            </p:txBody>
          </p:sp>
        </mc:Fallback>
      </mc:AlternateContent>
      <p:cxnSp>
        <p:nvCxnSpPr>
          <p:cNvPr id="16" name="Conector recto de flecha 15">
            <a:extLst>
              <a:ext uri="{FF2B5EF4-FFF2-40B4-BE49-F238E27FC236}">
                <a16:creationId xmlns:a16="http://schemas.microsoft.com/office/drawing/2014/main" id="{0AA1E8CB-CA9A-24F2-B759-73020E4E7D2D}"/>
              </a:ext>
            </a:extLst>
          </p:cNvPr>
          <p:cNvCxnSpPr>
            <a:cxnSpLocks/>
          </p:cNvCxnSpPr>
          <p:nvPr/>
        </p:nvCxnSpPr>
        <p:spPr>
          <a:xfrm flipH="1">
            <a:off x="7445109" y="2459184"/>
            <a:ext cx="1112697" cy="482290"/>
          </a:xfrm>
          <a:prstGeom prst="straightConnector1">
            <a:avLst/>
          </a:prstGeom>
          <a:ln w="38100">
            <a:solidFill>
              <a:srgbClr val="0070C0"/>
            </a:solidFill>
            <a:tailEnd type="triangle"/>
          </a:ln>
        </p:spPr>
        <p:style>
          <a:lnRef idx="2">
            <a:schemeClr val="accent1"/>
          </a:lnRef>
          <a:fillRef idx="0">
            <a:schemeClr val="accent1"/>
          </a:fillRef>
          <a:effectRef idx="1">
            <a:schemeClr val="accent1"/>
          </a:effectRef>
          <a:fontRef idx="minor">
            <a:schemeClr val="tx1"/>
          </a:fontRef>
        </p:style>
      </p:cxnSp>
      <p:grpSp>
        <p:nvGrpSpPr>
          <p:cNvPr id="28" name="Grupo 27">
            <a:extLst>
              <a:ext uri="{FF2B5EF4-FFF2-40B4-BE49-F238E27FC236}">
                <a16:creationId xmlns:a16="http://schemas.microsoft.com/office/drawing/2014/main" id="{014AB805-3985-1202-1169-7DC733D91364}"/>
              </a:ext>
            </a:extLst>
          </p:cNvPr>
          <p:cNvGrpSpPr/>
          <p:nvPr/>
        </p:nvGrpSpPr>
        <p:grpSpPr>
          <a:xfrm>
            <a:off x="-3166" y="-3556"/>
            <a:ext cx="12200147" cy="840333"/>
            <a:chOff x="-3166" y="-3556"/>
            <a:chExt cx="12200147" cy="840333"/>
          </a:xfrm>
        </p:grpSpPr>
        <p:sp>
          <p:nvSpPr>
            <p:cNvPr id="26" name="Rectángulo 25">
              <a:extLst>
                <a:ext uri="{FF2B5EF4-FFF2-40B4-BE49-F238E27FC236}">
                  <a16:creationId xmlns:a16="http://schemas.microsoft.com/office/drawing/2014/main" id="{A6D0DB54-DC9E-AAF3-CC45-AE044971E997}"/>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 3. Estabilidad</a:t>
              </a:r>
              <a:endParaRPr lang="es-ES"/>
            </a:p>
          </p:txBody>
        </p:sp>
        <p:sp>
          <p:nvSpPr>
            <p:cNvPr id="27" name="Rectángulo 26">
              <a:extLst>
                <a:ext uri="{FF2B5EF4-FFF2-40B4-BE49-F238E27FC236}">
                  <a16:creationId xmlns:a16="http://schemas.microsoft.com/office/drawing/2014/main" id="{4F378813-4B69-256E-9590-2B47DF0BC022}"/>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3180014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B9424D26-3C0D-7BF6-ED60-9A789C0F44E1}"/>
              </a:ext>
            </a:extLst>
          </p:cNvPr>
          <p:cNvSpPr/>
          <p:nvPr/>
        </p:nvSpPr>
        <p:spPr>
          <a:xfrm>
            <a:off x="761999" y="1282699"/>
            <a:ext cx="2040467" cy="5223933"/>
          </a:xfrm>
          <a:prstGeom prst="roundRect">
            <a:avLst/>
          </a:prstGeom>
          <a:solidFill>
            <a:srgbClr val="20AEE2"/>
          </a:solid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 name="Rectángulo: esquinas redondeadas 3">
                <a:extLst>
                  <a:ext uri="{FF2B5EF4-FFF2-40B4-BE49-F238E27FC236}">
                    <a16:creationId xmlns:a16="http://schemas.microsoft.com/office/drawing/2014/main" id="{A1B126CA-BC91-3B5E-8219-DE8171D66405}"/>
                  </a:ext>
                </a:extLst>
              </p:cNvPr>
              <p:cNvSpPr/>
              <p:nvPr/>
            </p:nvSpPr>
            <p:spPr>
              <a:xfrm>
                <a:off x="1066800" y="2176463"/>
                <a:ext cx="1430867" cy="956733"/>
              </a:xfrm>
              <a:prstGeom prst="roundRect">
                <a:avLst/>
              </a:prstGeom>
              <a:solidFill>
                <a:srgbClr val="20AEE2"/>
              </a:solidFill>
              <a:ln>
                <a:solidFill>
                  <a:srgbClr val="1B47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𝜇</m:t>
                      </m:r>
                    </m:oMath>
                  </m:oMathPara>
                </a14:m>
                <a:endParaRPr lang="es-ES"/>
              </a:p>
            </p:txBody>
          </p:sp>
        </mc:Choice>
        <mc:Fallback xmlns="">
          <p:sp>
            <p:nvSpPr>
              <p:cNvPr id="4" name="Rectángulo: esquinas redondeadas 3">
                <a:extLst>
                  <a:ext uri="{FF2B5EF4-FFF2-40B4-BE49-F238E27FC236}">
                    <a16:creationId xmlns:a16="http://schemas.microsoft.com/office/drawing/2014/main" id="{A1B126CA-BC91-3B5E-8219-DE8171D66405}"/>
                  </a:ext>
                </a:extLst>
              </p:cNvPr>
              <p:cNvSpPr>
                <a:spLocks noRot="1" noChangeAspect="1" noMove="1" noResize="1" noEditPoints="1" noAdjustHandles="1" noChangeArrowheads="1" noChangeShapeType="1" noTextEdit="1"/>
              </p:cNvSpPr>
              <p:nvPr/>
            </p:nvSpPr>
            <p:spPr>
              <a:xfrm>
                <a:off x="1066800" y="2176463"/>
                <a:ext cx="1430867" cy="956733"/>
              </a:xfrm>
              <a:prstGeom prst="roundRect">
                <a:avLst/>
              </a:prstGeom>
              <a:blipFill>
                <a:blip r:embed="rId2"/>
                <a:stretch>
                  <a:fillRect/>
                </a:stretch>
              </a:blipFill>
              <a:ln>
                <a:solidFill>
                  <a:srgbClr val="1B478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ángulo: esquinas redondeadas 4">
                <a:extLst>
                  <a:ext uri="{FF2B5EF4-FFF2-40B4-BE49-F238E27FC236}">
                    <a16:creationId xmlns:a16="http://schemas.microsoft.com/office/drawing/2014/main" id="{280F2B45-8E0C-1077-4890-21D6C036F350}"/>
                  </a:ext>
                </a:extLst>
              </p:cNvPr>
              <p:cNvSpPr/>
              <p:nvPr/>
            </p:nvSpPr>
            <p:spPr>
              <a:xfrm>
                <a:off x="1066800" y="3361267"/>
                <a:ext cx="1430867" cy="1066800"/>
              </a:xfrm>
              <a:prstGeom prst="roundRect">
                <a:avLst/>
              </a:prstGeom>
              <a:solidFill>
                <a:srgbClr val="20AEE2"/>
              </a:solidFill>
              <a:ln>
                <a:solidFill>
                  <a:srgbClr val="1B47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oMath>
                  </m:oMathPara>
                </a14:m>
                <a:endParaRPr lang="es-ES" b="0"/>
              </a:p>
            </p:txBody>
          </p:sp>
        </mc:Choice>
        <mc:Fallback xmlns="">
          <p:sp>
            <p:nvSpPr>
              <p:cNvPr id="5" name="Rectángulo: esquinas redondeadas 4">
                <a:extLst>
                  <a:ext uri="{FF2B5EF4-FFF2-40B4-BE49-F238E27FC236}">
                    <a16:creationId xmlns:a16="http://schemas.microsoft.com/office/drawing/2014/main" id="{280F2B45-8E0C-1077-4890-21D6C036F350}"/>
                  </a:ext>
                </a:extLst>
              </p:cNvPr>
              <p:cNvSpPr>
                <a:spLocks noRot="1" noChangeAspect="1" noMove="1" noResize="1" noEditPoints="1" noAdjustHandles="1" noChangeArrowheads="1" noChangeShapeType="1" noTextEdit="1"/>
              </p:cNvSpPr>
              <p:nvPr/>
            </p:nvSpPr>
            <p:spPr>
              <a:xfrm>
                <a:off x="1066800" y="3361267"/>
                <a:ext cx="1430867" cy="1066800"/>
              </a:xfrm>
              <a:prstGeom prst="roundRect">
                <a:avLst/>
              </a:prstGeom>
              <a:blipFill>
                <a:blip r:embed="rId3"/>
                <a:stretch>
                  <a:fillRect/>
                </a:stretch>
              </a:blipFill>
              <a:ln>
                <a:solidFill>
                  <a:srgbClr val="1B4781"/>
                </a:solidFill>
              </a:ln>
            </p:spPr>
            <p:txBody>
              <a:bodyPr/>
              <a:lstStyle/>
              <a:p>
                <a:r>
                  <a:rPr lang="en-US">
                    <a:noFill/>
                  </a:rPr>
                  <a:t> </a:t>
                </a:r>
              </a:p>
            </p:txBody>
          </p:sp>
        </mc:Fallback>
      </mc:AlternateContent>
      <p:sp>
        <p:nvSpPr>
          <p:cNvPr id="6" name="Rectángulo: esquinas redondeadas 5">
            <a:extLst>
              <a:ext uri="{FF2B5EF4-FFF2-40B4-BE49-F238E27FC236}">
                <a16:creationId xmlns:a16="http://schemas.microsoft.com/office/drawing/2014/main" id="{135E1B8A-0BE2-F624-1E6B-538D6F5CB741}"/>
              </a:ext>
            </a:extLst>
          </p:cNvPr>
          <p:cNvSpPr/>
          <p:nvPr/>
        </p:nvSpPr>
        <p:spPr>
          <a:xfrm>
            <a:off x="1066800" y="4656138"/>
            <a:ext cx="1430867" cy="1325563"/>
          </a:xfrm>
          <a:prstGeom prst="roundRect">
            <a:avLst/>
          </a:prstGeom>
          <a:solidFill>
            <a:srgbClr val="20AEE2"/>
          </a:solidFill>
          <a:ln>
            <a:solidFill>
              <a:srgbClr val="1B47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latin typeface="Times New Roman"/>
                <a:cs typeface="Times New Roman"/>
              </a:rPr>
              <a:t>Temporal </a:t>
            </a:r>
            <a:r>
              <a:rPr lang="es-ES" err="1">
                <a:latin typeface="Times New Roman"/>
                <a:cs typeface="Times New Roman"/>
              </a:rPr>
              <a:t>Scheme</a:t>
            </a:r>
            <a:endParaRPr lang="es-ES">
              <a:latin typeface="Times New Roman"/>
              <a:cs typeface="Times New Roman"/>
            </a:endParaRPr>
          </a:p>
        </p:txBody>
      </p:sp>
      <p:sp>
        <p:nvSpPr>
          <p:cNvPr id="8" name="CuadroTexto 7">
            <a:extLst>
              <a:ext uri="{FF2B5EF4-FFF2-40B4-BE49-F238E27FC236}">
                <a16:creationId xmlns:a16="http://schemas.microsoft.com/office/drawing/2014/main" id="{CBA303CD-90D2-4CFF-729B-3A7C6F7D1DC2}"/>
              </a:ext>
            </a:extLst>
          </p:cNvPr>
          <p:cNvSpPr txBox="1"/>
          <p:nvPr/>
        </p:nvSpPr>
        <p:spPr>
          <a:xfrm>
            <a:off x="1375831" y="1424035"/>
            <a:ext cx="812801" cy="369332"/>
          </a:xfrm>
          <a:prstGeom prst="rect">
            <a:avLst/>
          </a:prstGeom>
          <a:noFill/>
        </p:spPr>
        <p:txBody>
          <a:bodyPr wrap="square" rtlCol="0">
            <a:spAutoFit/>
          </a:bodyPr>
          <a:lstStyle/>
          <a:p>
            <a:r>
              <a:rPr lang="es-ES">
                <a:solidFill>
                  <a:schemeClr val="bg1"/>
                </a:solidFill>
                <a:latin typeface="Times New Roman"/>
                <a:cs typeface="Times New Roman"/>
              </a:rPr>
              <a:t>Inputs</a:t>
            </a:r>
          </a:p>
        </p:txBody>
      </p:sp>
      <p:pic>
        <p:nvPicPr>
          <p:cNvPr id="11" name="Imagen 10" descr="Un cd de música&#10;&#10;El contenido generado por IA puede ser incorrecto.">
            <a:extLst>
              <a:ext uri="{FF2B5EF4-FFF2-40B4-BE49-F238E27FC236}">
                <a16:creationId xmlns:a16="http://schemas.microsoft.com/office/drawing/2014/main" id="{11B610E2-D561-2BC6-0A26-0BF8947FC3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1866" y="2150531"/>
            <a:ext cx="3488267" cy="3488267"/>
          </a:xfrm>
          <a:prstGeom prst="ellipse">
            <a:avLst/>
          </a:prstGeom>
        </p:spPr>
      </p:pic>
      <p:sp>
        <p:nvSpPr>
          <p:cNvPr id="12" name="Rectángulo: esquinas redondeadas 11">
            <a:extLst>
              <a:ext uri="{FF2B5EF4-FFF2-40B4-BE49-F238E27FC236}">
                <a16:creationId xmlns:a16="http://schemas.microsoft.com/office/drawing/2014/main" id="{74983213-0F43-3891-85EE-669B58F529B8}"/>
              </a:ext>
            </a:extLst>
          </p:cNvPr>
          <p:cNvSpPr/>
          <p:nvPr/>
        </p:nvSpPr>
        <p:spPr>
          <a:xfrm>
            <a:off x="9313332" y="1282699"/>
            <a:ext cx="2040467" cy="5223933"/>
          </a:xfrm>
          <a:prstGeom prst="roundRect">
            <a:avLst/>
          </a:prstGeom>
          <a:solidFill>
            <a:srgbClr val="F3AD4F"/>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2F24E5F7-4E48-67B3-82ED-6EAAF4C86CFF}"/>
              </a:ext>
            </a:extLst>
          </p:cNvPr>
          <p:cNvSpPr txBox="1"/>
          <p:nvPr/>
        </p:nvSpPr>
        <p:spPr>
          <a:xfrm>
            <a:off x="9806513" y="1424035"/>
            <a:ext cx="1054104" cy="369332"/>
          </a:xfrm>
          <a:prstGeom prst="rect">
            <a:avLst/>
          </a:prstGeom>
          <a:noFill/>
        </p:spPr>
        <p:txBody>
          <a:bodyPr wrap="square" rtlCol="0">
            <a:spAutoFit/>
          </a:bodyPr>
          <a:lstStyle/>
          <a:p>
            <a:r>
              <a:rPr lang="es-ES">
                <a:solidFill>
                  <a:schemeClr val="bg1"/>
                </a:solidFill>
                <a:latin typeface="Times New Roman"/>
                <a:cs typeface="Times New Roman"/>
              </a:rPr>
              <a:t>Outputs</a:t>
            </a:r>
          </a:p>
        </p:txBody>
      </p:sp>
      <p:sp>
        <p:nvSpPr>
          <p:cNvPr id="14" name="Rectángulo: esquinas redondeadas 13">
            <a:extLst>
              <a:ext uri="{FF2B5EF4-FFF2-40B4-BE49-F238E27FC236}">
                <a16:creationId xmlns:a16="http://schemas.microsoft.com/office/drawing/2014/main" id="{E73D3BF7-168E-D06D-7F46-339329673822}"/>
              </a:ext>
            </a:extLst>
          </p:cNvPr>
          <p:cNvSpPr/>
          <p:nvPr/>
        </p:nvSpPr>
        <p:spPr>
          <a:xfrm>
            <a:off x="9618132" y="2176463"/>
            <a:ext cx="1430867" cy="956733"/>
          </a:xfrm>
          <a:prstGeom prst="roundRect">
            <a:avLst/>
          </a:prstGeom>
          <a:solidFill>
            <a:srgbClr val="F3AD4F"/>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err="1">
                <a:latin typeface="Times New Roman"/>
                <a:cs typeface="Times New Roman"/>
              </a:rPr>
              <a:t>CIs</a:t>
            </a:r>
            <a:r>
              <a:rPr lang="es-ES">
                <a:latin typeface="Times New Roman"/>
                <a:cs typeface="Times New Roman"/>
              </a:rPr>
              <a:t> familia </a:t>
            </a:r>
            <a:r>
              <a:rPr lang="es-ES" err="1">
                <a:latin typeface="Times New Roman"/>
                <a:cs typeface="Times New Roman"/>
              </a:rPr>
              <a:t>Lyapunov</a:t>
            </a:r>
            <a:endParaRPr lang="es-ES">
              <a:latin typeface="Times New Roman"/>
              <a:cs typeface="Times New Roman"/>
            </a:endParaRPr>
          </a:p>
        </p:txBody>
      </p:sp>
      <p:sp>
        <p:nvSpPr>
          <p:cNvPr id="15" name="Rectángulo: esquinas redondeadas 14">
            <a:extLst>
              <a:ext uri="{FF2B5EF4-FFF2-40B4-BE49-F238E27FC236}">
                <a16:creationId xmlns:a16="http://schemas.microsoft.com/office/drawing/2014/main" id="{C00975C8-51CA-EC71-B27B-40C2C0EAD024}"/>
              </a:ext>
            </a:extLst>
          </p:cNvPr>
          <p:cNvSpPr/>
          <p:nvPr/>
        </p:nvSpPr>
        <p:spPr>
          <a:xfrm>
            <a:off x="9618132" y="3416298"/>
            <a:ext cx="1430867" cy="956733"/>
          </a:xfrm>
          <a:prstGeom prst="roundRect">
            <a:avLst/>
          </a:prstGeom>
          <a:solidFill>
            <a:srgbClr val="F3AD4F"/>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err="1">
                <a:latin typeface="Times New Roman"/>
                <a:cs typeface="Times New Roman"/>
              </a:rPr>
              <a:t>Plot</a:t>
            </a:r>
            <a:r>
              <a:rPr lang="es-ES">
                <a:latin typeface="Times New Roman"/>
                <a:cs typeface="Times New Roman"/>
              </a:rPr>
              <a:t> familia </a:t>
            </a:r>
            <a:r>
              <a:rPr lang="es-ES" err="1">
                <a:latin typeface="Times New Roman"/>
                <a:cs typeface="Times New Roman"/>
              </a:rPr>
              <a:t>Lyapunov</a:t>
            </a:r>
            <a:endParaRPr lang="es-ES">
              <a:latin typeface="Times New Roman"/>
              <a:cs typeface="Times New Roman"/>
            </a:endParaRPr>
          </a:p>
        </p:txBody>
      </p:sp>
      <p:sp>
        <p:nvSpPr>
          <p:cNvPr id="16" name="Rectángulo: esquinas redondeadas 15">
            <a:extLst>
              <a:ext uri="{FF2B5EF4-FFF2-40B4-BE49-F238E27FC236}">
                <a16:creationId xmlns:a16="http://schemas.microsoft.com/office/drawing/2014/main" id="{A0EDEDDA-87D5-1103-C755-D69943E6D961}"/>
              </a:ext>
            </a:extLst>
          </p:cNvPr>
          <p:cNvSpPr/>
          <p:nvPr/>
        </p:nvSpPr>
        <p:spPr>
          <a:xfrm>
            <a:off x="9618132" y="4682065"/>
            <a:ext cx="1430867" cy="956733"/>
          </a:xfrm>
          <a:prstGeom prst="roundRect">
            <a:avLst/>
          </a:prstGeom>
          <a:solidFill>
            <a:srgbClr val="F3AD4F"/>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err="1">
                <a:latin typeface="Times New Roman"/>
                <a:cs typeface="Times New Roman"/>
              </a:rPr>
              <a:t>Plots</a:t>
            </a:r>
            <a:r>
              <a:rPr lang="es-ES">
                <a:latin typeface="Times New Roman"/>
                <a:cs typeface="Times New Roman"/>
              </a:rPr>
              <a:t> estabilidad</a:t>
            </a:r>
          </a:p>
        </p:txBody>
      </p:sp>
      <p:sp>
        <p:nvSpPr>
          <p:cNvPr id="23" name="Flecha: hacia abajo 22">
            <a:extLst>
              <a:ext uri="{FF2B5EF4-FFF2-40B4-BE49-F238E27FC236}">
                <a16:creationId xmlns:a16="http://schemas.microsoft.com/office/drawing/2014/main" id="{F5E53A31-4076-5FD6-80BF-FA02E029A0A2}"/>
              </a:ext>
            </a:extLst>
          </p:cNvPr>
          <p:cNvSpPr/>
          <p:nvPr/>
        </p:nvSpPr>
        <p:spPr>
          <a:xfrm rot="16200000">
            <a:off x="3268132" y="3263897"/>
            <a:ext cx="753533" cy="1261533"/>
          </a:xfrm>
          <a:prstGeom prst="downArrow">
            <a:avLst/>
          </a:prstGeom>
          <a:solidFill>
            <a:srgbClr val="0070C0"/>
          </a:solidFill>
          <a:ln>
            <a:solidFill>
              <a:srgbClr val="1B47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Flecha: hacia abajo 23">
            <a:extLst>
              <a:ext uri="{FF2B5EF4-FFF2-40B4-BE49-F238E27FC236}">
                <a16:creationId xmlns:a16="http://schemas.microsoft.com/office/drawing/2014/main" id="{C9BC2C1C-85EF-DE66-441C-0416DDA7E727}"/>
              </a:ext>
            </a:extLst>
          </p:cNvPr>
          <p:cNvSpPr/>
          <p:nvPr/>
        </p:nvSpPr>
        <p:spPr>
          <a:xfrm rot="16200000">
            <a:off x="8199966" y="3263897"/>
            <a:ext cx="753533" cy="1261533"/>
          </a:xfrm>
          <a:prstGeom prst="downArrow">
            <a:avLst/>
          </a:prstGeom>
          <a:solidFill>
            <a:srgbClr val="F3AD4F"/>
          </a:solidFill>
          <a:ln>
            <a:solidFill>
              <a:srgbClr val="E971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9" name="Grupo 18">
            <a:extLst>
              <a:ext uri="{FF2B5EF4-FFF2-40B4-BE49-F238E27FC236}">
                <a16:creationId xmlns:a16="http://schemas.microsoft.com/office/drawing/2014/main" id="{828227A0-B5DE-7BFE-DA4E-D343E73A9D5F}"/>
              </a:ext>
            </a:extLst>
          </p:cNvPr>
          <p:cNvGrpSpPr/>
          <p:nvPr/>
        </p:nvGrpSpPr>
        <p:grpSpPr>
          <a:xfrm>
            <a:off x="-3166" y="-3556"/>
            <a:ext cx="12200147" cy="840333"/>
            <a:chOff x="-3166" y="-3556"/>
            <a:chExt cx="12200147" cy="840333"/>
          </a:xfrm>
        </p:grpSpPr>
        <p:sp>
          <p:nvSpPr>
            <p:cNvPr id="17" name="Rectángulo 16">
              <a:extLst>
                <a:ext uri="{FF2B5EF4-FFF2-40B4-BE49-F238E27FC236}">
                  <a16:creationId xmlns:a16="http://schemas.microsoft.com/office/drawing/2014/main" id="{D774068E-DA65-2256-89C2-028DB149EA4F}"/>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 4. Especificación de software</a:t>
              </a:r>
              <a:endParaRPr lang="es-ES"/>
            </a:p>
          </p:txBody>
        </p:sp>
        <p:sp>
          <p:nvSpPr>
            <p:cNvPr id="18" name="Rectángulo 17">
              <a:extLst>
                <a:ext uri="{FF2B5EF4-FFF2-40B4-BE49-F238E27FC236}">
                  <a16:creationId xmlns:a16="http://schemas.microsoft.com/office/drawing/2014/main" id="{39398CEF-AB03-259A-C2C0-0691397CA71E}"/>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02065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20512E8-2B6A-F78C-3F1B-964A4336843F}"/>
              </a:ext>
            </a:extLst>
          </p:cNvPr>
          <p:cNvPicPr>
            <a:picLocks noGrp="1" noChangeAspect="1"/>
          </p:cNvPicPr>
          <p:nvPr>
            <p:ph idx="1"/>
          </p:nvPr>
        </p:nvPicPr>
        <p:blipFill>
          <a:blip r:embed="rId3"/>
          <a:stretch>
            <a:fillRect/>
          </a:stretch>
        </p:blipFill>
        <p:spPr>
          <a:xfrm>
            <a:off x="663750" y="2025719"/>
            <a:ext cx="1964553" cy="3474720"/>
          </a:xfrm>
          <a:prstGeom prst="rect">
            <a:avLst/>
          </a:prstGeom>
        </p:spPr>
      </p:pic>
      <p:sp>
        <p:nvSpPr>
          <p:cNvPr id="10" name="CuadroTexto 9">
            <a:extLst>
              <a:ext uri="{FF2B5EF4-FFF2-40B4-BE49-F238E27FC236}">
                <a16:creationId xmlns:a16="http://schemas.microsoft.com/office/drawing/2014/main" id="{77FDB694-8949-7EC3-2A71-A027CCEF6160}"/>
              </a:ext>
            </a:extLst>
          </p:cNvPr>
          <p:cNvSpPr txBox="1"/>
          <p:nvPr/>
        </p:nvSpPr>
        <p:spPr>
          <a:xfrm>
            <a:off x="852860" y="1616033"/>
            <a:ext cx="1586332" cy="369332"/>
          </a:xfrm>
          <a:prstGeom prst="rect">
            <a:avLst/>
          </a:prstGeom>
          <a:noFill/>
        </p:spPr>
        <p:txBody>
          <a:bodyPr wrap="none" rtlCol="0">
            <a:spAutoFit/>
          </a:bodyPr>
          <a:lstStyle/>
          <a:p>
            <a:r>
              <a:rPr lang="es-ES">
                <a:latin typeface="Times New Roman"/>
                <a:cs typeface="Times New Roman"/>
              </a:rPr>
              <a:t>Runge-</a:t>
            </a:r>
            <a:r>
              <a:rPr lang="es-ES" err="1">
                <a:latin typeface="Times New Roman"/>
                <a:cs typeface="Times New Roman"/>
              </a:rPr>
              <a:t>Kutta</a:t>
            </a:r>
            <a:r>
              <a:rPr lang="es-ES">
                <a:latin typeface="Times New Roman"/>
                <a:cs typeface="Times New Roman"/>
              </a:rPr>
              <a:t> 4</a:t>
            </a:r>
          </a:p>
        </p:txBody>
      </p:sp>
      <p:sp>
        <p:nvSpPr>
          <p:cNvPr id="11" name="CuadroTexto 10">
            <a:extLst>
              <a:ext uri="{FF2B5EF4-FFF2-40B4-BE49-F238E27FC236}">
                <a16:creationId xmlns:a16="http://schemas.microsoft.com/office/drawing/2014/main" id="{E701436C-2845-B1E3-B30C-8AD28B8C627B}"/>
              </a:ext>
            </a:extLst>
          </p:cNvPr>
          <p:cNvSpPr txBox="1"/>
          <p:nvPr/>
        </p:nvSpPr>
        <p:spPr>
          <a:xfrm>
            <a:off x="4396998" y="1616033"/>
            <a:ext cx="2422458" cy="369332"/>
          </a:xfrm>
          <a:prstGeom prst="rect">
            <a:avLst/>
          </a:prstGeom>
          <a:noFill/>
        </p:spPr>
        <p:txBody>
          <a:bodyPr wrap="none" rtlCol="0">
            <a:spAutoFit/>
          </a:bodyPr>
          <a:lstStyle/>
          <a:p>
            <a:r>
              <a:rPr lang="es-ES" err="1">
                <a:latin typeface="Times New Roman"/>
                <a:cs typeface="Times New Roman"/>
              </a:rPr>
              <a:t>Embedded</a:t>
            </a:r>
            <a:r>
              <a:rPr lang="es-ES">
                <a:latin typeface="Times New Roman"/>
                <a:cs typeface="Times New Roman"/>
              </a:rPr>
              <a:t> Runge-</a:t>
            </a:r>
            <a:r>
              <a:rPr lang="es-ES" err="1">
                <a:latin typeface="Times New Roman"/>
                <a:cs typeface="Times New Roman"/>
              </a:rPr>
              <a:t>Kutta</a:t>
            </a:r>
            <a:endParaRPr lang="es-ES">
              <a:latin typeface="Times New Roman"/>
              <a:cs typeface="Times New Roman"/>
            </a:endParaRPr>
          </a:p>
        </p:txBody>
      </p:sp>
      <p:sp>
        <p:nvSpPr>
          <p:cNvPr id="12" name="CuadroTexto 11">
            <a:extLst>
              <a:ext uri="{FF2B5EF4-FFF2-40B4-BE49-F238E27FC236}">
                <a16:creationId xmlns:a16="http://schemas.microsoft.com/office/drawing/2014/main" id="{56030704-2DCB-D307-E10F-67E9D7C18330}"/>
              </a:ext>
            </a:extLst>
          </p:cNvPr>
          <p:cNvSpPr txBox="1"/>
          <p:nvPr/>
        </p:nvSpPr>
        <p:spPr>
          <a:xfrm>
            <a:off x="9927759" y="1506022"/>
            <a:ext cx="633507" cy="369332"/>
          </a:xfrm>
          <a:prstGeom prst="rect">
            <a:avLst/>
          </a:prstGeom>
          <a:noFill/>
        </p:spPr>
        <p:txBody>
          <a:bodyPr wrap="none" rtlCol="0">
            <a:spAutoFit/>
          </a:bodyPr>
          <a:lstStyle/>
          <a:p>
            <a:r>
              <a:rPr lang="es-ES">
                <a:latin typeface="Times New Roman"/>
                <a:cs typeface="Times New Roman"/>
              </a:rPr>
              <a:t>GBS</a:t>
            </a:r>
          </a:p>
        </p:txBody>
      </p:sp>
      <p:pic>
        <p:nvPicPr>
          <p:cNvPr id="14" name="Imagen 13">
            <a:extLst>
              <a:ext uri="{FF2B5EF4-FFF2-40B4-BE49-F238E27FC236}">
                <a16:creationId xmlns:a16="http://schemas.microsoft.com/office/drawing/2014/main" id="{1D1BEB8D-483D-206E-EDEF-945AEED65897}"/>
              </a:ext>
            </a:extLst>
          </p:cNvPr>
          <p:cNvPicPr>
            <a:picLocks noChangeAspect="1"/>
          </p:cNvPicPr>
          <p:nvPr/>
        </p:nvPicPr>
        <p:blipFill>
          <a:blip r:embed="rId4"/>
          <a:stretch>
            <a:fillRect/>
          </a:stretch>
        </p:blipFill>
        <p:spPr>
          <a:xfrm>
            <a:off x="8606092" y="2142935"/>
            <a:ext cx="3460660" cy="3240288"/>
          </a:xfrm>
          <a:prstGeom prst="rect">
            <a:avLst/>
          </a:prstGeom>
        </p:spPr>
      </p:pic>
      <p:pic>
        <p:nvPicPr>
          <p:cNvPr id="16" name="Imagen 15">
            <a:extLst>
              <a:ext uri="{FF2B5EF4-FFF2-40B4-BE49-F238E27FC236}">
                <a16:creationId xmlns:a16="http://schemas.microsoft.com/office/drawing/2014/main" id="{0A0DC85F-4222-AEA8-691E-B32EB2BEDB7B}"/>
              </a:ext>
            </a:extLst>
          </p:cNvPr>
          <p:cNvPicPr>
            <a:picLocks noChangeAspect="1"/>
          </p:cNvPicPr>
          <p:nvPr/>
        </p:nvPicPr>
        <p:blipFill>
          <a:blip r:embed="rId5"/>
          <a:srcRect t="9207"/>
          <a:stretch>
            <a:fillRect/>
          </a:stretch>
        </p:blipFill>
        <p:spPr>
          <a:xfrm>
            <a:off x="2864373" y="2142935"/>
            <a:ext cx="5616591" cy="3154817"/>
          </a:xfrm>
          <a:prstGeom prst="rect">
            <a:avLst/>
          </a:prstGeom>
        </p:spPr>
      </p:pic>
      <p:grpSp>
        <p:nvGrpSpPr>
          <p:cNvPr id="9" name="Grupo 8">
            <a:extLst>
              <a:ext uri="{FF2B5EF4-FFF2-40B4-BE49-F238E27FC236}">
                <a16:creationId xmlns:a16="http://schemas.microsoft.com/office/drawing/2014/main" id="{4C99EEB8-B14A-084A-BA2B-04196A1FE070}"/>
              </a:ext>
            </a:extLst>
          </p:cNvPr>
          <p:cNvGrpSpPr/>
          <p:nvPr/>
        </p:nvGrpSpPr>
        <p:grpSpPr>
          <a:xfrm>
            <a:off x="-3166" y="-3556"/>
            <a:ext cx="12200147" cy="840333"/>
            <a:chOff x="-3166" y="-3556"/>
            <a:chExt cx="12200147" cy="840333"/>
          </a:xfrm>
        </p:grpSpPr>
        <p:sp>
          <p:nvSpPr>
            <p:cNvPr id="7" name="Rectángulo 6">
              <a:extLst>
                <a:ext uri="{FF2B5EF4-FFF2-40B4-BE49-F238E27FC236}">
                  <a16:creationId xmlns:a16="http://schemas.microsoft.com/office/drawing/2014/main" id="{343BE2AB-46B7-9DD0-1469-C4B536D4325A}"/>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 5. Esquemas temporales</a:t>
              </a:r>
              <a:endParaRPr lang="es-ES"/>
            </a:p>
          </p:txBody>
        </p:sp>
        <p:sp>
          <p:nvSpPr>
            <p:cNvPr id="8" name="Rectángulo 7">
              <a:extLst>
                <a:ext uri="{FF2B5EF4-FFF2-40B4-BE49-F238E27FC236}">
                  <a16:creationId xmlns:a16="http://schemas.microsoft.com/office/drawing/2014/main" id="{43D6D480-F2F6-368F-B01F-FFF5421E1119}"/>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49615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agrama de flujo: proceso alternativo 3">
            <a:extLst>
              <a:ext uri="{FF2B5EF4-FFF2-40B4-BE49-F238E27FC236}">
                <a16:creationId xmlns:a16="http://schemas.microsoft.com/office/drawing/2014/main" id="{DA049D5E-D71B-99CA-A917-34E803F138C6}"/>
              </a:ext>
            </a:extLst>
          </p:cNvPr>
          <p:cNvSpPr/>
          <p:nvPr/>
        </p:nvSpPr>
        <p:spPr>
          <a:xfrm>
            <a:off x="6277689" y="1052051"/>
            <a:ext cx="1827697" cy="67745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latin typeface="Times New Roman"/>
                <a:cs typeface="Times New Roman"/>
              </a:rPr>
              <a:t>Resolución del problema</a:t>
            </a:r>
          </a:p>
        </p:txBody>
      </p:sp>
      <p:sp>
        <p:nvSpPr>
          <p:cNvPr id="7" name="Diagrama de flujo: proceso alternativo 6">
            <a:extLst>
              <a:ext uri="{FF2B5EF4-FFF2-40B4-BE49-F238E27FC236}">
                <a16:creationId xmlns:a16="http://schemas.microsoft.com/office/drawing/2014/main" id="{1C910F79-1899-E011-50EB-BB9498478011}"/>
              </a:ext>
            </a:extLst>
          </p:cNvPr>
          <p:cNvSpPr/>
          <p:nvPr/>
        </p:nvSpPr>
        <p:spPr>
          <a:xfrm>
            <a:off x="6400317" y="3756538"/>
            <a:ext cx="1599823" cy="677455"/>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Cauchy.py</a:t>
            </a:r>
          </a:p>
        </p:txBody>
      </p:sp>
      <p:sp>
        <p:nvSpPr>
          <p:cNvPr id="15" name="Diagrama de flujo: proceso alternativo 14">
            <a:extLst>
              <a:ext uri="{FF2B5EF4-FFF2-40B4-BE49-F238E27FC236}">
                <a16:creationId xmlns:a16="http://schemas.microsoft.com/office/drawing/2014/main" id="{9D6BE742-0D42-CBC1-473C-EEDDCCB3C900}"/>
              </a:ext>
            </a:extLst>
          </p:cNvPr>
          <p:cNvSpPr/>
          <p:nvPr/>
        </p:nvSpPr>
        <p:spPr>
          <a:xfrm>
            <a:off x="5853979" y="4641557"/>
            <a:ext cx="2692494" cy="677455"/>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temporal_schemes.py</a:t>
            </a:r>
          </a:p>
        </p:txBody>
      </p:sp>
      <p:sp>
        <p:nvSpPr>
          <p:cNvPr id="18" name="Diagrama de flujo: proceso alternativo 17">
            <a:extLst>
              <a:ext uri="{FF2B5EF4-FFF2-40B4-BE49-F238E27FC236}">
                <a16:creationId xmlns:a16="http://schemas.microsoft.com/office/drawing/2014/main" id="{48705B8B-B2E1-5957-21F0-C2AC1A62A3E9}"/>
              </a:ext>
            </a:extLst>
          </p:cNvPr>
          <p:cNvSpPr/>
          <p:nvPr/>
        </p:nvSpPr>
        <p:spPr>
          <a:xfrm>
            <a:off x="9209255" y="4641557"/>
            <a:ext cx="1448913" cy="677455"/>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Butcher.py</a:t>
            </a:r>
          </a:p>
        </p:txBody>
      </p:sp>
      <p:sp>
        <p:nvSpPr>
          <p:cNvPr id="59" name="Diagrama de flujo: proceso alternativo 58">
            <a:extLst>
              <a:ext uri="{FF2B5EF4-FFF2-40B4-BE49-F238E27FC236}">
                <a16:creationId xmlns:a16="http://schemas.microsoft.com/office/drawing/2014/main" id="{D1CD9270-4E46-E338-75F9-F15EDCD478C7}"/>
              </a:ext>
            </a:extLst>
          </p:cNvPr>
          <p:cNvSpPr/>
          <p:nvPr/>
        </p:nvSpPr>
        <p:spPr>
          <a:xfrm>
            <a:off x="5268979" y="5526575"/>
            <a:ext cx="3862494" cy="677455"/>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ordinary_differential_equations.py</a:t>
            </a:r>
          </a:p>
        </p:txBody>
      </p:sp>
      <p:sp>
        <p:nvSpPr>
          <p:cNvPr id="60" name="Diagrama de flujo: proceso alternativo 59">
            <a:extLst>
              <a:ext uri="{FF2B5EF4-FFF2-40B4-BE49-F238E27FC236}">
                <a16:creationId xmlns:a16="http://schemas.microsoft.com/office/drawing/2014/main" id="{9866B10C-A678-A114-C8D9-99A6E90EBF37}"/>
              </a:ext>
            </a:extLst>
          </p:cNvPr>
          <p:cNvSpPr/>
          <p:nvPr/>
        </p:nvSpPr>
        <p:spPr>
          <a:xfrm>
            <a:off x="6400317" y="2843600"/>
            <a:ext cx="1599823" cy="677455"/>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Lyapunov.py</a:t>
            </a:r>
          </a:p>
        </p:txBody>
      </p:sp>
      <p:cxnSp>
        <p:nvCxnSpPr>
          <p:cNvPr id="64" name="Conector recto de flecha 63">
            <a:extLst>
              <a:ext uri="{FF2B5EF4-FFF2-40B4-BE49-F238E27FC236}">
                <a16:creationId xmlns:a16="http://schemas.microsoft.com/office/drawing/2014/main" id="{76B2CE54-068F-3C21-1F80-66205EEF7B38}"/>
              </a:ext>
            </a:extLst>
          </p:cNvPr>
          <p:cNvCxnSpPr>
            <a:cxnSpLocks/>
            <a:stCxn id="7" idx="0"/>
            <a:endCxn id="60" idx="2"/>
          </p:cNvCxnSpPr>
          <p:nvPr/>
        </p:nvCxnSpPr>
        <p:spPr>
          <a:xfrm flipV="1">
            <a:off x="7200229" y="3521055"/>
            <a:ext cx="0" cy="2354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Conector recto de flecha 66">
            <a:extLst>
              <a:ext uri="{FF2B5EF4-FFF2-40B4-BE49-F238E27FC236}">
                <a16:creationId xmlns:a16="http://schemas.microsoft.com/office/drawing/2014/main" id="{35DB7138-E4BE-C663-BF43-7C11DE8C0759}"/>
              </a:ext>
            </a:extLst>
          </p:cNvPr>
          <p:cNvCxnSpPr>
            <a:cxnSpLocks/>
            <a:stCxn id="15" idx="0"/>
            <a:endCxn id="7" idx="2"/>
          </p:cNvCxnSpPr>
          <p:nvPr/>
        </p:nvCxnSpPr>
        <p:spPr>
          <a:xfrm flipV="1">
            <a:off x="7200226" y="4433993"/>
            <a:ext cx="3" cy="2075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ector recto de flecha 69">
            <a:extLst>
              <a:ext uri="{FF2B5EF4-FFF2-40B4-BE49-F238E27FC236}">
                <a16:creationId xmlns:a16="http://schemas.microsoft.com/office/drawing/2014/main" id="{AAA61408-45AE-6626-DE62-6834AF2C5A60}"/>
              </a:ext>
            </a:extLst>
          </p:cNvPr>
          <p:cNvCxnSpPr>
            <a:cxnSpLocks/>
            <a:stCxn id="18" idx="1"/>
            <a:endCxn id="15" idx="3"/>
          </p:cNvCxnSpPr>
          <p:nvPr/>
        </p:nvCxnSpPr>
        <p:spPr>
          <a:xfrm flipH="1">
            <a:off x="8546474" y="4980284"/>
            <a:ext cx="6627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Conector recto de flecha 73">
            <a:extLst>
              <a:ext uri="{FF2B5EF4-FFF2-40B4-BE49-F238E27FC236}">
                <a16:creationId xmlns:a16="http://schemas.microsoft.com/office/drawing/2014/main" id="{BD79A312-9ED6-2C63-0794-15DF842EEE7E}"/>
              </a:ext>
            </a:extLst>
          </p:cNvPr>
          <p:cNvCxnSpPr>
            <a:cxnSpLocks/>
            <a:stCxn id="59" idx="0"/>
            <a:endCxn id="15" idx="2"/>
          </p:cNvCxnSpPr>
          <p:nvPr/>
        </p:nvCxnSpPr>
        <p:spPr>
          <a:xfrm flipV="1">
            <a:off x="7200226" y="5319011"/>
            <a:ext cx="1" cy="2075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Diagrama de flujo: proceso alternativo 76">
            <a:extLst>
              <a:ext uri="{FF2B5EF4-FFF2-40B4-BE49-F238E27FC236}">
                <a16:creationId xmlns:a16="http://schemas.microsoft.com/office/drawing/2014/main" id="{C53CEC39-858A-C50D-4A2A-01F9FFD4B4D3}"/>
              </a:ext>
            </a:extLst>
          </p:cNvPr>
          <p:cNvSpPr/>
          <p:nvPr/>
        </p:nvSpPr>
        <p:spPr>
          <a:xfrm>
            <a:off x="6400318" y="1944396"/>
            <a:ext cx="1599823" cy="677455"/>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stability.py</a:t>
            </a:r>
          </a:p>
        </p:txBody>
      </p:sp>
      <p:cxnSp>
        <p:nvCxnSpPr>
          <p:cNvPr id="78" name="Conector recto de flecha 77">
            <a:extLst>
              <a:ext uri="{FF2B5EF4-FFF2-40B4-BE49-F238E27FC236}">
                <a16:creationId xmlns:a16="http://schemas.microsoft.com/office/drawing/2014/main" id="{347B21D1-E272-CD8B-74D4-4D8BCBC9CF21}"/>
              </a:ext>
            </a:extLst>
          </p:cNvPr>
          <p:cNvCxnSpPr>
            <a:cxnSpLocks/>
            <a:stCxn id="60" idx="0"/>
            <a:endCxn id="77" idx="2"/>
          </p:cNvCxnSpPr>
          <p:nvPr/>
        </p:nvCxnSpPr>
        <p:spPr>
          <a:xfrm flipV="1">
            <a:off x="7200229" y="2621851"/>
            <a:ext cx="1" cy="2217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Conector recto de flecha 80">
            <a:extLst>
              <a:ext uri="{FF2B5EF4-FFF2-40B4-BE49-F238E27FC236}">
                <a16:creationId xmlns:a16="http://schemas.microsoft.com/office/drawing/2014/main" id="{A1ED0B1A-C275-8EF7-9E57-DF2F993DC9DD}"/>
              </a:ext>
            </a:extLst>
          </p:cNvPr>
          <p:cNvCxnSpPr>
            <a:cxnSpLocks/>
            <a:stCxn id="77" idx="0"/>
            <a:endCxn id="4" idx="2"/>
          </p:cNvCxnSpPr>
          <p:nvPr/>
        </p:nvCxnSpPr>
        <p:spPr>
          <a:xfrm flipH="1" flipV="1">
            <a:off x="7191537" y="1729506"/>
            <a:ext cx="8693" cy="214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3" name="Imagen 102" descr="Texto&#10;&#10;El contenido generado por IA puede ser incorrecto.">
            <a:extLst>
              <a:ext uri="{FF2B5EF4-FFF2-40B4-BE49-F238E27FC236}">
                <a16:creationId xmlns:a16="http://schemas.microsoft.com/office/drawing/2014/main" id="{C8064253-0871-FDAD-C0B7-0475E0F7B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985" y="1276160"/>
            <a:ext cx="3026973" cy="4927871"/>
          </a:xfrm>
          <a:prstGeom prst="rect">
            <a:avLst/>
          </a:prstGeom>
        </p:spPr>
      </p:pic>
      <p:grpSp>
        <p:nvGrpSpPr>
          <p:cNvPr id="25" name="Grupo 24">
            <a:extLst>
              <a:ext uri="{FF2B5EF4-FFF2-40B4-BE49-F238E27FC236}">
                <a16:creationId xmlns:a16="http://schemas.microsoft.com/office/drawing/2014/main" id="{BAEB498F-E184-BB4D-A7EB-E1A001EE45F7}"/>
              </a:ext>
            </a:extLst>
          </p:cNvPr>
          <p:cNvGrpSpPr/>
          <p:nvPr/>
        </p:nvGrpSpPr>
        <p:grpSpPr>
          <a:xfrm>
            <a:off x="-3166" y="-3556"/>
            <a:ext cx="12200147" cy="840333"/>
            <a:chOff x="-3166" y="-3556"/>
            <a:chExt cx="12200147" cy="840333"/>
          </a:xfrm>
        </p:grpSpPr>
        <p:sp>
          <p:nvSpPr>
            <p:cNvPr id="23" name="Rectángulo 22">
              <a:extLst>
                <a:ext uri="{FF2B5EF4-FFF2-40B4-BE49-F238E27FC236}">
                  <a16:creationId xmlns:a16="http://schemas.microsoft.com/office/drawing/2014/main" id="{E3926C2F-5701-7417-E5E0-E8F57D9C7BE3}"/>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 6. Arquitectura funcional</a:t>
              </a:r>
              <a:endParaRPr lang="es-ES"/>
            </a:p>
          </p:txBody>
        </p:sp>
        <p:sp>
          <p:nvSpPr>
            <p:cNvPr id="24" name="Rectángulo 23">
              <a:extLst>
                <a:ext uri="{FF2B5EF4-FFF2-40B4-BE49-F238E27FC236}">
                  <a16:creationId xmlns:a16="http://schemas.microsoft.com/office/drawing/2014/main" id="{50FD0368-2273-597D-018D-EF4C7AFDE95A}"/>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342332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500"/>
                                        <p:tgtEl>
                                          <p:spTgt spid="59"/>
                                        </p:tgtEl>
                                      </p:cBhvr>
                                    </p:animEffect>
                                  </p:childTnLst>
                                </p:cTn>
                              </p:par>
                              <p:par>
                                <p:cTn id="13" presetID="10"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500"/>
                                        <p:tgtEl>
                                          <p:spTgt spid="7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70"/>
                                        </p:tgtEl>
                                        <p:attrNameLst>
                                          <p:attrName>style.visibility</p:attrName>
                                        </p:attrNameLst>
                                      </p:cBhvr>
                                      <p:to>
                                        <p:strVal val="visible"/>
                                      </p:to>
                                    </p:set>
                                    <p:animEffect transition="in" filter="fade">
                                      <p:cBhvr>
                                        <p:cTn id="26" dur="500"/>
                                        <p:tgtEl>
                                          <p:spTgt spid="70"/>
                                        </p:tgtEl>
                                      </p:cBhvr>
                                    </p:animEffect>
                                  </p:childTnLst>
                                </p:cTn>
                              </p:par>
                              <p:par>
                                <p:cTn id="27" presetID="10"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fade">
                                      <p:cBhvr>
                                        <p:cTn id="29" dur="5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500"/>
                                        <p:tgtEl>
                                          <p:spTgt spid="6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par>
                                <p:cTn id="43" presetID="10" presetClass="entr" presetSubtype="0" fill="hold" nodeType="withEffect">
                                  <p:stCondLst>
                                    <p:cond delay="0"/>
                                  </p:stCondLst>
                                  <p:childTnLst>
                                    <p:set>
                                      <p:cBhvr>
                                        <p:cTn id="44" dur="1" fill="hold">
                                          <p:stCondLst>
                                            <p:cond delay="0"/>
                                          </p:stCondLst>
                                        </p:cTn>
                                        <p:tgtEl>
                                          <p:spTgt spid="78"/>
                                        </p:tgtEl>
                                        <p:attrNameLst>
                                          <p:attrName>style.visibility</p:attrName>
                                        </p:attrNameLst>
                                      </p:cBhvr>
                                      <p:to>
                                        <p:strVal val="visible"/>
                                      </p:to>
                                    </p:set>
                                    <p:animEffect transition="in" filter="fade">
                                      <p:cBhvr>
                                        <p:cTn id="45" dur="500"/>
                                        <p:tgtEl>
                                          <p:spTgt spid="7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7"/>
                                        </p:tgtEl>
                                        <p:attrNameLst>
                                          <p:attrName>style.visibility</p:attrName>
                                        </p:attrNameLst>
                                      </p:cBhvr>
                                      <p:to>
                                        <p:strVal val="visible"/>
                                      </p:to>
                                    </p:set>
                                    <p:animEffect transition="in" filter="fade">
                                      <p:cBhvr>
                                        <p:cTn id="50" dur="500"/>
                                        <p:tgtEl>
                                          <p:spTgt spid="77"/>
                                        </p:tgtEl>
                                      </p:cBhvr>
                                    </p:animEffect>
                                  </p:childTnLst>
                                </p:cTn>
                              </p:par>
                              <p:par>
                                <p:cTn id="51" presetID="10"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fade">
                                      <p:cBhvr>
                                        <p:cTn id="53"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5" grpId="0" animBg="1"/>
      <p:bldP spid="18" grpId="0" animBg="1"/>
      <p:bldP spid="59" grpId="0" animBg="1"/>
      <p:bldP spid="60" grpId="0" animBg="1"/>
      <p:bldP spid="7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DA5EB-B9A9-4D8B-DCE3-803A48AA50D4}"/>
            </a:ext>
          </a:extLst>
        </p:cNvPr>
        <p:cNvGrpSpPr/>
        <p:nvPr/>
      </p:nvGrpSpPr>
      <p:grpSpPr>
        <a:xfrm>
          <a:off x="0" y="0"/>
          <a:ext cx="0" cy="0"/>
          <a:chOff x="0" y="0"/>
          <a:chExt cx="0" cy="0"/>
        </a:xfrm>
      </p:grpSpPr>
      <p:sp>
        <p:nvSpPr>
          <p:cNvPr id="3" name="Diagrama de flujo: proceso alternativo 2">
            <a:extLst>
              <a:ext uri="{FF2B5EF4-FFF2-40B4-BE49-F238E27FC236}">
                <a16:creationId xmlns:a16="http://schemas.microsoft.com/office/drawing/2014/main" id="{85F5068A-79E5-9D40-8CE1-872ABD5D3C7C}"/>
              </a:ext>
            </a:extLst>
          </p:cNvPr>
          <p:cNvSpPr/>
          <p:nvPr/>
        </p:nvSpPr>
        <p:spPr>
          <a:xfrm>
            <a:off x="7849325" y="2697590"/>
            <a:ext cx="1735433" cy="769048"/>
          </a:xfrm>
          <a:prstGeom prst="flowChartAlternate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GUI.py</a:t>
            </a:r>
          </a:p>
        </p:txBody>
      </p:sp>
      <p:sp>
        <p:nvSpPr>
          <p:cNvPr id="5" name="Diagrama de flujo: proceso alternativo 4">
            <a:extLst>
              <a:ext uri="{FF2B5EF4-FFF2-40B4-BE49-F238E27FC236}">
                <a16:creationId xmlns:a16="http://schemas.microsoft.com/office/drawing/2014/main" id="{FB2E6132-6B47-8E08-C14A-AA06C6A63BCC}"/>
              </a:ext>
            </a:extLst>
          </p:cNvPr>
          <p:cNvSpPr/>
          <p:nvPr/>
        </p:nvSpPr>
        <p:spPr>
          <a:xfrm>
            <a:off x="4408234" y="5434983"/>
            <a:ext cx="1735433" cy="76904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latin typeface="Times New Roman"/>
                <a:cs typeface="Times New Roman"/>
              </a:rPr>
              <a:t>Resolución del problema</a:t>
            </a:r>
          </a:p>
        </p:txBody>
      </p:sp>
      <p:sp>
        <p:nvSpPr>
          <p:cNvPr id="6" name="Diagrama de flujo: proceso alternativo 5">
            <a:extLst>
              <a:ext uri="{FF2B5EF4-FFF2-40B4-BE49-F238E27FC236}">
                <a16:creationId xmlns:a16="http://schemas.microsoft.com/office/drawing/2014/main" id="{3883FAAE-ECF4-5CE9-186F-CA3BEA206AA3}"/>
              </a:ext>
            </a:extLst>
          </p:cNvPr>
          <p:cNvSpPr/>
          <p:nvPr/>
        </p:nvSpPr>
        <p:spPr>
          <a:xfrm>
            <a:off x="6143669" y="4087351"/>
            <a:ext cx="2303282" cy="769048"/>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Widget_Callbacks.py</a:t>
            </a:r>
          </a:p>
        </p:txBody>
      </p:sp>
      <p:sp>
        <p:nvSpPr>
          <p:cNvPr id="8" name="Diagrama de flujo: proceso alternativo 7">
            <a:extLst>
              <a:ext uri="{FF2B5EF4-FFF2-40B4-BE49-F238E27FC236}">
                <a16:creationId xmlns:a16="http://schemas.microsoft.com/office/drawing/2014/main" id="{96C54AA7-086E-8A78-EE7B-DDCCAC723230}"/>
              </a:ext>
            </a:extLst>
          </p:cNvPr>
          <p:cNvSpPr/>
          <p:nvPr/>
        </p:nvSpPr>
        <p:spPr>
          <a:xfrm>
            <a:off x="9030743" y="4087351"/>
            <a:ext cx="2303281" cy="769048"/>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Config_plotting.py</a:t>
            </a:r>
          </a:p>
        </p:txBody>
      </p:sp>
      <p:cxnSp>
        <p:nvCxnSpPr>
          <p:cNvPr id="11" name="Conector: angular 10">
            <a:extLst>
              <a:ext uri="{FF2B5EF4-FFF2-40B4-BE49-F238E27FC236}">
                <a16:creationId xmlns:a16="http://schemas.microsoft.com/office/drawing/2014/main" id="{805A24BA-A800-A1A9-8759-F2FA3348495C}"/>
              </a:ext>
            </a:extLst>
          </p:cNvPr>
          <p:cNvCxnSpPr>
            <a:cxnSpLocks/>
            <a:stCxn id="6" idx="0"/>
            <a:endCxn id="3" idx="2"/>
          </p:cNvCxnSpPr>
          <p:nvPr/>
        </p:nvCxnSpPr>
        <p:spPr>
          <a:xfrm rot="5400000" flipH="1" flipV="1">
            <a:off x="7695820" y="3066129"/>
            <a:ext cx="620713" cy="142173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angular 13">
            <a:extLst>
              <a:ext uri="{FF2B5EF4-FFF2-40B4-BE49-F238E27FC236}">
                <a16:creationId xmlns:a16="http://schemas.microsoft.com/office/drawing/2014/main" id="{B90A73D9-AEF3-AD7D-FEB1-48917125A9FB}"/>
              </a:ext>
            </a:extLst>
          </p:cNvPr>
          <p:cNvCxnSpPr>
            <a:cxnSpLocks/>
            <a:stCxn id="8" idx="0"/>
            <a:endCxn id="3" idx="2"/>
          </p:cNvCxnSpPr>
          <p:nvPr/>
        </p:nvCxnSpPr>
        <p:spPr>
          <a:xfrm rot="16200000" flipV="1">
            <a:off x="9139357" y="3044324"/>
            <a:ext cx="620713" cy="146534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Diagrama de flujo: proceso alternativo 32">
            <a:extLst>
              <a:ext uri="{FF2B5EF4-FFF2-40B4-BE49-F238E27FC236}">
                <a16:creationId xmlns:a16="http://schemas.microsoft.com/office/drawing/2014/main" id="{C34B2603-0091-5C8E-E209-634575A4C57D}"/>
              </a:ext>
            </a:extLst>
          </p:cNvPr>
          <p:cNvSpPr/>
          <p:nvPr/>
        </p:nvSpPr>
        <p:spPr>
          <a:xfrm>
            <a:off x="6427594" y="5434983"/>
            <a:ext cx="1735434" cy="769048"/>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plotting.py</a:t>
            </a:r>
          </a:p>
        </p:txBody>
      </p:sp>
      <p:sp>
        <p:nvSpPr>
          <p:cNvPr id="63" name="Diagrama de flujo: proceso alternativo 62">
            <a:extLst>
              <a:ext uri="{FF2B5EF4-FFF2-40B4-BE49-F238E27FC236}">
                <a16:creationId xmlns:a16="http://schemas.microsoft.com/office/drawing/2014/main" id="{D24E5843-D30C-8274-E49C-41610244E75B}"/>
              </a:ext>
            </a:extLst>
          </p:cNvPr>
          <p:cNvSpPr/>
          <p:nvPr/>
        </p:nvSpPr>
        <p:spPr>
          <a:xfrm>
            <a:off x="8446951" y="5434983"/>
            <a:ext cx="1735434" cy="769048"/>
          </a:xfrm>
          <a:prstGeom prst="flowChartAlternateProcess">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ES">
                <a:latin typeface="Times New Roman"/>
                <a:cs typeface="Times New Roman"/>
              </a:rPr>
              <a:t>utilities.py</a:t>
            </a:r>
          </a:p>
        </p:txBody>
      </p:sp>
      <p:grpSp>
        <p:nvGrpSpPr>
          <p:cNvPr id="20" name="Grupo 19">
            <a:extLst>
              <a:ext uri="{FF2B5EF4-FFF2-40B4-BE49-F238E27FC236}">
                <a16:creationId xmlns:a16="http://schemas.microsoft.com/office/drawing/2014/main" id="{D723427E-2313-A3AF-1425-10CE88CA98AE}"/>
              </a:ext>
            </a:extLst>
          </p:cNvPr>
          <p:cNvGrpSpPr/>
          <p:nvPr/>
        </p:nvGrpSpPr>
        <p:grpSpPr>
          <a:xfrm>
            <a:off x="-3166" y="-3556"/>
            <a:ext cx="12200147" cy="840333"/>
            <a:chOff x="-3166" y="-3556"/>
            <a:chExt cx="12200147" cy="840333"/>
          </a:xfrm>
        </p:grpSpPr>
        <p:sp>
          <p:nvSpPr>
            <p:cNvPr id="16" name="Rectángulo 15">
              <a:extLst>
                <a:ext uri="{FF2B5EF4-FFF2-40B4-BE49-F238E27FC236}">
                  <a16:creationId xmlns:a16="http://schemas.microsoft.com/office/drawing/2014/main" id="{967EEF24-7058-64E4-24AD-A6290ABD0E9D}"/>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 6. Arquitectura funcional</a:t>
              </a:r>
              <a:endParaRPr lang="es-ES"/>
            </a:p>
          </p:txBody>
        </p:sp>
        <p:sp>
          <p:nvSpPr>
            <p:cNvPr id="17" name="Rectángulo 16">
              <a:extLst>
                <a:ext uri="{FF2B5EF4-FFF2-40B4-BE49-F238E27FC236}">
                  <a16:creationId xmlns:a16="http://schemas.microsoft.com/office/drawing/2014/main" id="{EBB94CA5-BAAF-B48D-2BC9-918F6B11FFEE}"/>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cxnSp>
        <p:nvCxnSpPr>
          <p:cNvPr id="70" name="Conector: angular 69">
            <a:extLst>
              <a:ext uri="{FF2B5EF4-FFF2-40B4-BE49-F238E27FC236}">
                <a16:creationId xmlns:a16="http://schemas.microsoft.com/office/drawing/2014/main" id="{273567F4-54A6-70A5-3660-827D3C18B99B}"/>
              </a:ext>
            </a:extLst>
          </p:cNvPr>
          <p:cNvCxnSpPr>
            <a:cxnSpLocks/>
            <a:stCxn id="5" idx="0"/>
            <a:endCxn id="6" idx="2"/>
          </p:cNvCxnSpPr>
          <p:nvPr/>
        </p:nvCxnSpPr>
        <p:spPr>
          <a:xfrm rot="5400000" flipH="1" flipV="1">
            <a:off x="5996338" y="4136012"/>
            <a:ext cx="578584" cy="201935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Conector: angular 72">
            <a:extLst>
              <a:ext uri="{FF2B5EF4-FFF2-40B4-BE49-F238E27FC236}">
                <a16:creationId xmlns:a16="http://schemas.microsoft.com/office/drawing/2014/main" id="{1AC40029-7552-317C-5131-4CD14A481B51}"/>
              </a:ext>
            </a:extLst>
          </p:cNvPr>
          <p:cNvCxnSpPr>
            <a:cxnSpLocks/>
            <a:stCxn id="33" idx="0"/>
            <a:endCxn id="6" idx="2"/>
          </p:cNvCxnSpPr>
          <p:nvPr/>
        </p:nvCxnSpPr>
        <p:spPr>
          <a:xfrm rot="16200000" flipV="1">
            <a:off x="7006019" y="5145690"/>
            <a:ext cx="578584"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Conector: angular 75">
            <a:extLst>
              <a:ext uri="{FF2B5EF4-FFF2-40B4-BE49-F238E27FC236}">
                <a16:creationId xmlns:a16="http://schemas.microsoft.com/office/drawing/2014/main" id="{E8F1EE28-A20F-6AD6-54E2-532B354AC0BF}"/>
              </a:ext>
            </a:extLst>
          </p:cNvPr>
          <p:cNvCxnSpPr>
            <a:cxnSpLocks/>
            <a:stCxn id="63" idx="0"/>
            <a:endCxn id="6" idx="2"/>
          </p:cNvCxnSpPr>
          <p:nvPr/>
        </p:nvCxnSpPr>
        <p:spPr>
          <a:xfrm rot="16200000" flipV="1">
            <a:off x="8015697" y="4136012"/>
            <a:ext cx="578584" cy="201935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pic>
        <p:nvPicPr>
          <p:cNvPr id="85" name="Imagen 84" descr="Texto&#10;&#10;El contenido generado por IA puede ser incorrecto.">
            <a:extLst>
              <a:ext uri="{FF2B5EF4-FFF2-40B4-BE49-F238E27FC236}">
                <a16:creationId xmlns:a16="http://schemas.microsoft.com/office/drawing/2014/main" id="{9F75840B-3F66-838A-1018-AAC3513E3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85" y="1276160"/>
            <a:ext cx="3026973" cy="4927871"/>
          </a:xfrm>
          <a:prstGeom prst="rect">
            <a:avLst/>
          </a:prstGeom>
        </p:spPr>
      </p:pic>
      <p:sp>
        <p:nvSpPr>
          <p:cNvPr id="106" name="Diagrama de flujo: proceso alternativo 105">
            <a:extLst>
              <a:ext uri="{FF2B5EF4-FFF2-40B4-BE49-F238E27FC236}">
                <a16:creationId xmlns:a16="http://schemas.microsoft.com/office/drawing/2014/main" id="{C578C196-7C9B-161F-0D5D-EDCAE927C5E1}"/>
              </a:ext>
            </a:extLst>
          </p:cNvPr>
          <p:cNvSpPr/>
          <p:nvPr/>
        </p:nvSpPr>
        <p:spPr>
          <a:xfrm>
            <a:off x="7849326" y="1639250"/>
            <a:ext cx="1735433" cy="76904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latin typeface="Times New Roman"/>
                <a:cs typeface="Times New Roman"/>
              </a:rPr>
              <a:t>GUI</a:t>
            </a:r>
          </a:p>
        </p:txBody>
      </p:sp>
      <p:cxnSp>
        <p:nvCxnSpPr>
          <p:cNvPr id="108" name="Conector recto de flecha 107">
            <a:extLst>
              <a:ext uri="{FF2B5EF4-FFF2-40B4-BE49-F238E27FC236}">
                <a16:creationId xmlns:a16="http://schemas.microsoft.com/office/drawing/2014/main" id="{C60FDB8F-2638-48FB-D351-261D691411F4}"/>
              </a:ext>
            </a:extLst>
          </p:cNvPr>
          <p:cNvCxnSpPr>
            <a:cxnSpLocks/>
            <a:stCxn id="3" idx="0"/>
            <a:endCxn id="106" idx="2"/>
          </p:cNvCxnSpPr>
          <p:nvPr/>
        </p:nvCxnSpPr>
        <p:spPr>
          <a:xfrm flipV="1">
            <a:off x="8717042" y="2408298"/>
            <a:ext cx="1" cy="2892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561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par>
                                <p:cTn id="19" presetID="10" presetClass="entr" presetSubtype="0"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animEffect transition="in" filter="fade">
                                      <p:cBhvr>
                                        <p:cTn id="21" dur="500"/>
                                        <p:tgtEl>
                                          <p:spTgt spid="70"/>
                                        </p:tgtEl>
                                      </p:cBhvr>
                                    </p:animEffect>
                                  </p:childTnLst>
                                </p:cTn>
                              </p:par>
                              <p:par>
                                <p:cTn id="22" presetID="10" presetClass="entr" presetSubtype="0" fill="hold" nodeType="with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500"/>
                                        <p:tgtEl>
                                          <p:spTgt spid="73"/>
                                        </p:tgtEl>
                                      </p:cBhvr>
                                    </p:animEffect>
                                  </p:childTnLst>
                                </p:cTn>
                              </p:par>
                              <p:par>
                                <p:cTn id="25" presetID="10" presetClass="entr" presetSubtype="0" fill="hold" nodeType="with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500"/>
                                        <p:tgtEl>
                                          <p:spTgt spid="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10" presetClass="entr" presetSubtype="0" fill="hold" nodeType="withEffect">
                                  <p:stCondLst>
                                    <p:cond delay="0"/>
                                  </p:stCondLst>
                                  <p:childTnLst>
                                    <p:set>
                                      <p:cBhvr>
                                        <p:cTn id="48" dur="1" fill="hold">
                                          <p:stCondLst>
                                            <p:cond delay="0"/>
                                          </p:stCondLst>
                                        </p:cTn>
                                        <p:tgtEl>
                                          <p:spTgt spid="108"/>
                                        </p:tgtEl>
                                        <p:attrNameLst>
                                          <p:attrName>style.visibility</p:attrName>
                                        </p:attrNameLst>
                                      </p:cBhvr>
                                      <p:to>
                                        <p:strVal val="visible"/>
                                      </p:to>
                                    </p:set>
                                    <p:animEffect transition="in" filter="fade">
                                      <p:cBhvr>
                                        <p:cTn id="49"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33" grpId="0" animBg="1"/>
      <p:bldP spid="63" grpId="0" animBg="1"/>
      <p:bldP spid="10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7D40BE5-43DF-3994-157C-72EFD9C620EC}"/>
              </a:ext>
            </a:extLst>
          </p:cNvPr>
          <p:cNvSpPr/>
          <p:nvPr/>
        </p:nvSpPr>
        <p:spPr>
          <a:xfrm>
            <a:off x="-121920" y="824138"/>
            <a:ext cx="12405360" cy="6094821"/>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1" name="Grupo 10">
            <a:extLst>
              <a:ext uri="{FF2B5EF4-FFF2-40B4-BE49-F238E27FC236}">
                <a16:creationId xmlns:a16="http://schemas.microsoft.com/office/drawing/2014/main" id="{7649D68D-1FB5-73A6-96E2-E141280AE36D}"/>
              </a:ext>
            </a:extLst>
          </p:cNvPr>
          <p:cNvGrpSpPr/>
          <p:nvPr/>
        </p:nvGrpSpPr>
        <p:grpSpPr>
          <a:xfrm>
            <a:off x="-3166" y="-3556"/>
            <a:ext cx="12200147" cy="840333"/>
            <a:chOff x="-3166" y="-3556"/>
            <a:chExt cx="12200147" cy="840333"/>
          </a:xfrm>
        </p:grpSpPr>
        <p:sp>
          <p:nvSpPr>
            <p:cNvPr id="4" name="Rectángulo 3">
              <a:extLst>
                <a:ext uri="{FF2B5EF4-FFF2-40B4-BE49-F238E27FC236}">
                  <a16:creationId xmlns:a16="http://schemas.microsoft.com/office/drawing/2014/main" id="{0D5DF27D-48AA-CC21-62B7-05D3529DB231}"/>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 7. Interfaz de usuario</a:t>
              </a:r>
              <a:endParaRPr lang="es-ES"/>
            </a:p>
          </p:txBody>
        </p:sp>
        <p:sp>
          <p:nvSpPr>
            <p:cNvPr id="10" name="Rectángulo 9">
              <a:extLst>
                <a:ext uri="{FF2B5EF4-FFF2-40B4-BE49-F238E27FC236}">
                  <a16:creationId xmlns:a16="http://schemas.microsoft.com/office/drawing/2014/main" id="{E84B8215-8840-C721-6E80-6D5516B59D6A}"/>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pic>
        <p:nvPicPr>
          <p:cNvPr id="12" name="Imagen 11" descr="Gráfico&#10;&#10;El contenido generado por IA puede ser incorrecto.">
            <a:extLst>
              <a:ext uri="{FF2B5EF4-FFF2-40B4-BE49-F238E27FC236}">
                <a16:creationId xmlns:a16="http://schemas.microsoft.com/office/drawing/2014/main" id="{9EBC631A-77DE-3A6B-3EFB-365E77B0A426}"/>
              </a:ext>
            </a:extLst>
          </p:cNvPr>
          <p:cNvPicPr>
            <a:picLocks noChangeAspect="1"/>
          </p:cNvPicPr>
          <p:nvPr/>
        </p:nvPicPr>
        <p:blipFill>
          <a:blip r:embed="rId2"/>
          <a:srcRect l="-21" t="26645" r="-79" b="187"/>
          <a:stretch>
            <a:fillRect/>
          </a:stretch>
        </p:blipFill>
        <p:spPr>
          <a:xfrm>
            <a:off x="-2533" y="2295488"/>
            <a:ext cx="12199491" cy="4565748"/>
          </a:xfrm>
          <a:prstGeom prst="rect">
            <a:avLst/>
          </a:prstGeom>
        </p:spPr>
      </p:pic>
      <p:pic>
        <p:nvPicPr>
          <p:cNvPr id="7" name="Gráfico 6">
            <a:extLst>
              <a:ext uri="{FF2B5EF4-FFF2-40B4-BE49-F238E27FC236}">
                <a16:creationId xmlns:a16="http://schemas.microsoft.com/office/drawing/2014/main" id="{238EE8AF-7BD4-F9CC-55F9-EBB5BE6BFC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894" y="2423160"/>
            <a:ext cx="5993704" cy="3827328"/>
          </a:xfrm>
          <a:prstGeom prst="rect">
            <a:avLst/>
          </a:prstGeom>
        </p:spPr>
      </p:pic>
      <p:pic>
        <p:nvPicPr>
          <p:cNvPr id="9" name="Gráfico 8">
            <a:extLst>
              <a:ext uri="{FF2B5EF4-FFF2-40B4-BE49-F238E27FC236}">
                <a16:creationId xmlns:a16="http://schemas.microsoft.com/office/drawing/2014/main" id="{C18D6FE0-9412-84FE-FBBD-04D9150CED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3141" y="2423160"/>
            <a:ext cx="5993704" cy="3827328"/>
          </a:xfrm>
          <a:prstGeom prst="rect">
            <a:avLst/>
          </a:prstGeom>
        </p:spPr>
      </p:pic>
      <p:pic>
        <p:nvPicPr>
          <p:cNvPr id="19" name="Imagen 18" descr="Gráfico&#10;&#10;El contenido generado por IA puede ser incorrecto.">
            <a:extLst>
              <a:ext uri="{FF2B5EF4-FFF2-40B4-BE49-F238E27FC236}">
                <a16:creationId xmlns:a16="http://schemas.microsoft.com/office/drawing/2014/main" id="{02195148-2AFC-B595-23E2-8D282F930EB3}"/>
              </a:ext>
            </a:extLst>
          </p:cNvPr>
          <p:cNvPicPr>
            <a:picLocks noChangeAspect="1"/>
          </p:cNvPicPr>
          <p:nvPr/>
        </p:nvPicPr>
        <p:blipFill>
          <a:blip r:embed="rId2"/>
          <a:srcRect l="74582" t="3386" r="-112" b="73210"/>
          <a:stretch>
            <a:fillRect/>
          </a:stretch>
        </p:blipFill>
        <p:spPr>
          <a:xfrm>
            <a:off x="9079992" y="835069"/>
            <a:ext cx="3111370" cy="1460419"/>
          </a:xfrm>
          <a:prstGeom prst="rect">
            <a:avLst/>
          </a:prstGeom>
        </p:spPr>
      </p:pic>
      <p:pic>
        <p:nvPicPr>
          <p:cNvPr id="18" name="Imagen 17" descr="Gráfico&#10;&#10;El contenido generado por IA puede ser incorrecto.">
            <a:extLst>
              <a:ext uri="{FF2B5EF4-FFF2-40B4-BE49-F238E27FC236}">
                <a16:creationId xmlns:a16="http://schemas.microsoft.com/office/drawing/2014/main" id="{6B87292B-9200-CD82-6AB4-7F7519E7B73B}"/>
              </a:ext>
            </a:extLst>
          </p:cNvPr>
          <p:cNvPicPr>
            <a:picLocks noChangeAspect="1"/>
          </p:cNvPicPr>
          <p:nvPr/>
        </p:nvPicPr>
        <p:blipFill>
          <a:blip r:embed="rId2"/>
          <a:srcRect l="49989" t="3394" r="25532" b="73077"/>
          <a:stretch>
            <a:fillRect/>
          </a:stretch>
        </p:blipFill>
        <p:spPr>
          <a:xfrm>
            <a:off x="6099048" y="835069"/>
            <a:ext cx="2983223" cy="1468251"/>
          </a:xfrm>
          <a:prstGeom prst="rect">
            <a:avLst/>
          </a:prstGeom>
        </p:spPr>
      </p:pic>
      <p:pic>
        <p:nvPicPr>
          <p:cNvPr id="17" name="Imagen 16" descr="Gráfico&#10;&#10;El contenido generado por IA puede ser incorrecto.">
            <a:extLst>
              <a:ext uri="{FF2B5EF4-FFF2-40B4-BE49-F238E27FC236}">
                <a16:creationId xmlns:a16="http://schemas.microsoft.com/office/drawing/2014/main" id="{2963000A-6E97-3907-67FB-246A51961133}"/>
              </a:ext>
            </a:extLst>
          </p:cNvPr>
          <p:cNvPicPr>
            <a:picLocks noChangeAspect="1"/>
          </p:cNvPicPr>
          <p:nvPr/>
        </p:nvPicPr>
        <p:blipFill>
          <a:blip r:embed="rId2"/>
          <a:srcRect l="25492" t="3394" r="50058" b="73149"/>
          <a:stretch>
            <a:fillRect/>
          </a:stretch>
        </p:blipFill>
        <p:spPr>
          <a:xfrm>
            <a:off x="3118104" y="835069"/>
            <a:ext cx="2979674" cy="1463732"/>
          </a:xfrm>
          <a:prstGeom prst="rect">
            <a:avLst/>
          </a:prstGeom>
        </p:spPr>
      </p:pic>
      <p:pic>
        <p:nvPicPr>
          <p:cNvPr id="15" name="Imagen 14" descr="Gráfico&#10;&#10;El contenido generado por IA puede ser incorrecto.">
            <a:extLst>
              <a:ext uri="{FF2B5EF4-FFF2-40B4-BE49-F238E27FC236}">
                <a16:creationId xmlns:a16="http://schemas.microsoft.com/office/drawing/2014/main" id="{0E7B7FD0-91C8-787E-5C97-CBBFC082CE50}"/>
              </a:ext>
            </a:extLst>
          </p:cNvPr>
          <p:cNvPicPr>
            <a:picLocks noChangeAspect="1"/>
          </p:cNvPicPr>
          <p:nvPr/>
        </p:nvPicPr>
        <p:blipFill>
          <a:blip r:embed="rId2"/>
          <a:srcRect t="3386" r="74395" b="73210"/>
          <a:stretch>
            <a:fillRect/>
          </a:stretch>
        </p:blipFill>
        <p:spPr>
          <a:xfrm>
            <a:off x="-2533" y="835070"/>
            <a:ext cx="3120523" cy="1460419"/>
          </a:xfrm>
          <a:prstGeom prst="rect">
            <a:avLst/>
          </a:prstGeom>
        </p:spPr>
      </p:pic>
    </p:spTree>
    <p:extLst>
      <p:ext uri="{BB962C8B-B14F-4D97-AF65-F5344CB8AC3E}">
        <p14:creationId xmlns:p14="http://schemas.microsoft.com/office/powerpoint/2010/main" val="91502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5"/>
                                        </p:tgtEl>
                                      </p:cBhvr>
                                      <p:by x="200000" y="200000"/>
                                    </p:animScale>
                                  </p:childTnLst>
                                </p:cTn>
                              </p:par>
                              <p:par>
                                <p:cTn id="7" presetID="49" presetClass="path" presetSubtype="0" accel="50000" decel="50000" fill="hold" nodeType="withEffect">
                                  <p:stCondLst>
                                    <p:cond delay="0"/>
                                  </p:stCondLst>
                                  <p:childTnLst>
                                    <p:animMotion origin="layout" path="M -4.375E-6 -7.40741E-7 L 0.37201 0.39699 " pathEditMode="relative" rAng="0" ptsTypes="AA">
                                      <p:cBhvr>
                                        <p:cTn id="8" dur="2000" fill="hold"/>
                                        <p:tgtEl>
                                          <p:spTgt spid="15"/>
                                        </p:tgtEl>
                                        <p:attrNameLst>
                                          <p:attrName>ppt_x</p:attrName>
                                          <p:attrName>ppt_y</p:attrName>
                                        </p:attrNameLst>
                                      </p:cBhvr>
                                      <p:rCtr x="18594" y="19838"/>
                                    </p:animMotion>
                                  </p:childTnLst>
                                </p:cTn>
                              </p:par>
                            </p:childTnLst>
                          </p:cTn>
                        </p:par>
                      </p:childTnLst>
                    </p:cTn>
                  </p:par>
                  <p:par>
                    <p:cTn id="9" fill="hold">
                      <p:stCondLst>
                        <p:cond delay="indefinite"/>
                      </p:stCondLst>
                      <p:childTnLst>
                        <p:par>
                          <p:cTn id="10" fill="hold">
                            <p:stCondLst>
                              <p:cond delay="0"/>
                            </p:stCondLst>
                            <p:childTnLst>
                              <p:par>
                                <p:cTn id="11" presetID="6" presetClass="emph" presetSubtype="0" fill="hold" nodeType="clickEffect">
                                  <p:stCondLst>
                                    <p:cond delay="0"/>
                                  </p:stCondLst>
                                  <p:childTnLst>
                                    <p:animScale>
                                      <p:cBhvr>
                                        <p:cTn id="12" dur="2000" fill="hold"/>
                                        <p:tgtEl>
                                          <p:spTgt spid="15"/>
                                        </p:tgtEl>
                                      </p:cBhvr>
                                      <p:by x="50000" y="50000"/>
                                    </p:animScale>
                                  </p:childTnLst>
                                </p:cTn>
                              </p:par>
                              <p:par>
                                <p:cTn id="13" presetID="42" presetClass="path" presetSubtype="0" accel="50000" decel="50000" fill="hold" nodeType="withEffect">
                                  <p:stCondLst>
                                    <p:cond delay="0"/>
                                  </p:stCondLst>
                                  <p:childTnLst>
                                    <p:animMotion origin="layout" path="M 0.37201 0.39699 L -4.375E-6 -7.40741E-7 " pathEditMode="relative" rAng="0" ptsTypes="AA">
                                      <p:cBhvr>
                                        <p:cTn id="14" dur="2000" fill="hold"/>
                                        <p:tgtEl>
                                          <p:spTgt spid="15"/>
                                        </p:tgtEl>
                                        <p:attrNameLst>
                                          <p:attrName>ppt_x</p:attrName>
                                          <p:attrName>ppt_y</p:attrName>
                                        </p:attrNameLst>
                                      </p:cBhvr>
                                      <p:rCtr x="-18607" y="-19861"/>
                                    </p:animMotion>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17"/>
                                        </p:tgtEl>
                                      </p:cBhvr>
                                      <p:by x="200000" y="200000"/>
                                    </p:animScale>
                                  </p:childTnLst>
                                </p:cTn>
                              </p:par>
                              <p:par>
                                <p:cTn id="19" presetID="49" presetClass="path" presetSubtype="0" accel="50000" decel="50000" fill="hold" nodeType="withEffect">
                                  <p:stCondLst>
                                    <p:cond delay="0"/>
                                  </p:stCondLst>
                                  <p:childTnLst>
                                    <p:animMotion origin="layout" path="M -4.58333E-6 -2.22222E-6 L 0.12188 0.39676 " pathEditMode="relative" rAng="0" ptsTypes="AA">
                                      <p:cBhvr>
                                        <p:cTn id="20" dur="2000" fill="hold"/>
                                        <p:tgtEl>
                                          <p:spTgt spid="17"/>
                                        </p:tgtEl>
                                        <p:attrNameLst>
                                          <p:attrName>ppt_x</p:attrName>
                                          <p:attrName>ppt_y</p:attrName>
                                        </p:attrNameLst>
                                      </p:cBhvr>
                                      <p:rCtr x="6094" y="19907"/>
                                    </p:animMotion>
                                  </p:childTnLst>
                                </p:cTn>
                              </p:par>
                            </p:childTnLst>
                          </p:cTn>
                        </p:par>
                      </p:childTnLst>
                    </p:cTn>
                  </p:par>
                  <p:par>
                    <p:cTn id="21" fill="hold">
                      <p:stCondLst>
                        <p:cond delay="indefinite"/>
                      </p:stCondLst>
                      <p:childTnLst>
                        <p:par>
                          <p:cTn id="22" fill="hold">
                            <p:stCondLst>
                              <p:cond delay="0"/>
                            </p:stCondLst>
                            <p:childTnLst>
                              <p:par>
                                <p:cTn id="23" presetID="6" presetClass="emph" presetSubtype="0" fill="hold" nodeType="clickEffect">
                                  <p:stCondLst>
                                    <p:cond delay="0"/>
                                  </p:stCondLst>
                                  <p:childTnLst>
                                    <p:animScale>
                                      <p:cBhvr>
                                        <p:cTn id="24" dur="2000" fill="hold"/>
                                        <p:tgtEl>
                                          <p:spTgt spid="17"/>
                                        </p:tgtEl>
                                      </p:cBhvr>
                                      <p:by x="50000" y="50000"/>
                                    </p:animScale>
                                  </p:childTnLst>
                                </p:cTn>
                              </p:par>
                              <p:par>
                                <p:cTn id="25" presetID="56" presetClass="path" presetSubtype="0" accel="50000" decel="50000" fill="hold" nodeType="withEffect">
                                  <p:stCondLst>
                                    <p:cond delay="0"/>
                                  </p:stCondLst>
                                  <p:childTnLst>
                                    <p:animMotion origin="layout" path="M 0.12188 0.39676 L -4.58333E-6 -2.22222E-6 " pathEditMode="relative" rAng="0" ptsTypes="AA">
                                      <p:cBhvr>
                                        <p:cTn id="26" dur="2000" fill="hold"/>
                                        <p:tgtEl>
                                          <p:spTgt spid="17"/>
                                        </p:tgtEl>
                                        <p:attrNameLst>
                                          <p:attrName>ppt_x</p:attrName>
                                          <p:attrName>ppt_y</p:attrName>
                                        </p:attrNameLst>
                                      </p:cBhvr>
                                      <p:rCtr x="-6094" y="-19769"/>
                                    </p:animMotion>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18"/>
                                        </p:tgtEl>
                                      </p:cBhvr>
                                      <p:by x="200000" y="200000"/>
                                    </p:animScale>
                                  </p:childTnLst>
                                </p:cTn>
                              </p:par>
                              <p:par>
                                <p:cTn id="31" presetID="49" presetClass="path" presetSubtype="0" accel="50000" decel="50000" fill="hold" nodeType="withEffect">
                                  <p:stCondLst>
                                    <p:cond delay="0"/>
                                  </p:stCondLst>
                                  <p:childTnLst>
                                    <p:animMotion origin="layout" path="M 3.95833E-6 -3.7037E-6 L -0.12279 0.39653 " pathEditMode="relative" rAng="0" ptsTypes="AA">
                                      <p:cBhvr>
                                        <p:cTn id="32" dur="2000" fill="hold"/>
                                        <p:tgtEl>
                                          <p:spTgt spid="18"/>
                                        </p:tgtEl>
                                        <p:attrNameLst>
                                          <p:attrName>ppt_x</p:attrName>
                                          <p:attrName>ppt_y</p:attrName>
                                        </p:attrNameLst>
                                      </p:cBhvr>
                                      <p:rCtr x="-6146" y="19745"/>
                                    </p:animMotion>
                                  </p:childTnLst>
                                </p:cTn>
                              </p:par>
                            </p:childTnLst>
                          </p:cTn>
                        </p:par>
                      </p:childTnLst>
                    </p:cTn>
                  </p:par>
                  <p:par>
                    <p:cTn id="33" fill="hold">
                      <p:stCondLst>
                        <p:cond delay="indefinite"/>
                      </p:stCondLst>
                      <p:childTnLst>
                        <p:par>
                          <p:cTn id="34" fill="hold">
                            <p:stCondLst>
                              <p:cond delay="0"/>
                            </p:stCondLst>
                            <p:childTnLst>
                              <p:par>
                                <p:cTn id="35" presetID="6" presetClass="emph" presetSubtype="0" fill="hold" nodeType="clickEffect">
                                  <p:stCondLst>
                                    <p:cond delay="0"/>
                                  </p:stCondLst>
                                  <p:childTnLst>
                                    <p:animScale>
                                      <p:cBhvr>
                                        <p:cTn id="36" dur="2000" fill="hold"/>
                                        <p:tgtEl>
                                          <p:spTgt spid="18"/>
                                        </p:tgtEl>
                                      </p:cBhvr>
                                      <p:by x="50000" y="50000"/>
                                    </p:animScale>
                                  </p:childTnLst>
                                </p:cTn>
                              </p:par>
                              <p:par>
                                <p:cTn id="37" presetID="49" presetClass="path" presetSubtype="0" accel="50000" decel="50000" fill="hold" nodeType="withEffect">
                                  <p:stCondLst>
                                    <p:cond delay="0"/>
                                  </p:stCondLst>
                                  <p:childTnLst>
                                    <p:animMotion origin="layout" path="M -0.12279 0.39653 L 3.95833E-6 -3.7037E-6 " pathEditMode="relative" rAng="0" ptsTypes="AA">
                                      <p:cBhvr>
                                        <p:cTn id="38" dur="2000" fill="hold"/>
                                        <p:tgtEl>
                                          <p:spTgt spid="18"/>
                                        </p:tgtEl>
                                        <p:attrNameLst>
                                          <p:attrName>ppt_x</p:attrName>
                                          <p:attrName>ppt_y</p:attrName>
                                        </p:attrNameLst>
                                      </p:cBhvr>
                                      <p:rCtr x="6133" y="-20046"/>
                                    </p:animMotion>
                                  </p:childTnLst>
                                </p:cTn>
                              </p:par>
                            </p:childTnLst>
                          </p:cTn>
                        </p:par>
                      </p:childTnLst>
                    </p:cTn>
                  </p:par>
                  <p:par>
                    <p:cTn id="39" fill="hold">
                      <p:stCondLst>
                        <p:cond delay="indefinite"/>
                      </p:stCondLst>
                      <p:childTnLst>
                        <p:par>
                          <p:cTn id="40" fill="hold">
                            <p:stCondLst>
                              <p:cond delay="0"/>
                            </p:stCondLst>
                            <p:childTnLst>
                              <p:par>
                                <p:cTn id="41" presetID="6" presetClass="emph" presetSubtype="0" fill="hold" nodeType="clickEffect">
                                  <p:stCondLst>
                                    <p:cond delay="0"/>
                                  </p:stCondLst>
                                  <p:childTnLst>
                                    <p:animScale>
                                      <p:cBhvr>
                                        <p:cTn id="42" dur="2000" fill="hold"/>
                                        <p:tgtEl>
                                          <p:spTgt spid="19"/>
                                        </p:tgtEl>
                                      </p:cBhvr>
                                      <p:by x="200000" y="200000"/>
                                    </p:animScale>
                                  </p:childTnLst>
                                </p:cTn>
                              </p:par>
                              <p:par>
                                <p:cTn id="43" presetID="42" presetClass="path" presetSubtype="0" accel="50000" decel="50000" fill="hold" nodeType="withEffect">
                                  <p:stCondLst>
                                    <p:cond delay="0"/>
                                  </p:stCondLst>
                                  <p:childTnLst>
                                    <p:animMotion origin="layout" path="M 4.16667E-6 -7.40741E-7 L -0.37266 0.39699 " pathEditMode="relative" rAng="0" ptsTypes="AA">
                                      <p:cBhvr>
                                        <p:cTn id="44" dur="2000" fill="hold"/>
                                        <p:tgtEl>
                                          <p:spTgt spid="19"/>
                                        </p:tgtEl>
                                        <p:attrNameLst>
                                          <p:attrName>ppt_x</p:attrName>
                                          <p:attrName>ppt_y</p:attrName>
                                        </p:attrNameLst>
                                      </p:cBhvr>
                                      <p:rCtr x="-18633" y="19838"/>
                                    </p:animMotion>
                                  </p:childTnLst>
                                </p:cTn>
                              </p:par>
                            </p:childTnLst>
                          </p:cTn>
                        </p:par>
                      </p:childTnLst>
                    </p:cTn>
                  </p:par>
                  <p:par>
                    <p:cTn id="45" fill="hold">
                      <p:stCondLst>
                        <p:cond delay="indefinite"/>
                      </p:stCondLst>
                      <p:childTnLst>
                        <p:par>
                          <p:cTn id="46" fill="hold">
                            <p:stCondLst>
                              <p:cond delay="0"/>
                            </p:stCondLst>
                            <p:childTnLst>
                              <p:par>
                                <p:cTn id="47" presetID="6" presetClass="emph" presetSubtype="0" fill="hold" nodeType="clickEffect">
                                  <p:stCondLst>
                                    <p:cond delay="0"/>
                                  </p:stCondLst>
                                  <p:childTnLst>
                                    <p:animScale>
                                      <p:cBhvr>
                                        <p:cTn id="48" dur="2000" fill="hold"/>
                                        <p:tgtEl>
                                          <p:spTgt spid="19"/>
                                        </p:tgtEl>
                                      </p:cBhvr>
                                      <p:by x="50000" y="50000"/>
                                    </p:animScale>
                                  </p:childTnLst>
                                </p:cTn>
                              </p:par>
                              <p:par>
                                <p:cTn id="49" presetID="49" presetClass="path" presetSubtype="0" accel="50000" decel="50000" fill="hold" nodeType="withEffect">
                                  <p:stCondLst>
                                    <p:cond delay="0"/>
                                  </p:stCondLst>
                                  <p:childTnLst>
                                    <p:animMotion origin="layout" path="M -0.37266 0.39699 L 4.16667E-6 -7.40741E-7 " pathEditMode="relative" rAng="0" ptsTypes="AA">
                                      <p:cBhvr>
                                        <p:cTn id="50" dur="2000" fill="hold"/>
                                        <p:tgtEl>
                                          <p:spTgt spid="19"/>
                                        </p:tgtEl>
                                        <p:attrNameLst>
                                          <p:attrName>ppt_x</p:attrName>
                                          <p:attrName>ppt_y</p:attrName>
                                        </p:attrNameLst>
                                      </p:cBhvr>
                                      <p:rCtr x="18633" y="-19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215CC-0E20-61C0-91C8-B30AD7962C6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8B19F07-94C6-BEE3-231A-C744979DB78C}"/>
              </a:ext>
            </a:extLst>
          </p:cNvPr>
          <p:cNvSpPr/>
          <p:nvPr/>
        </p:nvSpPr>
        <p:spPr>
          <a:xfrm>
            <a:off x="-121920" y="824138"/>
            <a:ext cx="12405360" cy="6094821"/>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1" name="Grupo 10">
            <a:extLst>
              <a:ext uri="{FF2B5EF4-FFF2-40B4-BE49-F238E27FC236}">
                <a16:creationId xmlns:a16="http://schemas.microsoft.com/office/drawing/2014/main" id="{8659A7A7-F147-8B1B-A7E6-E797759385D9}"/>
              </a:ext>
            </a:extLst>
          </p:cNvPr>
          <p:cNvGrpSpPr/>
          <p:nvPr/>
        </p:nvGrpSpPr>
        <p:grpSpPr>
          <a:xfrm>
            <a:off x="-3166" y="-3556"/>
            <a:ext cx="12200147" cy="840333"/>
            <a:chOff x="-3166" y="-3556"/>
            <a:chExt cx="12200147" cy="840333"/>
          </a:xfrm>
        </p:grpSpPr>
        <p:sp>
          <p:nvSpPr>
            <p:cNvPr id="4" name="Rectángulo 3">
              <a:extLst>
                <a:ext uri="{FF2B5EF4-FFF2-40B4-BE49-F238E27FC236}">
                  <a16:creationId xmlns:a16="http://schemas.microsoft.com/office/drawing/2014/main" id="{3020B815-9DCB-DBA9-A6F8-63E660A6CF6C}"/>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 8. Resultados</a:t>
              </a:r>
              <a:endParaRPr lang="es-ES"/>
            </a:p>
          </p:txBody>
        </p:sp>
        <p:sp>
          <p:nvSpPr>
            <p:cNvPr id="10" name="Rectángulo 9">
              <a:extLst>
                <a:ext uri="{FF2B5EF4-FFF2-40B4-BE49-F238E27FC236}">
                  <a16:creationId xmlns:a16="http://schemas.microsoft.com/office/drawing/2014/main" id="{6A04BD37-C2A5-8EEF-E4CB-83E16350362B}"/>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21" name="Grupo 20">
            <a:extLst>
              <a:ext uri="{FF2B5EF4-FFF2-40B4-BE49-F238E27FC236}">
                <a16:creationId xmlns:a16="http://schemas.microsoft.com/office/drawing/2014/main" id="{0D92DD8B-7BB1-2EED-2725-938DED788565}"/>
              </a:ext>
            </a:extLst>
          </p:cNvPr>
          <p:cNvGrpSpPr/>
          <p:nvPr/>
        </p:nvGrpSpPr>
        <p:grpSpPr>
          <a:xfrm>
            <a:off x="0" y="834299"/>
            <a:ext cx="12192000" cy="6023701"/>
            <a:chOff x="0" y="834299"/>
            <a:chExt cx="12192000" cy="6023701"/>
          </a:xfrm>
        </p:grpSpPr>
        <p:pic>
          <p:nvPicPr>
            <p:cNvPr id="5" name="Imagen 4" descr="Captura de pantalla de computadora&#10;&#10;El contenido generado por IA puede ser incorrecto.">
              <a:extLst>
                <a:ext uri="{FF2B5EF4-FFF2-40B4-BE49-F238E27FC236}">
                  <a16:creationId xmlns:a16="http://schemas.microsoft.com/office/drawing/2014/main" id="{89D90B7F-EC8F-35FB-7EF2-4E35519F4878}"/>
                </a:ext>
              </a:extLst>
            </p:cNvPr>
            <p:cNvPicPr>
              <a:picLocks noChangeAspect="1"/>
            </p:cNvPicPr>
            <p:nvPr/>
          </p:nvPicPr>
          <p:blipFill>
            <a:blip r:embed="rId2"/>
            <a:srcRect t="3492"/>
            <a:stretch>
              <a:fillRect/>
            </a:stretch>
          </p:blipFill>
          <p:spPr>
            <a:xfrm>
              <a:off x="0" y="834299"/>
              <a:ext cx="12192000" cy="6023701"/>
            </a:xfrm>
            <a:prstGeom prst="rect">
              <a:avLst/>
            </a:prstGeom>
          </p:spPr>
        </p:pic>
        <p:pic>
          <p:nvPicPr>
            <p:cNvPr id="16" name="Gráfico 15">
              <a:extLst>
                <a:ext uri="{FF2B5EF4-FFF2-40B4-BE49-F238E27FC236}">
                  <a16:creationId xmlns:a16="http://schemas.microsoft.com/office/drawing/2014/main" id="{A86D230C-2C80-2F45-4EB9-1EBF304050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894" y="2423160"/>
              <a:ext cx="5993704" cy="3827328"/>
            </a:xfrm>
            <a:prstGeom prst="rect">
              <a:avLst/>
            </a:prstGeom>
          </p:spPr>
        </p:pic>
        <p:pic>
          <p:nvPicPr>
            <p:cNvPr id="20" name="Gráfico 19">
              <a:extLst>
                <a:ext uri="{FF2B5EF4-FFF2-40B4-BE49-F238E27FC236}">
                  <a16:creationId xmlns:a16="http://schemas.microsoft.com/office/drawing/2014/main" id="{E6098375-BDFE-5E9E-714E-96E109D4AB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3141" y="2423160"/>
              <a:ext cx="5993704" cy="3827328"/>
            </a:xfrm>
            <a:prstGeom prst="rect">
              <a:avLst/>
            </a:prstGeom>
          </p:spPr>
        </p:pic>
      </p:grpSp>
      <p:pic>
        <p:nvPicPr>
          <p:cNvPr id="8" name="Gráfico 7">
            <a:extLst>
              <a:ext uri="{FF2B5EF4-FFF2-40B4-BE49-F238E27FC236}">
                <a16:creationId xmlns:a16="http://schemas.microsoft.com/office/drawing/2014/main" id="{27269F2F-5316-E514-DD93-8CA0843E5A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030" y="2420682"/>
            <a:ext cx="5988570" cy="3824960"/>
          </a:xfrm>
          <a:prstGeom prst="rect">
            <a:avLst/>
          </a:prstGeom>
        </p:spPr>
      </p:pic>
      <p:pic>
        <p:nvPicPr>
          <p:cNvPr id="14" name="Gráfico 13">
            <a:extLst>
              <a:ext uri="{FF2B5EF4-FFF2-40B4-BE49-F238E27FC236}">
                <a16:creationId xmlns:a16="http://schemas.microsoft.com/office/drawing/2014/main" id="{E1A804CE-36E5-B037-8FD1-8A929A6F64A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39426" y="2420682"/>
            <a:ext cx="5986069" cy="3824960"/>
          </a:xfrm>
          <a:prstGeom prst="rect">
            <a:avLst/>
          </a:prstGeom>
        </p:spPr>
      </p:pic>
    </p:spTree>
    <p:extLst>
      <p:ext uri="{BB962C8B-B14F-4D97-AF65-F5344CB8AC3E}">
        <p14:creationId xmlns:p14="http://schemas.microsoft.com/office/powerpoint/2010/main" val="102631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6E6CE-6C69-C840-D3CE-3BA24A77613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12FF36E-493A-57C1-5386-8C625356CB90}"/>
              </a:ext>
            </a:extLst>
          </p:cNvPr>
          <p:cNvSpPr/>
          <p:nvPr/>
        </p:nvSpPr>
        <p:spPr>
          <a:xfrm>
            <a:off x="-121920" y="824138"/>
            <a:ext cx="12405360" cy="6094821"/>
          </a:xfrm>
          <a:prstGeom prst="rect">
            <a:avLst/>
          </a:prstGeom>
          <a:solidFill>
            <a:srgbClr val="1E1E1E"/>
          </a:solidFill>
          <a:ln>
            <a:solidFill>
              <a:srgbClr val="1E1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Imagen 8" descr="Captura de pantalla de computadora&#10;&#10;El contenido generado por IA puede ser incorrecto.">
            <a:extLst>
              <a:ext uri="{FF2B5EF4-FFF2-40B4-BE49-F238E27FC236}">
                <a16:creationId xmlns:a16="http://schemas.microsoft.com/office/drawing/2014/main" id="{4F3B87CF-4EBB-87A9-6A38-18921E478C3D}"/>
              </a:ext>
            </a:extLst>
          </p:cNvPr>
          <p:cNvPicPr>
            <a:picLocks noChangeAspect="1"/>
          </p:cNvPicPr>
          <p:nvPr/>
        </p:nvPicPr>
        <p:blipFill>
          <a:blip r:embed="rId2"/>
          <a:srcRect t="3722"/>
          <a:stretch>
            <a:fillRect/>
          </a:stretch>
        </p:blipFill>
        <p:spPr>
          <a:xfrm>
            <a:off x="-15240" y="834298"/>
            <a:ext cx="12192000" cy="6023701"/>
          </a:xfrm>
          <a:prstGeom prst="rect">
            <a:avLst/>
          </a:prstGeom>
        </p:spPr>
      </p:pic>
      <p:grpSp>
        <p:nvGrpSpPr>
          <p:cNvPr id="11" name="Grupo 10">
            <a:extLst>
              <a:ext uri="{FF2B5EF4-FFF2-40B4-BE49-F238E27FC236}">
                <a16:creationId xmlns:a16="http://schemas.microsoft.com/office/drawing/2014/main" id="{249D9E71-DA61-502B-6AA8-601A17207607}"/>
              </a:ext>
            </a:extLst>
          </p:cNvPr>
          <p:cNvGrpSpPr/>
          <p:nvPr/>
        </p:nvGrpSpPr>
        <p:grpSpPr>
          <a:xfrm>
            <a:off x="-3166" y="-3556"/>
            <a:ext cx="12200147" cy="840333"/>
            <a:chOff x="-3166" y="-3556"/>
            <a:chExt cx="12200147" cy="840333"/>
          </a:xfrm>
        </p:grpSpPr>
        <p:sp>
          <p:nvSpPr>
            <p:cNvPr id="4" name="Rectángulo 3">
              <a:extLst>
                <a:ext uri="{FF2B5EF4-FFF2-40B4-BE49-F238E27FC236}">
                  <a16:creationId xmlns:a16="http://schemas.microsoft.com/office/drawing/2014/main" id="{8E8AE07E-264B-6BE4-78AA-AEB626728141}"/>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 8. Resultados – Estabilidad</a:t>
              </a:r>
              <a:endParaRPr lang="es-ES"/>
            </a:p>
          </p:txBody>
        </p:sp>
        <p:sp>
          <p:nvSpPr>
            <p:cNvPr id="10" name="Rectángulo 9">
              <a:extLst>
                <a:ext uri="{FF2B5EF4-FFF2-40B4-BE49-F238E27FC236}">
                  <a16:creationId xmlns:a16="http://schemas.microsoft.com/office/drawing/2014/main" id="{52426D51-D1A8-D643-EA00-827E40B9DDC1}"/>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pic>
        <p:nvPicPr>
          <p:cNvPr id="8" name="Gráfico 7">
            <a:extLst>
              <a:ext uri="{FF2B5EF4-FFF2-40B4-BE49-F238E27FC236}">
                <a16:creationId xmlns:a16="http://schemas.microsoft.com/office/drawing/2014/main" id="{2F6E8B1B-4192-D23E-87C3-42E224385F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52" y="2410948"/>
            <a:ext cx="5988570" cy="3824960"/>
          </a:xfrm>
          <a:prstGeom prst="rect">
            <a:avLst/>
          </a:prstGeom>
        </p:spPr>
      </p:pic>
      <p:pic>
        <p:nvPicPr>
          <p:cNvPr id="14" name="Gráfico 13">
            <a:extLst>
              <a:ext uri="{FF2B5EF4-FFF2-40B4-BE49-F238E27FC236}">
                <a16:creationId xmlns:a16="http://schemas.microsoft.com/office/drawing/2014/main" id="{71F6ADFB-85D3-9097-6715-EA71A8DAB8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30979" y="2410948"/>
            <a:ext cx="5986069" cy="3824960"/>
          </a:xfrm>
          <a:prstGeom prst="rect">
            <a:avLst/>
          </a:prstGeom>
        </p:spPr>
      </p:pic>
      <p:pic>
        <p:nvPicPr>
          <p:cNvPr id="6" name="Imagen 5" descr="Gráfico, Gráfico de líneas&#10;&#10;El contenido generado por IA puede ser incorrecto.">
            <a:extLst>
              <a:ext uri="{FF2B5EF4-FFF2-40B4-BE49-F238E27FC236}">
                <a16:creationId xmlns:a16="http://schemas.microsoft.com/office/drawing/2014/main" id="{74ED6847-86DA-49DF-7074-F71C324422AE}"/>
              </a:ext>
            </a:extLst>
          </p:cNvPr>
          <p:cNvPicPr>
            <a:picLocks noChangeAspect="1"/>
          </p:cNvPicPr>
          <p:nvPr/>
        </p:nvPicPr>
        <p:blipFill>
          <a:blip r:embed="rId7"/>
          <a:stretch>
            <a:fillRect/>
          </a:stretch>
        </p:blipFill>
        <p:spPr>
          <a:xfrm>
            <a:off x="1353879" y="1458203"/>
            <a:ext cx="9484242" cy="4464287"/>
          </a:xfrm>
          <a:prstGeom prst="rect">
            <a:avLst/>
          </a:prstGeom>
        </p:spPr>
      </p:pic>
    </p:spTree>
    <p:extLst>
      <p:ext uri="{BB962C8B-B14F-4D97-AF65-F5344CB8AC3E}">
        <p14:creationId xmlns:p14="http://schemas.microsoft.com/office/powerpoint/2010/main" val="96389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CA13-121A-35DA-D820-EE4C07AE77E2}"/>
            </a:ext>
          </a:extLst>
        </p:cNvPr>
        <p:cNvGrpSpPr/>
        <p:nvPr/>
      </p:nvGrpSpPr>
      <p:grpSpPr>
        <a:xfrm>
          <a:off x="0" y="0"/>
          <a:ext cx="0" cy="0"/>
          <a:chOff x="0" y="0"/>
          <a:chExt cx="0" cy="0"/>
        </a:xfrm>
      </p:grpSpPr>
      <p:grpSp>
        <p:nvGrpSpPr>
          <p:cNvPr id="28" name="Grupo 27">
            <a:extLst>
              <a:ext uri="{FF2B5EF4-FFF2-40B4-BE49-F238E27FC236}">
                <a16:creationId xmlns:a16="http://schemas.microsoft.com/office/drawing/2014/main" id="{DB81EAD2-6F9C-F144-915D-60EE9B4E7495}"/>
              </a:ext>
            </a:extLst>
          </p:cNvPr>
          <p:cNvGrpSpPr/>
          <p:nvPr/>
        </p:nvGrpSpPr>
        <p:grpSpPr>
          <a:xfrm>
            <a:off x="-3166" y="-3556"/>
            <a:ext cx="12200147" cy="840333"/>
            <a:chOff x="-3166" y="-3556"/>
            <a:chExt cx="12200147" cy="840333"/>
          </a:xfrm>
        </p:grpSpPr>
        <p:sp>
          <p:nvSpPr>
            <p:cNvPr id="26" name="Rectángulo 25">
              <a:extLst>
                <a:ext uri="{FF2B5EF4-FFF2-40B4-BE49-F238E27FC236}">
                  <a16:creationId xmlns:a16="http://schemas.microsoft.com/office/drawing/2014/main" id="{1D2926BB-0ABB-16D3-D08E-023EF94CAFF3}"/>
                </a:ext>
              </a:extLst>
            </p:cNvPr>
            <p:cNvSpPr/>
            <p:nvPr/>
          </p:nvSpPr>
          <p:spPr>
            <a:xfrm>
              <a:off x="-3166" y="-30"/>
              <a:ext cx="12200147" cy="834329"/>
            </a:xfrm>
            <a:prstGeom prst="rect">
              <a:avLst/>
            </a:prstGeom>
            <a:solidFill>
              <a:srgbClr val="3259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s-ES" sz="4400">
                  <a:solidFill>
                    <a:srgbClr val="FFFFFF"/>
                  </a:solidFill>
                  <a:latin typeface="Times New Roman"/>
                  <a:cs typeface="Times New Roman"/>
                </a:rPr>
                <a:t> 9. Conclusiones</a:t>
              </a:r>
              <a:endParaRPr lang="es-ES"/>
            </a:p>
          </p:txBody>
        </p:sp>
        <p:sp>
          <p:nvSpPr>
            <p:cNvPr id="27" name="Rectángulo 26">
              <a:extLst>
                <a:ext uri="{FF2B5EF4-FFF2-40B4-BE49-F238E27FC236}">
                  <a16:creationId xmlns:a16="http://schemas.microsoft.com/office/drawing/2014/main" id="{6D702B8E-92B4-E785-95FD-1F54EE0829A7}"/>
                </a:ext>
              </a:extLst>
            </p:cNvPr>
            <p:cNvSpPr/>
            <p:nvPr/>
          </p:nvSpPr>
          <p:spPr>
            <a:xfrm>
              <a:off x="-180" y="-3556"/>
              <a:ext cx="438324" cy="840333"/>
            </a:xfrm>
            <a:prstGeom prst="rect">
              <a:avLst/>
            </a:prstGeom>
            <a:solidFill>
              <a:srgbClr val="EB94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3" name="CuadroTexto 2">
            <a:extLst>
              <a:ext uri="{FF2B5EF4-FFF2-40B4-BE49-F238E27FC236}">
                <a16:creationId xmlns:a16="http://schemas.microsoft.com/office/drawing/2014/main" id="{87A4814F-6FCE-2E28-6992-6C783A62E317}"/>
              </a:ext>
            </a:extLst>
          </p:cNvPr>
          <p:cNvSpPr txBox="1"/>
          <p:nvPr/>
        </p:nvSpPr>
        <p:spPr>
          <a:xfrm>
            <a:off x="876499" y="1541228"/>
            <a:ext cx="1043104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s-ES" sz="2400">
                <a:latin typeface="Times New Roman"/>
                <a:cs typeface="Times New Roman"/>
              </a:rPr>
              <a:t>Órbitas periódicas en puntos de Lagrange inestables.</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latin typeface="Times New Roman"/>
                <a:cs typeface="Times New Roman"/>
              </a:rPr>
              <a:t>Complejidad de selección de CI.</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latin typeface="Times New Roman"/>
                <a:cs typeface="Times New Roman"/>
              </a:rPr>
              <a:t>Órbitas planas simétricas respecto del eje X.</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solidFill>
                  <a:srgbClr val="000000"/>
                </a:solidFill>
                <a:latin typeface="Times New Roman"/>
                <a:ea typeface="+mn-lt"/>
                <a:cs typeface="Times New Roman"/>
              </a:rPr>
              <a:t>Herramienta sencilla para obtener y evaluar la estabilidad de órbitas de </a:t>
            </a:r>
            <a:r>
              <a:rPr lang="es-ES" sz="2400" err="1">
                <a:solidFill>
                  <a:srgbClr val="000000"/>
                </a:solidFill>
                <a:latin typeface="Times New Roman"/>
                <a:ea typeface="+mn-lt"/>
                <a:cs typeface="Times New Roman"/>
              </a:rPr>
              <a:t>Lyapunov</a:t>
            </a:r>
            <a:r>
              <a:rPr lang="es-ES" sz="2400">
                <a:solidFill>
                  <a:srgbClr val="000000"/>
                </a:solidFill>
                <a:latin typeface="Times New Roman"/>
                <a:ea typeface="+mn-lt"/>
                <a:cs typeface="Times New Roman"/>
              </a:rPr>
              <a:t> en el CRTBP.</a:t>
            </a:r>
          </a:p>
          <a:p>
            <a:pPr marL="285750" indent="-285750">
              <a:buFont typeface="Wingdings"/>
              <a:buChar char="Ø"/>
            </a:pPr>
            <a:endParaRPr lang="es-ES" sz="2400">
              <a:latin typeface="Times New Roman"/>
              <a:cs typeface="Times New Roman"/>
            </a:endParaRPr>
          </a:p>
          <a:p>
            <a:pPr marL="285750" indent="-285750">
              <a:buFont typeface="Wingdings"/>
              <a:buChar char="Ø"/>
            </a:pPr>
            <a:r>
              <a:rPr lang="es-ES" sz="2400">
                <a:latin typeface="Times New Roman"/>
                <a:cs typeface="Times New Roman"/>
              </a:rPr>
              <a:t>Aplicaciones: Artemis o CAPSTONE.</a:t>
            </a:r>
          </a:p>
        </p:txBody>
      </p:sp>
    </p:spTree>
    <p:extLst>
      <p:ext uri="{BB962C8B-B14F-4D97-AF65-F5344CB8AC3E}">
        <p14:creationId xmlns:p14="http://schemas.microsoft.com/office/powerpoint/2010/main" val="1030946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BD4A47-6D00-70CF-32A6-D4A1AE37FFB3}"/>
              </a:ext>
            </a:extLst>
          </p:cNvPr>
          <p:cNvSpPr>
            <a:spLocks noGrp="1"/>
          </p:cNvSpPr>
          <p:nvPr>
            <p:ph type="title"/>
          </p:nvPr>
        </p:nvSpPr>
        <p:spPr/>
        <p:txBody>
          <a:bodyPr>
            <a:normAutofit/>
          </a:bodyPr>
          <a:lstStyle/>
          <a:p>
            <a:pPr>
              <a:spcBef>
                <a:spcPts val="1000"/>
              </a:spcBef>
            </a:pPr>
            <a:r>
              <a:rPr lang="es-ES" sz="3600">
                <a:latin typeface="Aptos"/>
              </a:rPr>
              <a:t>Especificación del software</a:t>
            </a:r>
            <a:endParaRPr lang="en-US" sz="3600">
              <a:latin typeface="Aptos"/>
            </a:endParaRPr>
          </a:p>
        </p:txBody>
      </p:sp>
      <p:sp>
        <p:nvSpPr>
          <p:cNvPr id="3" name="Marcador de contenido 2">
            <a:extLst>
              <a:ext uri="{FF2B5EF4-FFF2-40B4-BE49-F238E27FC236}">
                <a16:creationId xmlns:a16="http://schemas.microsoft.com/office/drawing/2014/main" id="{80D64DB8-4964-C6D0-5A3B-49B5483DE8C5}"/>
              </a:ext>
            </a:extLst>
          </p:cNvPr>
          <p:cNvSpPr>
            <a:spLocks noGrp="1"/>
          </p:cNvSpPr>
          <p:nvPr>
            <p:ph idx="1"/>
          </p:nvPr>
        </p:nvSpPr>
        <p:spPr/>
        <p:txBody>
          <a:bodyPr vert="horz" lIns="91440" tIns="45720" rIns="91440" bIns="45720" rtlCol="0" anchor="t">
            <a:normAutofit/>
          </a:bodyPr>
          <a:lstStyle/>
          <a:p>
            <a:pPr marL="0" indent="0" algn="just">
              <a:buNone/>
            </a:pPr>
            <a:r>
              <a:rPr lang="es-ES" sz="2400">
                <a:ea typeface="+mn-lt"/>
                <a:cs typeface="+mn-lt"/>
              </a:rPr>
              <a:t>El objetivo de nuestro software es servir como un explorador de órbitas de </a:t>
            </a:r>
            <a:r>
              <a:rPr lang="es-ES" sz="2400" err="1">
                <a:ea typeface="+mn-lt"/>
                <a:cs typeface="+mn-lt"/>
              </a:rPr>
              <a:t>Lyapunov</a:t>
            </a:r>
            <a:r>
              <a:rPr lang="es-ES" sz="2400">
                <a:ea typeface="+mn-lt"/>
                <a:cs typeface="+mn-lt"/>
              </a:rPr>
              <a:t> alrededor de estos puntos colineales. </a:t>
            </a:r>
          </a:p>
          <a:p>
            <a:pPr marL="0" indent="0" algn="just">
              <a:buNone/>
            </a:pPr>
            <a:endParaRPr lang="es-ES" sz="2400"/>
          </a:p>
          <a:p>
            <a:pPr marL="457200" indent="-457200" algn="just">
              <a:buAutoNum type="arabicPeriod"/>
            </a:pPr>
            <a:r>
              <a:rPr lang="es-ES" sz="2400"/>
              <a:t>Explorar órbitas periódicas alrededor de los puntos de Lagrange</a:t>
            </a:r>
            <a:endParaRPr lang="es-ES"/>
          </a:p>
          <a:p>
            <a:pPr marL="457200" indent="-457200" algn="just">
              <a:buAutoNum type="arabicPeriod"/>
            </a:pPr>
            <a:r>
              <a:rPr lang="es-ES" sz="2400"/>
              <a:t>Generar condiciones iniciales para distintas órbitas</a:t>
            </a:r>
            <a:endParaRPr lang="es-ES"/>
          </a:p>
          <a:p>
            <a:pPr marL="457200" indent="-457200" algn="just">
              <a:buAutoNum type="arabicPeriod"/>
            </a:pPr>
            <a:r>
              <a:rPr lang="es-ES" sz="2400"/>
              <a:t>Modificar el parámetro μ y elegir qué punto de Lagrange estudiar</a:t>
            </a:r>
            <a:endParaRPr lang="es-ES"/>
          </a:p>
          <a:p>
            <a:pPr marL="457200" indent="-457200" algn="just">
              <a:buAutoNum type="arabicPeriod"/>
            </a:pPr>
            <a:r>
              <a:rPr lang="es-ES" sz="2400"/>
              <a:t>Analizar la estabilidad de las órbitas obtenidas</a:t>
            </a:r>
            <a:endParaRPr lang="es-ES"/>
          </a:p>
          <a:p>
            <a:pPr marL="457200" indent="-457200" algn="just">
              <a:buAutoNum type="arabicPeriod"/>
            </a:pPr>
            <a:r>
              <a:rPr lang="es-ES" sz="2400"/>
              <a:t>Usar distintos esquemas numéricos para las integraciones</a:t>
            </a:r>
            <a:endParaRPr lang="es-ES"/>
          </a:p>
          <a:p>
            <a:pPr marL="0" indent="0" algn="just">
              <a:buNone/>
            </a:pPr>
            <a:endParaRPr lang="es-ES" sz="2400"/>
          </a:p>
          <a:p>
            <a:pPr marL="0" indent="0" algn="just">
              <a:buNone/>
            </a:pPr>
            <a:endParaRPr lang="es-ES" sz="2400"/>
          </a:p>
          <a:p>
            <a:pPr marL="0" indent="0" algn="just">
              <a:buNone/>
            </a:pPr>
            <a:endParaRPr lang="es-ES" sz="2400"/>
          </a:p>
        </p:txBody>
      </p:sp>
    </p:spTree>
    <p:extLst>
      <p:ext uri="{BB962C8B-B14F-4D97-AF65-F5344CB8AC3E}">
        <p14:creationId xmlns:p14="http://schemas.microsoft.com/office/powerpoint/2010/main" val="324432889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BE59-FBCD-7CC7-B50E-1DD3E50F6F87}"/>
              </a:ext>
            </a:extLst>
          </p:cNvPr>
          <p:cNvSpPr>
            <a:spLocks noGrp="1"/>
          </p:cNvSpPr>
          <p:nvPr>
            <p:ph type="title"/>
          </p:nvPr>
        </p:nvSpPr>
        <p:spPr/>
        <p:txBody>
          <a:bodyPr/>
          <a:lstStyle/>
          <a:p>
            <a:r>
              <a:rPr lang="es-ES"/>
              <a:t>Especificación del software</a:t>
            </a:r>
          </a:p>
        </p:txBody>
      </p:sp>
      <mc:AlternateContent xmlns:mc="http://schemas.openxmlformats.org/markup-compatibility/2006" xmlns:a14="http://schemas.microsoft.com/office/drawing/2010/main">
        <mc:Choice Requires="a14">
          <p:graphicFrame>
            <p:nvGraphicFramePr>
              <p:cNvPr id="4" name="Diagrama 3">
                <a:extLst>
                  <a:ext uri="{FF2B5EF4-FFF2-40B4-BE49-F238E27FC236}">
                    <a16:creationId xmlns:a16="http://schemas.microsoft.com/office/drawing/2014/main" id="{726137CD-1E3F-DAC3-AF9E-061CBC09A1E6}"/>
                  </a:ext>
                </a:extLst>
              </p:cNvPr>
              <p:cNvGraphicFramePr/>
              <p:nvPr>
                <p:extLst>
                  <p:ext uri="{D42A27DB-BD31-4B8C-83A1-F6EECF244321}">
                    <p14:modId xmlns:p14="http://schemas.microsoft.com/office/powerpoint/2010/main" val="3083554915"/>
                  </p:ext>
                </p:extLst>
              </p:nvPr>
            </p:nvGraphicFramePr>
            <p:xfrm>
              <a:off x="2032000" y="102790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4" name="Diagrama 3">
                <a:extLst>
                  <a:ext uri="{FF2B5EF4-FFF2-40B4-BE49-F238E27FC236}">
                    <a16:creationId xmlns:a16="http://schemas.microsoft.com/office/drawing/2014/main" id="{726137CD-1E3F-DAC3-AF9E-061CBC09A1E6}"/>
                  </a:ext>
                </a:extLst>
              </p:cNvPr>
              <p:cNvGraphicFramePr/>
              <p:nvPr>
                <p:extLst>
                  <p:ext uri="{D42A27DB-BD31-4B8C-83A1-F6EECF244321}">
                    <p14:modId xmlns:p14="http://schemas.microsoft.com/office/powerpoint/2010/main" val="3083554915"/>
                  </p:ext>
                </p:extLst>
              </p:nvPr>
            </p:nvGraphicFramePr>
            <p:xfrm>
              <a:off x="2032000" y="1027906"/>
              <a:ext cx="8128000" cy="54186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3896598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8C7E6-94CD-3749-028B-3C8BD30E48B7}"/>
              </a:ext>
            </a:extLst>
          </p:cNvPr>
          <p:cNvSpPr>
            <a:spLocks noGrp="1"/>
          </p:cNvSpPr>
          <p:nvPr>
            <p:ph type="title"/>
          </p:nvPr>
        </p:nvSpPr>
        <p:spPr/>
        <p:txBody>
          <a:bodyPr/>
          <a:lstStyle/>
          <a:p>
            <a:r>
              <a:rPr lang="es-ES"/>
              <a:t>Algoritmos: Método </a:t>
            </a:r>
            <a:r>
              <a:rPr lang="es-ES" i="1"/>
              <a:t>single </a:t>
            </a:r>
            <a:r>
              <a:rPr lang="es-ES" i="1" err="1"/>
              <a:t>shooting</a:t>
            </a:r>
            <a:endParaRPr lang="es-ES"/>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F02CC76-EA20-4B58-D17D-59F2C310CA8D}"/>
                  </a:ext>
                </a:extLst>
              </p:cNvPr>
              <p:cNvSpPr>
                <a:spLocks noGrp="1"/>
              </p:cNvSpPr>
              <p:nvPr>
                <p:ph idx="1"/>
              </p:nvPr>
            </p:nvSpPr>
            <p:spPr>
              <a:xfrm>
                <a:off x="838200" y="1477818"/>
                <a:ext cx="10515600" cy="4699145"/>
              </a:xfrm>
            </p:spPr>
            <p:txBody>
              <a:bodyPr>
                <a:normAutofit/>
              </a:bodyPr>
              <a:lstStyle/>
              <a:p>
                <a:pPr>
                  <a:lnSpc>
                    <a:spcPct val="150000"/>
                  </a:lnSpc>
                </a:pPr>
                <a:r>
                  <a:rPr lang="es-ES"/>
                  <a:t>Objetivo: Encontrar órbitas periódicas alrededor de los puntos de Lagrange.</a:t>
                </a:r>
              </a:p>
              <a:p>
                <a:pPr>
                  <a:lnSpc>
                    <a:spcPct val="150000"/>
                  </a:lnSpc>
                </a:pPr>
                <a:r>
                  <a:rPr lang="es-ES"/>
                  <a:t>Explotar simetría del CRTBP en el plano </a:t>
                </a:r>
                <a14:m>
                  <m:oMath xmlns:m="http://schemas.openxmlformats.org/officeDocument/2006/math">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𝑦</m:t>
                        </m:r>
                        <m:r>
                          <a:rPr lang="es-ES" b="0" i="1" smtClean="0">
                            <a:latin typeface="Cambria Math" panose="02040503050406030204" pitchFamily="18" charset="0"/>
                          </a:rPr>
                          <m:t>=0</m:t>
                        </m:r>
                      </m:e>
                    </m:d>
                  </m:oMath>
                </a14:m>
                <a:r>
                  <a:rPr lang="es-ES"/>
                  <a:t>.</a:t>
                </a:r>
              </a:p>
              <a:p>
                <a:pPr>
                  <a:lnSpc>
                    <a:spcPct val="150000"/>
                  </a:lnSpc>
                </a:pPr>
                <a:r>
                  <a:rPr lang="es-ES"/>
                  <a:t>Solo hace falta encontrar media órbita.</a:t>
                </a:r>
                <a:endParaRPr lang="es-ES" b="0"/>
              </a:p>
              <a:p>
                <a:pPr>
                  <a:lnSpc>
                    <a:spcPct val="150000"/>
                  </a:lnSpc>
                </a:pPr>
                <a:r>
                  <a:rPr lang="es-ES"/>
                  <a:t>Queremos encontrar </a:t>
                </a:r>
                <a14:m>
                  <m:oMath xmlns:m="http://schemas.openxmlformats.org/officeDocument/2006/math">
                    <m:r>
                      <a:rPr lang="es-ES" b="0" i="1" smtClean="0">
                        <a:latin typeface="Cambria Math" panose="02040503050406030204" pitchFamily="18" charset="0"/>
                      </a:rPr>
                      <m:t>𝛿</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rPr>
                          <m:t>0</m:t>
                        </m:r>
                      </m:sub>
                    </m:sSub>
                    <m:r>
                      <a:rPr lang="es-ES" b="0" i="1" smtClean="0">
                        <a:latin typeface="Cambria Math" panose="02040503050406030204" pitchFamily="18" charset="0"/>
                      </a:rPr>
                      <m:t>, </m:t>
                    </m:r>
                    <m:r>
                      <a:rPr lang="es-ES" b="0" i="1" smtClean="0">
                        <a:latin typeface="Cambria Math" panose="02040503050406030204" pitchFamily="18" charset="0"/>
                      </a:rPr>
                      <m:t>𝛿</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e>
                      <m:sub>
                        <m:r>
                          <a:rPr lang="es-ES" b="0" i="1" smtClean="0">
                            <a:latin typeface="Cambria Math" panose="02040503050406030204" pitchFamily="18" charset="0"/>
                          </a:rPr>
                          <m:t>0</m:t>
                        </m:r>
                      </m:sub>
                    </m:sSub>
                  </m:oMath>
                </a14:m>
                <a:r>
                  <a:rPr lang="es-ES" b="0"/>
                  <a:t> </a:t>
                </a:r>
                <a:r>
                  <a:rPr lang="es-ES" b="0" err="1"/>
                  <a:t>tq</a:t>
                </a:r>
                <a:r>
                  <a:rPr lang="es-ES" b="0"/>
                  <a:t> </a:t>
                </a:r>
                <a14:m>
                  <m:oMath xmlns:m="http://schemas.openxmlformats.org/officeDocument/2006/math">
                    <m:sSub>
                      <m:sSubPr>
                        <m:ctrlPr>
                          <a:rPr lang="es-ES" b="0" i="1" dirty="0"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e>
                      <m:sub>
                        <m:r>
                          <a:rPr lang="es-ES" b="0" i="1" dirty="0" smtClean="0">
                            <a:latin typeface="Cambria Math" panose="02040503050406030204" pitchFamily="18" charset="0"/>
                          </a:rPr>
                          <m:t>𝑇</m:t>
                        </m:r>
                        <m:r>
                          <a:rPr lang="es-ES" b="0" i="1" dirty="0" smtClean="0">
                            <a:latin typeface="Cambria Math" panose="02040503050406030204" pitchFamily="18" charset="0"/>
                          </a:rPr>
                          <m:t>/2</m:t>
                        </m:r>
                      </m:sub>
                    </m:sSub>
                    <m:r>
                      <a:rPr lang="es-ES" b="0" i="1" dirty="0" smtClean="0">
                        <a:latin typeface="Cambria Math" panose="02040503050406030204" pitchFamily="18" charset="0"/>
                      </a:rPr>
                      <m:t>=0</m:t>
                    </m:r>
                  </m:oMath>
                </a14:m>
                <a:r>
                  <a:rPr lang="es-ES" b="0"/>
                  <a:t>, es decir, que al integrar la CI corregida la trayectoria corte el eje X perpendicularmente.</a:t>
                </a:r>
              </a:p>
              <a:p>
                <a:endParaRPr lang="es-ES" b="0"/>
              </a:p>
            </p:txBody>
          </p:sp>
        </mc:Choice>
        <mc:Fallback xmlns="">
          <p:sp>
            <p:nvSpPr>
              <p:cNvPr id="3" name="Marcador de contenido 2">
                <a:extLst>
                  <a:ext uri="{FF2B5EF4-FFF2-40B4-BE49-F238E27FC236}">
                    <a16:creationId xmlns:a16="http://schemas.microsoft.com/office/drawing/2014/main" id="{0F02CC76-EA20-4B58-D17D-59F2C310CA8D}"/>
                  </a:ext>
                </a:extLst>
              </p:cNvPr>
              <p:cNvSpPr>
                <a:spLocks noGrp="1" noRot="1" noChangeAspect="1" noMove="1" noResize="1" noEditPoints="1" noAdjustHandles="1" noChangeArrowheads="1" noChangeShapeType="1" noTextEdit="1"/>
              </p:cNvSpPr>
              <p:nvPr>
                <p:ph idx="1"/>
              </p:nvPr>
            </p:nvSpPr>
            <p:spPr>
              <a:xfrm>
                <a:off x="838200" y="1477818"/>
                <a:ext cx="10515600" cy="4699145"/>
              </a:xfrm>
              <a:blipFill>
                <a:blip r:embed="rId2"/>
                <a:stretch>
                  <a:fillRect l="-1043" r="-464"/>
                </a:stretch>
              </a:blipFill>
            </p:spPr>
            <p:txBody>
              <a:bodyPr/>
              <a:lstStyle/>
              <a:p>
                <a:r>
                  <a:rPr lang="en-US">
                    <a:noFill/>
                  </a:rPr>
                  <a:t> </a:t>
                </a:r>
              </a:p>
            </p:txBody>
          </p:sp>
        </mc:Fallback>
      </mc:AlternateContent>
    </p:spTree>
    <p:extLst>
      <p:ext uri="{BB962C8B-B14F-4D97-AF65-F5344CB8AC3E}">
        <p14:creationId xmlns:p14="http://schemas.microsoft.com/office/powerpoint/2010/main" val="2486524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07197C-51C2-5548-254F-658A84F93777}"/>
              </a:ext>
            </a:extLst>
          </p:cNvPr>
          <p:cNvSpPr>
            <a:spLocks noGrp="1"/>
          </p:cNvSpPr>
          <p:nvPr>
            <p:ph type="title"/>
          </p:nvPr>
        </p:nvSpPr>
        <p:spPr/>
        <p:txBody>
          <a:bodyPr/>
          <a:lstStyle/>
          <a:p>
            <a:r>
              <a:rPr lang="es-ES"/>
              <a:t>Método </a:t>
            </a:r>
            <a:r>
              <a:rPr lang="es-ES" i="1"/>
              <a:t>single </a:t>
            </a:r>
            <a:r>
              <a:rPr lang="es-ES" i="1" err="1"/>
              <a:t>shooting</a:t>
            </a:r>
            <a:r>
              <a:rPr lang="es-ES" i="1"/>
              <a:t> </a:t>
            </a:r>
            <a:r>
              <a:rPr lang="es-ES"/>
              <a:t>(II)</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650D56-6ED7-4995-C522-2294D68B9F3E}"/>
                  </a:ext>
                </a:extLst>
              </p:cNvPr>
              <p:cNvSpPr>
                <a:spLocks noGrp="1"/>
              </p:cNvSpPr>
              <p:nvPr>
                <p:ph idx="1"/>
              </p:nvPr>
            </p:nvSpPr>
            <p:spPr/>
            <p:txBody>
              <a:bodyPr>
                <a:normAutofit fontScale="92500" lnSpcReduction="20000"/>
              </a:bodyPr>
              <a:lstStyle/>
              <a:p>
                <a14:m>
                  <m:oMath xmlns:m="http://schemas.openxmlformats.org/officeDocument/2006/math">
                    <m:r>
                      <a:rPr lang="es-ES" b="0" i="1" smtClean="0">
                        <a:latin typeface="Cambria Math" panose="02040503050406030204" pitchFamily="18" charset="0"/>
                      </a:rPr>
                      <m:t>𝛿</m:t>
                    </m:r>
                    <m:r>
                      <a:rPr lang="es-ES" b="0" i="1" smtClean="0">
                        <a:latin typeface="Cambria Math" panose="02040503050406030204" pitchFamily="18" charset="0"/>
                      </a:rPr>
                      <m:t>𝑋</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rPr>
                              <m:t>𝑇</m:t>
                            </m:r>
                            <m:r>
                              <a:rPr lang="es-ES" b="0" i="1" smtClean="0">
                                <a:latin typeface="Cambria Math" panose="02040503050406030204" pitchFamily="18" charset="0"/>
                              </a:rPr>
                              <m:t>/2</m:t>
                            </m:r>
                          </m:sub>
                        </m:sSub>
                      </m:e>
                    </m:d>
                    <m:r>
                      <a:rPr lang="es-ES" b="0" i="1" smtClean="0">
                        <a:latin typeface="Cambria Math" panose="02040503050406030204" pitchFamily="18" charset="0"/>
                      </a:rPr>
                      <m:t>≈</m:t>
                    </m:r>
                    <m:r>
                      <m:rPr>
                        <m:sty m:val="p"/>
                      </m:rPr>
                      <a:rPr lang="es-ES" b="0" i="0" smtClean="0">
                        <a:latin typeface="Cambria Math" panose="02040503050406030204" pitchFamily="18" charset="0"/>
                      </a:rPr>
                      <m:t>Φ</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rPr>
                                </m:ctrlPr>
                              </m:fPr>
                              <m:num>
                                <m:r>
                                  <a:rPr lang="es-ES" b="0" i="1" smtClean="0">
                                    <a:latin typeface="Cambria Math" panose="02040503050406030204" pitchFamily="18" charset="0"/>
                                  </a:rPr>
                                  <m:t>𝑇</m:t>
                                </m:r>
                              </m:num>
                              <m:den>
                                <m:r>
                                  <a:rPr lang="es-ES" b="0" i="1" smtClean="0">
                                    <a:latin typeface="Cambria Math" panose="02040503050406030204" pitchFamily="18" charset="0"/>
                                  </a:rPr>
                                  <m:t>2</m:t>
                                </m:r>
                              </m:den>
                            </m:f>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rPr>
                              <m:t>0</m:t>
                            </m:r>
                          </m:sub>
                        </m:sSub>
                      </m:e>
                    </m:d>
                    <m:r>
                      <a:rPr lang="es-ES" b="0" i="1" smtClean="0">
                        <a:latin typeface="Cambria Math" panose="02040503050406030204" pitchFamily="18" charset="0"/>
                      </a:rPr>
                      <m:t>𝛿</m:t>
                    </m:r>
                    <m:r>
                      <a:rPr lang="es-ES" b="0" i="1" smtClean="0">
                        <a:latin typeface="Cambria Math" panose="02040503050406030204" pitchFamily="18" charset="0"/>
                      </a:rPr>
                      <m:t>𝑋</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m:t>
                        </m:r>
                        <m:r>
                          <a:rPr lang="es-ES" b="0" i="1" smtClean="0">
                            <a:latin typeface="Cambria Math" panose="02040503050406030204" pitchFamily="18" charset="0"/>
                          </a:rPr>
                          <m:t>𝑋</m:t>
                        </m:r>
                      </m:num>
                      <m:den>
                        <m:r>
                          <a:rPr lang="es-ES" b="0" i="1" smtClean="0">
                            <a:latin typeface="Cambria Math" panose="02040503050406030204" pitchFamily="18" charset="0"/>
                          </a:rPr>
                          <m:t>𝜕</m:t>
                        </m:r>
                        <m:r>
                          <a:rPr lang="es-ES" b="0" i="1" smtClean="0">
                            <a:latin typeface="Cambria Math" panose="02040503050406030204" pitchFamily="18" charset="0"/>
                          </a:rPr>
                          <m:t>𝑡</m:t>
                        </m:r>
                      </m:den>
                    </m:f>
                    <m:r>
                      <a:rPr lang="es-ES" b="0" i="1" smtClean="0">
                        <a:latin typeface="Cambria Math" panose="02040503050406030204" pitchFamily="18" charset="0"/>
                      </a:rPr>
                      <m:t>𝛿</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𝑇</m:t>
                        </m:r>
                      </m:num>
                      <m:den>
                        <m:r>
                          <a:rPr lang="es-ES" b="0" i="1" smtClean="0">
                            <a:latin typeface="Cambria Math" panose="02040503050406030204" pitchFamily="18" charset="0"/>
                          </a:rPr>
                          <m:t>2</m:t>
                        </m:r>
                      </m:den>
                    </m:f>
                    <m:r>
                      <a:rPr lang="es-ES" b="0" i="1" smtClean="0">
                        <a:latin typeface="Cambria Math" panose="02040503050406030204" pitchFamily="18" charset="0"/>
                      </a:rPr>
                      <m:t>)</m:t>
                    </m:r>
                  </m:oMath>
                </a14:m>
                <a:endParaRPr lang="es-ES"/>
              </a:p>
              <a:p>
                <a:r>
                  <a:rPr lang="es-ES"/>
                  <a:t>Operando, se obtiene el paso de corrección:</a:t>
                </a:r>
              </a:p>
              <a:p>
                <a:pPr marL="0" indent="0">
                  <a:buNone/>
                </a:pPr>
                <a:endParaRPr lang="es-ES"/>
              </a:p>
              <a:p>
                <a:pPr marL="0" indent="0">
                  <a:buNone/>
                </a:pPr>
                <a14:m>
                  <m:oMathPara xmlns:m="http://schemas.openxmlformats.org/officeDocument/2006/math">
                    <m:oMathParaPr>
                      <m:jc m:val="centerGroup"/>
                    </m:oMathParaPr>
                    <m:oMath xmlns:m="http://schemas.openxmlformats.org/officeDocument/2006/math">
                      <m:d>
                        <m:dPr>
                          <m:ctrlPr>
                            <a:rPr lang="es-ES" i="1" smtClean="0">
                              <a:latin typeface="Cambria Math" panose="02040503050406030204" pitchFamily="18" charset="0"/>
                            </a:rPr>
                          </m:ctrlPr>
                        </m:dPr>
                        <m:e>
                          <m:m>
                            <m:mPr>
                              <m:mcs>
                                <m:mc>
                                  <m:mcPr>
                                    <m:count m:val="2"/>
                                    <m:mcJc m:val="center"/>
                                  </m:mcPr>
                                </m:mc>
                              </m:mcs>
                              <m:ctrlPr>
                                <a:rPr lang="es-ES" i="1" smtClean="0">
                                  <a:latin typeface="Cambria Math" panose="02040503050406030204" pitchFamily="18" charset="0"/>
                                </a:rPr>
                              </m:ctrlPr>
                            </m:mPr>
                            <m:mr>
                              <m:e>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43</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23</m:t>
                                    </m:r>
                                  </m:sub>
                                </m:sSub>
                                <m:f>
                                  <m:fPr>
                                    <m:ctrlPr>
                                      <a:rPr lang="es-ES" b="0" i="1" smtClean="0">
                                        <a:latin typeface="Cambria Math" panose="02040503050406030204" pitchFamily="18" charset="0"/>
                                      </a:rPr>
                                    </m:ctrlPr>
                                  </m:fPr>
                                  <m:num>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num>
                                  <m:den>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den>
                                </m:f>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45</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25</m:t>
                                    </m:r>
                                  </m:sub>
                                </m:sSub>
                                <m:f>
                                  <m:fPr>
                                    <m:ctrlPr>
                                      <a:rPr lang="es-ES" b="0" i="1" smtClean="0">
                                        <a:latin typeface="Cambria Math" panose="02040503050406030204" pitchFamily="18" charset="0"/>
                                      </a:rPr>
                                    </m:ctrlPr>
                                  </m:fPr>
                                  <m:num>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num>
                                  <m:den>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den>
                                </m:f>
                              </m:e>
                            </m:mr>
                            <m:mr>
                              <m:e>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63</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23</m:t>
                                    </m:r>
                                  </m:sub>
                                </m:sSub>
                                <m:f>
                                  <m:fPr>
                                    <m:ctrlPr>
                                      <a:rPr lang="es-ES" b="0" i="1" smtClean="0">
                                        <a:latin typeface="Cambria Math" panose="02040503050406030204" pitchFamily="18" charset="0"/>
                                      </a:rPr>
                                    </m:ctrlPr>
                                  </m:fPr>
                                  <m:num>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𝑧</m:t>
                                        </m:r>
                                      </m:e>
                                    </m:acc>
                                  </m:num>
                                  <m:den>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den>
                                </m:f>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65</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𝜙</m:t>
                                    </m:r>
                                  </m:e>
                                  <m:sub>
                                    <m:r>
                                      <a:rPr lang="es-ES" b="0" i="1" smtClean="0">
                                        <a:latin typeface="Cambria Math" panose="02040503050406030204" pitchFamily="18" charset="0"/>
                                      </a:rPr>
                                      <m:t>25</m:t>
                                    </m:r>
                                  </m:sub>
                                </m:sSub>
                                <m:f>
                                  <m:fPr>
                                    <m:ctrlPr>
                                      <a:rPr lang="es-ES" b="0" i="1" smtClean="0">
                                        <a:latin typeface="Cambria Math" panose="02040503050406030204" pitchFamily="18" charset="0"/>
                                      </a:rPr>
                                    </m:ctrlPr>
                                  </m:fPr>
                                  <m:num>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𝑧</m:t>
                                        </m:r>
                                      </m:e>
                                    </m:acc>
                                  </m:num>
                                  <m:den>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den>
                                </m:f>
                              </m:e>
                            </m:mr>
                          </m:m>
                        </m:e>
                      </m:d>
                      <m:d>
                        <m:dPr>
                          <m:ctrlPr>
                            <a:rPr lang="es-ES" i="1" smtClean="0">
                              <a:latin typeface="Cambria Math" panose="02040503050406030204" pitchFamily="18" charset="0"/>
                            </a:rPr>
                          </m:ctrlPr>
                        </m:dPr>
                        <m:e>
                          <m:m>
                            <m:mPr>
                              <m:mcs>
                                <m:mc>
                                  <m:mcPr>
                                    <m:count m:val="1"/>
                                    <m:mcJc m:val="center"/>
                                  </m:mcPr>
                                </m:mc>
                              </m:mcs>
                              <m:ctrlPr>
                                <a:rPr lang="es-ES" i="1" smtClean="0">
                                  <a:latin typeface="Cambria Math" panose="02040503050406030204" pitchFamily="18" charset="0"/>
                                </a:rPr>
                              </m:ctrlPr>
                            </m:mPr>
                            <m:mr>
                              <m:e>
                                <m:r>
                                  <a:rPr lang="es-ES" b="0" i="1" smtClean="0">
                                    <a:latin typeface="Cambria Math" panose="02040503050406030204" pitchFamily="18" charset="0"/>
                                  </a:rPr>
                                  <m:t>𝛿</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rPr>
                                      <m:t>0</m:t>
                                    </m:r>
                                  </m:sub>
                                </m:sSub>
                              </m:e>
                            </m:mr>
                            <m:mr>
                              <m:e>
                                <m:r>
                                  <a:rPr lang="es-ES" b="0" i="1" smtClean="0">
                                    <a:latin typeface="Cambria Math" panose="02040503050406030204" pitchFamily="18" charset="0"/>
                                  </a:rPr>
                                  <m:t>𝛿</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𝑦</m:t>
                                        </m:r>
                                      </m:e>
                                    </m:acc>
                                  </m:e>
                                  <m:sub>
                                    <m:r>
                                      <a:rPr lang="es-ES" b="0" i="1" smtClean="0">
                                        <a:latin typeface="Cambria Math" panose="02040503050406030204" pitchFamily="18" charset="0"/>
                                      </a:rPr>
                                      <m:t>0</m:t>
                                    </m:r>
                                  </m:sub>
                                </m:sSub>
                              </m:e>
                            </m:mr>
                          </m:m>
                        </m:e>
                      </m:d>
                      <m:r>
                        <a:rPr lang="es-ES" b="0" i="1" smtClean="0">
                          <a:latin typeface="Cambria Math" panose="02040503050406030204" pitchFamily="18" charset="0"/>
                        </a:rPr>
                        <m:t>=</m:t>
                      </m:r>
                      <m:d>
                        <m:dPr>
                          <m:ctrlPr>
                            <a:rPr lang="es-ES" b="0" i="1" smtClean="0">
                              <a:latin typeface="Cambria Math" panose="02040503050406030204" pitchFamily="18" charset="0"/>
                            </a:rPr>
                          </m:ctrlPr>
                        </m:dPr>
                        <m:e>
                          <m:m>
                            <m:mPr>
                              <m:mcs>
                                <m:mc>
                                  <m:mcPr>
                                    <m:count m:val="1"/>
                                    <m:mcJc m:val="center"/>
                                  </m:mcPr>
                                </m:mc>
                              </m:mcs>
                              <m:ctrlPr>
                                <a:rPr lang="es-ES" b="0" i="1" smtClean="0">
                                  <a:latin typeface="Cambria Math" panose="02040503050406030204" pitchFamily="18" charset="0"/>
                                </a:rPr>
                              </m:ctrlPr>
                            </m:mPr>
                            <m:mr>
                              <m:e>
                                <m:r>
                                  <m:rPr>
                                    <m:brk m:alnAt="7"/>
                                  </m:rPr>
                                  <a:rPr lang="es-ES" b="0" i="1" smtClean="0">
                                    <a:latin typeface="Cambria Math" panose="02040503050406030204" pitchFamily="18" charset="0"/>
                                  </a:rPr>
                                  <m:t>−</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e>
                                  <m:sub>
                                    <m:r>
                                      <a:rPr lang="es-ES" b="0" i="1" smtClean="0">
                                        <a:latin typeface="Cambria Math" panose="02040503050406030204" pitchFamily="18" charset="0"/>
                                      </a:rPr>
                                      <m:t>𝑇</m:t>
                                    </m:r>
                                    <m:r>
                                      <a:rPr lang="es-ES" b="0" i="1" smtClean="0">
                                        <a:latin typeface="Cambria Math" panose="02040503050406030204" pitchFamily="18" charset="0"/>
                                      </a:rPr>
                                      <m:t>/2</m:t>
                                    </m:r>
                                  </m:sub>
                                </m:sSub>
                              </m:e>
                            </m:mr>
                            <m:mr>
                              <m:e>
                                <m:r>
                                  <m:rPr>
                                    <m:brk m:alnAt="7"/>
                                  </m:rPr>
                                  <a:rPr lang="es-ES" b="0" i="1" smtClean="0">
                                    <a:latin typeface="Cambria Math" panose="02040503050406030204" pitchFamily="18" charset="0"/>
                                  </a:rPr>
                                  <m:t>−</m:t>
                                </m:r>
                                <m:sSub>
                                  <m:sSubPr>
                                    <m:ctrlPr>
                                      <a:rPr lang="es-ES" b="0" i="1" smtClean="0">
                                        <a:latin typeface="Cambria Math" panose="02040503050406030204" pitchFamily="18" charset="0"/>
                                      </a:rPr>
                                    </m:ctrlPr>
                                  </m:sSub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𝑧</m:t>
                                        </m:r>
                                      </m:e>
                                    </m:acc>
                                  </m:e>
                                  <m:sub>
                                    <m:r>
                                      <a:rPr lang="es-ES" b="0" i="1" smtClean="0">
                                        <a:latin typeface="Cambria Math" panose="02040503050406030204" pitchFamily="18" charset="0"/>
                                      </a:rPr>
                                      <m:t>𝑇</m:t>
                                    </m:r>
                                    <m:r>
                                      <a:rPr lang="es-ES" b="0" i="1" smtClean="0">
                                        <a:latin typeface="Cambria Math" panose="02040503050406030204" pitchFamily="18" charset="0"/>
                                      </a:rPr>
                                      <m:t>/2</m:t>
                                    </m:r>
                                  </m:sub>
                                </m:sSub>
                              </m:e>
                            </m:mr>
                          </m:m>
                        </m:e>
                      </m:d>
                    </m:oMath>
                  </m:oMathPara>
                </a14:m>
                <a:endParaRPr lang="es-ES"/>
              </a:p>
              <a:p>
                <a:endParaRPr lang="es-ES"/>
              </a:p>
              <a:p>
                <a:r>
                  <a:rPr lang="es-ES"/>
                  <a:t>Luego solo hay que actualizar la CI y volver a iterar hasta alcanzar la condición de parada.</a:t>
                </a:r>
              </a:p>
            </p:txBody>
          </p:sp>
        </mc:Choice>
        <mc:Fallback xmlns="">
          <p:sp>
            <p:nvSpPr>
              <p:cNvPr id="3" name="Marcador de contenido 2">
                <a:extLst>
                  <a:ext uri="{FF2B5EF4-FFF2-40B4-BE49-F238E27FC236}">
                    <a16:creationId xmlns:a16="http://schemas.microsoft.com/office/drawing/2014/main" id="{51650D56-6ED7-4995-C522-2294D68B9F3E}"/>
                  </a:ext>
                </a:extLst>
              </p:cNvPr>
              <p:cNvSpPr>
                <a:spLocks noGrp="1" noRot="1" noChangeAspect="1" noMove="1" noResize="1" noEditPoints="1" noAdjustHandles="1" noChangeArrowheads="1" noChangeShapeType="1" noTextEdit="1"/>
              </p:cNvSpPr>
              <p:nvPr>
                <p:ph idx="1"/>
              </p:nvPr>
            </p:nvSpPr>
            <p:spPr>
              <a:blipFill>
                <a:blip r:embed="rId2"/>
                <a:stretch>
                  <a:fillRect l="-928" b="-2801"/>
                </a:stretch>
              </a:blipFill>
            </p:spPr>
            <p:txBody>
              <a:bodyPr/>
              <a:lstStyle/>
              <a:p>
                <a:r>
                  <a:rPr lang="en-US">
                    <a:noFill/>
                  </a:rPr>
                  <a:t> </a:t>
                </a:r>
              </a:p>
            </p:txBody>
          </p:sp>
        </mc:Fallback>
      </mc:AlternateContent>
    </p:spTree>
    <p:extLst>
      <p:ext uri="{BB962C8B-B14F-4D97-AF65-F5344CB8AC3E}">
        <p14:creationId xmlns:p14="http://schemas.microsoft.com/office/powerpoint/2010/main" val="22814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5F3B07-C7CF-2BC7-11ED-E5D2B075052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5D8D65-4CF1-B718-3935-3E59F25497DC}"/>
              </a:ext>
            </a:extLst>
          </p:cNvPr>
          <p:cNvSpPr>
            <a:spLocks noGrp="1"/>
          </p:cNvSpPr>
          <p:nvPr>
            <p:ph type="title"/>
          </p:nvPr>
        </p:nvSpPr>
        <p:spPr/>
        <p:txBody>
          <a:bodyPr/>
          <a:lstStyle/>
          <a:p>
            <a:r>
              <a:rPr lang="es-ES"/>
              <a:t>Estabilidad 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4F4CC5A-31E2-F203-F440-108ECD2612EE}"/>
                  </a:ext>
                </a:extLst>
              </p:cNvPr>
              <p:cNvSpPr>
                <a:spLocks noGrp="1"/>
              </p:cNvSpPr>
              <p:nvPr>
                <p:ph idx="1"/>
              </p:nvPr>
            </p:nvSpPr>
            <p:spPr>
              <a:xfrm>
                <a:off x="838200" y="1481667"/>
                <a:ext cx="10515600" cy="4695296"/>
              </a:xfrm>
            </p:spPr>
            <p:txBody>
              <a:bodyPr vert="horz" lIns="91440" tIns="45720" rIns="91440" bIns="45720" rtlCol="0" anchor="t">
                <a:normAutofit/>
              </a:bodyPr>
              <a:lstStyle/>
              <a:p>
                <a:r>
                  <a:rPr lang="es-ES"/>
                  <a:t>Matriz de monodromía, </a:t>
                </a:r>
                <a14:m>
                  <m:oMath xmlns:m="http://schemas.openxmlformats.org/officeDocument/2006/math">
                    <m:r>
                      <a:rPr lang="es-ES" b="0" i="1" smtClean="0">
                        <a:latin typeface="Cambria Math" panose="02040503050406030204" pitchFamily="18" charset="0"/>
                      </a:rPr>
                      <m:t>𝑀</m:t>
                    </m:r>
                    <m:r>
                      <a:rPr lang="es-ES" b="0" i="1" smtClean="0">
                        <a:latin typeface="Cambria Math" panose="02040503050406030204" pitchFamily="18" charset="0"/>
                      </a:rPr>
                      <m:t>=</m:t>
                    </m:r>
                    <m:r>
                      <m:rPr>
                        <m:sty m:val="p"/>
                      </m:rPr>
                      <a:rPr lang="es-ES" b="0" i="0" smtClean="0">
                        <a:latin typeface="Cambria Math" panose="02040503050406030204" pitchFamily="18" charset="0"/>
                      </a:rPr>
                      <m:t>Φ</m:t>
                    </m:r>
                    <m:r>
                      <a:rPr lang="es-ES" b="0" i="1" smtClean="0">
                        <a:latin typeface="Cambria Math" panose="02040503050406030204" pitchFamily="18" charset="0"/>
                      </a:rPr>
                      <m:t>(</m:t>
                    </m:r>
                    <m:r>
                      <a:rPr lang="es-ES" b="0" i="1" smtClean="0">
                        <a:latin typeface="Cambria Math" panose="02040503050406030204" pitchFamily="18" charset="0"/>
                      </a:rPr>
                      <m:t>𝑇</m:t>
                    </m:r>
                    <m:r>
                      <a:rPr lang="es-ES" b="0" i="1" smtClean="0">
                        <a:latin typeface="Cambria Math" panose="02040503050406030204" pitchFamily="18" charset="0"/>
                      </a:rPr>
                      <m:t>)</m:t>
                    </m:r>
                  </m:oMath>
                </a14:m>
                <a:r>
                  <a:rPr lang="es-ES"/>
                  <a:t>: Solución del problema variacional en el periodo de la órbita, </a:t>
                </a:r>
                <a14:m>
                  <m:oMath xmlns:m="http://schemas.openxmlformats.org/officeDocument/2006/math">
                    <m:r>
                      <a:rPr lang="es-ES" b="0" i="1" smtClean="0">
                        <a:latin typeface="Cambria Math" panose="02040503050406030204" pitchFamily="18" charset="0"/>
                      </a:rPr>
                      <m:t>𝑇</m:t>
                    </m:r>
                  </m:oMath>
                </a14:m>
                <a:r>
                  <a:rPr lang="es-ES"/>
                  <a:t>.</a:t>
                </a:r>
              </a:p>
              <a:p>
                <a:r>
                  <a:rPr lang="es-ES"/>
                  <a:t>Calcular los </a:t>
                </a:r>
                <a:r>
                  <a:rPr lang="es-ES" err="1"/>
                  <a:t>autovectores</a:t>
                </a:r>
                <a:r>
                  <a:rPr lang="es-ES"/>
                  <a:t> de </a:t>
                </a:r>
                <a14:m>
                  <m:oMath xmlns:m="http://schemas.openxmlformats.org/officeDocument/2006/math">
                    <m:r>
                      <a:rPr lang="es-ES" b="0" i="1" smtClean="0">
                        <a:latin typeface="Cambria Math" panose="02040503050406030204" pitchFamily="18" charset="0"/>
                      </a:rPr>
                      <m:t>𝑀</m:t>
                    </m:r>
                  </m:oMath>
                </a14:m>
                <a:r>
                  <a:rPr lang="es-ES"/>
                  <a:t>:  </a:t>
                </a:r>
                <a14:m>
                  <m:oMath xmlns:m="http://schemas.openxmlformats.org/officeDocument/2006/math">
                    <m:r>
                      <a:rPr lang="es-ES" b="0" i="1" dirty="0" smtClean="0">
                        <a:latin typeface="Cambria Math" panose="02040503050406030204" pitchFamily="18" charset="0"/>
                      </a:rPr>
                      <m:t>𝑆𝑝𝑒𝑐</m:t>
                    </m:r>
                    <m:d>
                      <m:dPr>
                        <m:ctrlPr>
                          <a:rPr lang="es-ES" b="0" i="1" dirty="0" smtClean="0">
                            <a:latin typeface="Cambria Math" panose="02040503050406030204" pitchFamily="18" charset="0"/>
                          </a:rPr>
                        </m:ctrlPr>
                      </m:dPr>
                      <m:e>
                        <m:r>
                          <a:rPr lang="es-ES" b="0" i="1" dirty="0" smtClean="0">
                            <a:latin typeface="Cambria Math" panose="02040503050406030204" pitchFamily="18" charset="0"/>
                          </a:rPr>
                          <m:t>𝑀</m:t>
                        </m:r>
                      </m:e>
                    </m:d>
                    <m:r>
                      <a:rPr lang="es-ES" b="0" i="1" dirty="0" smtClean="0">
                        <a:latin typeface="Cambria Math" panose="02040503050406030204" pitchFamily="18" charset="0"/>
                      </a:rPr>
                      <m:t>={1,1,</m:t>
                    </m:r>
                    <m:r>
                      <a:rPr lang="es-ES" b="0" i="1" dirty="0" smtClean="0">
                        <a:latin typeface="Cambria Math" panose="02040503050406030204" pitchFamily="18" charset="0"/>
                      </a:rPr>
                      <m:t>𝜆</m:t>
                    </m:r>
                    <m:r>
                      <a:rPr lang="es-ES" b="0" i="1" dirty="0" smtClean="0">
                        <a:latin typeface="Cambria Math" panose="02040503050406030204" pitchFamily="18" charset="0"/>
                      </a:rPr>
                      <m:t>,</m:t>
                    </m:r>
                    <m:f>
                      <m:fPr>
                        <m:ctrlPr>
                          <a:rPr lang="es-ES" b="0" i="1" dirty="0" smtClean="0">
                            <a:latin typeface="Cambria Math" panose="02040503050406030204" pitchFamily="18" charset="0"/>
                          </a:rPr>
                        </m:ctrlPr>
                      </m:fPr>
                      <m:num>
                        <m:r>
                          <a:rPr lang="es-ES" b="0" i="1" dirty="0" smtClean="0">
                            <a:latin typeface="Cambria Math" panose="02040503050406030204" pitchFamily="18" charset="0"/>
                          </a:rPr>
                          <m:t>1</m:t>
                        </m:r>
                      </m:num>
                      <m:den>
                        <m:r>
                          <a:rPr lang="es-ES" b="0" i="1" dirty="0" smtClean="0">
                            <a:latin typeface="Cambria Math" panose="02040503050406030204" pitchFamily="18" charset="0"/>
                          </a:rPr>
                          <m:t>𝜆</m:t>
                        </m:r>
                      </m:den>
                    </m:f>
                    <m:r>
                      <a:rPr lang="es-ES" b="0" i="1" dirty="0" smtClean="0">
                        <a:latin typeface="Cambria Math" panose="02040503050406030204" pitchFamily="18" charset="0"/>
                      </a:rPr>
                      <m:t>,</m:t>
                    </m:r>
                    <m:acc>
                      <m:accPr>
                        <m:chr m:val="̅"/>
                        <m:ctrlPr>
                          <a:rPr lang="es-ES" b="0" i="1" dirty="0" smtClean="0">
                            <a:latin typeface="Cambria Math" panose="02040503050406030204" pitchFamily="18" charset="0"/>
                          </a:rPr>
                        </m:ctrlPr>
                      </m:accPr>
                      <m:e>
                        <m:r>
                          <a:rPr lang="es-ES" b="0" i="1" dirty="0" smtClean="0">
                            <a:latin typeface="Cambria Math" panose="02040503050406030204" pitchFamily="18" charset="0"/>
                          </a:rPr>
                          <m:t>𝜆</m:t>
                        </m:r>
                      </m:e>
                    </m:acc>
                    <m:r>
                      <a:rPr lang="es-ES" b="0" i="1" dirty="0" smtClean="0">
                        <a:latin typeface="Cambria Math" panose="02040503050406030204" pitchFamily="18" charset="0"/>
                      </a:rPr>
                      <m:t>, </m:t>
                    </m:r>
                    <m:f>
                      <m:fPr>
                        <m:ctrlPr>
                          <a:rPr lang="es-ES" b="0" i="1" dirty="0" smtClean="0">
                            <a:latin typeface="Cambria Math" panose="02040503050406030204" pitchFamily="18" charset="0"/>
                          </a:rPr>
                        </m:ctrlPr>
                      </m:fPr>
                      <m:num>
                        <m:r>
                          <a:rPr lang="es-ES" b="0" i="1" dirty="0" smtClean="0">
                            <a:latin typeface="Cambria Math" panose="02040503050406030204" pitchFamily="18" charset="0"/>
                          </a:rPr>
                          <m:t>1</m:t>
                        </m:r>
                      </m:num>
                      <m:den>
                        <m:acc>
                          <m:accPr>
                            <m:chr m:val="̅"/>
                            <m:ctrlPr>
                              <a:rPr lang="es-ES" b="0" i="1" dirty="0" smtClean="0">
                                <a:latin typeface="Cambria Math" panose="02040503050406030204" pitchFamily="18" charset="0"/>
                              </a:rPr>
                            </m:ctrlPr>
                          </m:accPr>
                          <m:e>
                            <m:r>
                              <a:rPr lang="es-ES" b="0" i="1" dirty="0" smtClean="0">
                                <a:latin typeface="Cambria Math" panose="02040503050406030204" pitchFamily="18" charset="0"/>
                              </a:rPr>
                              <m:t>𝜆</m:t>
                            </m:r>
                          </m:e>
                        </m:acc>
                      </m:den>
                    </m:f>
                    <m:r>
                      <a:rPr lang="es-ES" b="0" i="1" dirty="0" smtClean="0">
                        <a:latin typeface="Cambria Math" panose="02040503050406030204" pitchFamily="18" charset="0"/>
                      </a:rPr>
                      <m:t>}</m:t>
                    </m:r>
                  </m:oMath>
                </a14:m>
                <a:endParaRPr lang="es-ES"/>
              </a:p>
              <a:p>
                <a:r>
                  <a:rPr lang="es-ES" b="0"/>
                  <a:t>Índice de estabilidad: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𝑗</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den>
                    </m:f>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𝑗</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𝑗</m:t>
                            </m:r>
                          </m:sub>
                        </m:sSub>
                      </m:den>
                    </m:f>
                    <m:r>
                      <a:rPr lang="es-ES" b="0" i="1" smtClean="0">
                        <a:latin typeface="Cambria Math" panose="02040503050406030204" pitchFamily="18" charset="0"/>
                      </a:rPr>
                      <m:t>)</m:t>
                    </m:r>
                  </m:oMath>
                </a14:m>
                <a:r>
                  <a:rPr lang="es-ES"/>
                  <a:t>.</a:t>
                </a:r>
              </a:p>
              <a:p>
                <a:r>
                  <a:rPr lang="es-ES"/>
                  <a:t>Órbita inestable si </a:t>
                </a:r>
                <a14:m>
                  <m:oMath xmlns:m="http://schemas.openxmlformats.org/officeDocument/2006/math">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&gt;1</m:t>
                    </m:r>
                  </m:oMath>
                </a14:m>
                <a:r>
                  <a:rPr lang="es-ES"/>
                  <a:t>.</a:t>
                </a:r>
              </a:p>
              <a:p>
                <a:r>
                  <a:rPr lang="es-ES"/>
                  <a:t>Marginalmente estable si </a:t>
                </a:r>
                <a14:m>
                  <m:oMath xmlns:m="http://schemas.openxmlformats.org/officeDocument/2006/math">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=1</m:t>
                    </m:r>
                  </m:oMath>
                </a14:m>
                <a:r>
                  <a:rPr lang="es-ES"/>
                  <a:t>.</a:t>
                </a:r>
              </a:p>
              <a:p>
                <a:r>
                  <a:rPr lang="es-ES"/>
                  <a:t>Estable si </a:t>
                </a:r>
                <a14:m>
                  <m:oMath xmlns:m="http://schemas.openxmlformats.org/officeDocument/2006/math">
                    <m:d>
                      <m:dPr>
                        <m:begChr m:val="|"/>
                        <m:endChr m:val="|"/>
                        <m:ctrlPr>
                          <a:rPr lang="es-ES" i="1">
                            <a:latin typeface="Cambria Math" panose="02040503050406030204" pitchFamily="18" charset="0"/>
                          </a:rPr>
                        </m:ctrlPr>
                      </m:dPr>
                      <m:e>
                        <m:r>
                          <a:rPr lang="es-ES" i="1">
                            <a:latin typeface="Cambria Math" panose="02040503050406030204" pitchFamily="18" charset="0"/>
                          </a:rPr>
                          <m:t>𝜆</m:t>
                        </m:r>
                      </m:e>
                    </m:d>
                    <m:r>
                      <a:rPr lang="es-ES" b="0" i="1" smtClean="0">
                        <a:latin typeface="Cambria Math" panose="02040503050406030204" pitchFamily="18" charset="0"/>
                      </a:rPr>
                      <m:t>&lt;</m:t>
                    </m:r>
                    <m:r>
                      <a:rPr lang="es-ES" i="1">
                        <a:latin typeface="Cambria Math" panose="02040503050406030204" pitchFamily="18" charset="0"/>
                      </a:rPr>
                      <m:t>1</m:t>
                    </m:r>
                  </m:oMath>
                </a14:m>
                <a:r>
                  <a:rPr lang="es-ES"/>
                  <a:t>.</a:t>
                </a:r>
              </a:p>
            </p:txBody>
          </p:sp>
        </mc:Choice>
        <mc:Fallback xmlns="">
          <p:sp>
            <p:nvSpPr>
              <p:cNvPr id="3" name="Marcador de contenido 2">
                <a:extLst>
                  <a:ext uri="{FF2B5EF4-FFF2-40B4-BE49-F238E27FC236}">
                    <a16:creationId xmlns:a16="http://schemas.microsoft.com/office/drawing/2014/main" id="{A4F4CC5A-31E2-F203-F440-108ECD2612EE}"/>
                  </a:ext>
                </a:extLst>
              </p:cNvPr>
              <p:cNvSpPr>
                <a:spLocks noGrp="1" noRot="1" noChangeAspect="1" noMove="1" noResize="1" noEditPoints="1" noAdjustHandles="1" noChangeArrowheads="1" noChangeShapeType="1" noTextEdit="1"/>
              </p:cNvSpPr>
              <p:nvPr>
                <p:ph idx="1"/>
              </p:nvPr>
            </p:nvSpPr>
            <p:spPr>
              <a:xfrm>
                <a:off x="838200" y="1481667"/>
                <a:ext cx="10515600" cy="4695296"/>
              </a:xfrm>
              <a:blipFill>
                <a:blip r:embed="rId2"/>
                <a:stretch>
                  <a:fillRect l="-1043" t="-2078"/>
                </a:stretch>
              </a:blipFill>
            </p:spPr>
            <p:txBody>
              <a:bodyPr/>
              <a:lstStyle/>
              <a:p>
                <a:r>
                  <a:rPr lang="en-US">
                    <a:noFill/>
                  </a:rPr>
                  <a:t> </a:t>
                </a:r>
              </a:p>
            </p:txBody>
          </p:sp>
        </mc:Fallback>
      </mc:AlternateContent>
    </p:spTree>
    <p:extLst>
      <p:ext uri="{BB962C8B-B14F-4D97-AF65-F5344CB8AC3E}">
        <p14:creationId xmlns:p14="http://schemas.microsoft.com/office/powerpoint/2010/main" val="7871044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F53D8928A3EA9046ACC87160C868DA7B" ma:contentTypeVersion="5" ma:contentTypeDescription="Crear nuevo documento." ma:contentTypeScope="" ma:versionID="42dfa5c097d85ee59546768d38f4276f">
  <xsd:schema xmlns:xsd="http://www.w3.org/2001/XMLSchema" xmlns:xs="http://www.w3.org/2001/XMLSchema" xmlns:p="http://schemas.microsoft.com/office/2006/metadata/properties" xmlns:ns3="5d5963e3-652f-463b-8189-3ee34bb9401b" targetNamespace="http://schemas.microsoft.com/office/2006/metadata/properties" ma:root="true" ma:fieldsID="211fdc3c15597ac38522241224f1e9bb" ns3:_="">
    <xsd:import namespace="5d5963e3-652f-463b-8189-3ee34bb9401b"/>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5963e3-652f-463b-8189-3ee34bb940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d5963e3-652f-463b-8189-3ee34bb9401b" xsi:nil="true"/>
  </documentManagement>
</p:properties>
</file>

<file path=customXml/itemProps1.xml><?xml version="1.0" encoding="utf-8"?>
<ds:datastoreItem xmlns:ds="http://schemas.openxmlformats.org/officeDocument/2006/customXml" ds:itemID="{375D9C91-8F51-499C-BF48-24FEE6A2D27F}">
  <ds:schemaRefs>
    <ds:schemaRef ds:uri="http://schemas.microsoft.com/sharepoint/v3/contenttype/forms"/>
  </ds:schemaRefs>
</ds:datastoreItem>
</file>

<file path=customXml/itemProps2.xml><?xml version="1.0" encoding="utf-8"?>
<ds:datastoreItem xmlns:ds="http://schemas.openxmlformats.org/officeDocument/2006/customXml" ds:itemID="{7FF2F96C-DD76-4779-B1A7-13248D6AA6B7}">
  <ds:schemaRefs>
    <ds:schemaRef ds:uri="5d5963e3-652f-463b-8189-3ee34bb940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CC22936-365C-471F-8A2D-DB905FBA16AA}">
  <ds:schemaRefs>
    <ds:schemaRef ds:uri="http://schemas.microsoft.com/office/infopath/2007/PartnerControls"/>
    <ds:schemaRef ds:uri="5d5963e3-652f-463b-8189-3ee34bb9401b"/>
    <ds:schemaRef ds:uri="http://schemas.microsoft.com/office/2006/metadata/properties"/>
    <ds:schemaRef ds:uri="http://www.w3.org/XML/1998/namespace"/>
    <ds:schemaRef ds:uri="http://purl.org/dc/dcmitype/"/>
    <ds:schemaRef ds:uri="http://schemas.openxmlformats.org/package/2006/metadata/core-properties"/>
    <ds:schemaRef ds:uri="http://schemas.microsoft.com/office/2006/documentManagement/type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737</Words>
  <Application>Microsoft Office PowerPoint</Application>
  <PresentationFormat>Panorámica</PresentationFormat>
  <Paragraphs>135</Paragraphs>
  <Slides>22</Slides>
  <Notes>4</Notes>
  <HiddenSlides>7</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Aptos</vt:lpstr>
      <vt:lpstr>Aptos Display</vt:lpstr>
      <vt:lpstr>Arial</vt:lpstr>
      <vt:lpstr>Cambria Math</vt:lpstr>
      <vt:lpstr>Times New Roman</vt:lpstr>
      <vt:lpstr>Wingdings</vt:lpstr>
      <vt:lpstr>Tema de Office</vt:lpstr>
      <vt:lpstr>Pygrange  Un explorador de órbitas alrededor de los puntos de Lagrange colineales</vt:lpstr>
      <vt:lpstr>Índice</vt:lpstr>
      <vt:lpstr>Introducción</vt:lpstr>
      <vt:lpstr>El problema circular restringido de los tres cuerpos (II)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Especificación del software</vt:lpstr>
      <vt:lpstr>Especificación del software</vt:lpstr>
      <vt:lpstr>Algoritmos: Método single shooting</vt:lpstr>
      <vt:lpstr>Método single shooting (II)</vt:lpstr>
      <vt:lpstr>Estabilidad 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JORDI GONZALEZ DE REGAS</dc:creator>
  <cp:lastModifiedBy>JORDI GONZALEZ DE REGAS</cp:lastModifiedBy>
  <cp:revision>2</cp:revision>
  <dcterms:created xsi:type="dcterms:W3CDTF">2025-12-01T18:23:02Z</dcterms:created>
  <dcterms:modified xsi:type="dcterms:W3CDTF">2025-12-10T20:41:29Z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0x010100F53D8928A3EA9046ACC87160C868DA7B</vt:lpwstr>
  </property>
</Properties>
</file>